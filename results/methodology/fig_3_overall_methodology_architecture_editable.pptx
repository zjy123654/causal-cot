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14600b2f114afb" /><Relationship Type="http://schemas.openxmlformats.org/officeDocument/2006/relationships/extended-properties" Target="/docProps/app.xml" Id="Rb0f8243b3e7c4c17" /><Relationship Type="http://schemas.openxmlformats.org/officeDocument/2006/relationships/officeDocument" Target="/ppt/presentation.xml" Id="Rcc0d8f60e85248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3e43fa83694306"/>
  </p:sldMasterIdLst>
  <p:notesMasterIdLst>
    <p:notesMasterId xmlns:r="http://schemas.openxmlformats.org/officeDocument/2006/relationships" r:id="Rf64aa0f22e3e4a00"/>
  </p:notesMasterIdLst>
  <p:sldIdLst>
    <p:sldId xmlns:r="http://schemas.openxmlformats.org/officeDocument/2006/relationships" id="256" r:id="Rcd60554ef6de4b9e"/>
  </p:sldIdLst>
  <p:sldSz cx="146304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b817c0457b409a" /><Relationship Type="http://schemas.openxmlformats.org/officeDocument/2006/relationships/slideMaster" Target="/ppt/slideMasters/slideMaster1.xml" Id="R883e43fa83694306" /><Relationship Type="http://schemas.openxmlformats.org/officeDocument/2006/relationships/notesMaster" Target="/ppt/notesMasters/notesMaster1.xml" Id="Rf64aa0f22e3e4a00" /><Relationship Type="http://schemas.openxmlformats.org/officeDocument/2006/relationships/presProps" Target="/ppt/presProps.xml" Id="Re4675c19f243427e" /><Relationship Type="http://schemas.openxmlformats.org/officeDocument/2006/relationships/tableStyles" Target="/ppt/tableStyles.xml" Id="Rc633f179488549ec" /><Relationship Type="http://schemas.openxmlformats.org/officeDocument/2006/relationships/slide" Target="/ppt/slides/slide1.xml" Id="Rcd60554ef6de4b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1c9fd4afcd242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e2d49ee0a0412b" /><Relationship Type="http://schemas.openxmlformats.org/officeDocument/2006/relationships/notesMaster" Target="/ppt/notesMasters/notesMaster1.xml" Id="R47e761fe85cd4c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Methodology Sections 3.1-3.4: C:/Users/11517/.codex/attachments/0f89d3db-3c1b-4289-a8c2-6ee3f3958946/pasted-text.txt</a:t>
            </a:r>
          </a:p>
          <a:p xmlns:a="http://schemas.openxmlformats.org/drawingml/2006/main">
            <a:r>
              <a:t>- Detailed Section 3.3: F:/硕士阶段的论文/投稿EAAI/R1/Data and code/results/methodology/section_3_3_and_appendix_B.md</a:t>
            </a:r>
          </a:p>
          <a:p xmlns:a="http://schemas.openxmlformats.org/drawingml/2006/main">
            <a:r>
              <a:t>- Detailed Section 3.4: F:/硕士阶段的论文/投稿EAAI/R1/Data and code/results/methodology/section_3_4_causal_effect_estimation.md</a:t>
            </a:r>
          </a:p>
          <a:p xmlns:a="http://schemas.openxmlformats.org/drawingml/2006/main">
            <a:r>
              <a:t>- Project implementation: F:/硕士阶段的论文/投稿EAAI/R1/Data and code/src/</a:t>
            </a:r>
          </a:p>
          <a:p xmlns:a="http://schemas.openxmlformats.org/drawingml/2006/main">
            <a:r>
              <a:t>- Reference composition principles: CCFA Visual Composer paper-mechanism figure guidance; no external figure was copied.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visible elements are native editable PowerPoint shapes, connectors, lines, and live text. GPT Image 2 concept generation was unavailable because of a network error, so this figure was rendered deterministically from the CCFA visual contract.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9f6ca8143848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10e3f2a30844f4" /><Relationship Type="http://schemas.openxmlformats.org/officeDocument/2006/relationships/slideLayout" Target="/ppt/slideLayouts/slideLayout1.xml" Id="R9484ee79d05744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84ee79d05744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a9ef22a86641b4" /><Relationship Type="http://schemas.openxmlformats.org/officeDocument/2006/relationships/notesSlide" Target="/ppt/notesSlides/notesSlide1.xml" Id="R6eaaa24479984b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2" name="header-3.1">
            <a:extLst xmlns:a="http://schemas.openxmlformats.org/drawingml/2006/main">
              <a:ext uri="{FF2B5EF4-FFF2-40B4-BE49-F238E27FC236}">
                <a16:creationId xmlns:a16="http://schemas.microsoft.com/office/drawing/2014/main" id="{B9B1AB05-A77F-4E5E-BACB-BA3A0FA1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524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3.1</a:t>
            </a:r>
          </a:p>
        </p:txBody>
      </p:sp>
      <p:sp>
        <p:nvSpPr>
          <p:cNvPr id="2" name="header-3.1-title">
            <a:extLst xmlns:a="http://schemas.openxmlformats.org/drawingml/2006/main">
              <a:ext uri="{FF2B5EF4-FFF2-40B4-BE49-F238E27FC236}">
                <a16:creationId xmlns:a16="http://schemas.microsoft.com/office/drawing/2014/main" id="{9222DC93-05B8-4CAB-B6C2-752B8B52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5240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Report preparation</a:t>
            </a:r>
          </a:p>
        </p:txBody>
      </p:sp>
      <p:sp>
        <p:nvSpPr>
          <p:cNvPr id="3" name="header-3.1-rule">
            <a:extLst xmlns:a="http://schemas.openxmlformats.org/drawingml/2006/main">
              <a:ext uri="{FF2B5EF4-FFF2-40B4-BE49-F238E27FC236}">
                <a16:creationId xmlns:a16="http://schemas.microsoft.com/office/drawing/2014/main" id="{833E45DD-37BC-48C1-AE97-B345D363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66725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72B2"/>
            </a:solidFill>
            <a:prstDash val="solid"/>
          </a:ln>
        </p:spPr>
      </p:sp>
      <p:sp>
        <p:nvSpPr>
          <p:cNvPr id="4" name="header-3.2">
            <a:extLst xmlns:a="http://schemas.openxmlformats.org/drawingml/2006/main">
              <a:ext uri="{FF2B5EF4-FFF2-40B4-BE49-F238E27FC236}">
                <a16:creationId xmlns:a16="http://schemas.microsoft.com/office/drawing/2014/main" id="{D6FC1886-7CC7-4890-A53A-46EF7F3A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524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3.2</a:t>
            </a:r>
          </a:p>
        </p:txBody>
      </p:sp>
      <p:sp>
        <p:nvSpPr>
          <p:cNvPr id="5" name="header-3.2-title">
            <a:extLst xmlns:a="http://schemas.openxmlformats.org/drawingml/2006/main">
              <a:ext uri="{FF2B5EF4-FFF2-40B4-BE49-F238E27FC236}">
                <a16:creationId xmlns:a16="http://schemas.microsoft.com/office/drawing/2014/main" id="{DBF7D1A0-D691-4CAA-98EA-3CDBD606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52400"/>
            <a:ext cx="2276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24Model ontology</a:t>
            </a:r>
          </a:p>
        </p:txBody>
      </p:sp>
      <p:sp>
        <p:nvSpPr>
          <p:cNvPr id="6" name="header-3.2-rule">
            <a:extLst xmlns:a="http://schemas.openxmlformats.org/drawingml/2006/main">
              <a:ext uri="{FF2B5EF4-FFF2-40B4-BE49-F238E27FC236}">
                <a16:creationId xmlns:a16="http://schemas.microsoft.com/office/drawing/2014/main" id="{3409F34C-CDFD-45B2-9E2D-B8AC4F0A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6725"/>
            <a:ext cx="2628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009E73"/>
            </a:solidFill>
            <a:prstDash val="solid"/>
          </a:ln>
        </p:spPr>
      </p:sp>
      <p:sp>
        <p:nvSpPr>
          <p:cNvPr id="7" name="header-3.3">
            <a:extLst xmlns:a="http://schemas.openxmlformats.org/drawingml/2006/main">
              <a:ext uri="{FF2B5EF4-FFF2-40B4-BE49-F238E27FC236}">
                <a16:creationId xmlns:a16="http://schemas.microsoft.com/office/drawing/2014/main" id="{8C692D48-185F-46DE-9B0F-DCB9355F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24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rPr>
              <a:t>3.3</a:t>
            </a:r>
          </a:p>
        </p:txBody>
      </p:sp>
      <p:sp>
        <p:nvSpPr>
          <p:cNvPr id="8" name="header-3.3-title">
            <a:extLst xmlns:a="http://schemas.openxmlformats.org/drawingml/2006/main">
              <a:ext uri="{FF2B5EF4-FFF2-40B4-BE49-F238E27FC236}">
                <a16:creationId xmlns:a16="http://schemas.microsoft.com/office/drawing/2014/main" id="{570C749B-CD62-4834-A8AD-E0E69358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52400"/>
            <a:ext cx="4048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rPr>
              <a:t>Question-guided HEC-KG construction</a:t>
            </a:r>
          </a:p>
        </p:txBody>
      </p:sp>
      <p:sp>
        <p:nvSpPr>
          <p:cNvPr id="9" name="header-3.3-rule">
            <a:extLst xmlns:a="http://schemas.openxmlformats.org/drawingml/2006/main">
              <a:ext uri="{FF2B5EF4-FFF2-40B4-BE49-F238E27FC236}">
                <a16:creationId xmlns:a16="http://schemas.microsoft.com/office/drawing/2014/main" id="{BED2DFF3-40A6-4037-95BC-A27A3E32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6725"/>
            <a:ext cx="440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D55E00"/>
            </a:solidFill>
            <a:prstDash val="solid"/>
          </a:ln>
        </p:spPr>
      </p:sp>
      <p:sp>
        <p:nvSpPr>
          <p:cNvPr id="10" name="header-3.4">
            <a:extLst xmlns:a="http://schemas.openxmlformats.org/drawingml/2006/main">
              <a:ext uri="{FF2B5EF4-FFF2-40B4-BE49-F238E27FC236}">
                <a16:creationId xmlns:a16="http://schemas.microsoft.com/office/drawing/2014/main" id="{C77E0012-9236-4975-A460-7F576EAC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524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7B6BA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 b="1" i="0">
                <a:solidFill>
                  <a:srgbClr val="7B6BA8"/>
                </a:solidFill>
                <a:latin typeface="Times New Roman"/>
                <a:ea typeface="Times New Roman"/>
                <a:cs typeface="Times New Roman"/>
              </a:rPr>
              <a:t>3.4</a:t>
            </a:r>
          </a:p>
        </p:txBody>
      </p:sp>
      <p:sp>
        <p:nvSpPr>
          <p:cNvPr id="11" name="header-3.4-title">
            <a:extLst xmlns:a="http://schemas.openxmlformats.org/drawingml/2006/main">
              <a:ext uri="{FF2B5EF4-FFF2-40B4-BE49-F238E27FC236}">
                <a16:creationId xmlns:a16="http://schemas.microsoft.com/office/drawing/2014/main" id="{BA482529-B8D8-4D2F-8FD9-EE15661D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2325" y="152400"/>
            <a:ext cx="3514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7B6BA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 i="0">
                <a:solidFill>
                  <a:srgbClr val="7B6BA8"/>
                </a:solidFill>
                <a:latin typeface="Times New Roman"/>
                <a:ea typeface="Times New Roman"/>
                <a:cs typeface="Times New Roman"/>
              </a:rPr>
              <a:t>Causal-effect estimation</a:t>
            </a:r>
          </a:p>
        </p:txBody>
      </p:sp>
      <p:sp>
        <p:nvSpPr>
          <p:cNvPr id="12" name="header-3.4-rule">
            <a:extLst xmlns:a="http://schemas.openxmlformats.org/drawingml/2006/main">
              <a:ext uri="{FF2B5EF4-FFF2-40B4-BE49-F238E27FC236}">
                <a16:creationId xmlns:a16="http://schemas.microsoft.com/office/drawing/2014/main" id="{150BBA53-B654-4552-87FC-4E083B22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66725"/>
            <a:ext cx="3867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7B6BA8"/>
            </a:solidFill>
            <a:prstDash val="solid"/>
          </a:ln>
        </p:spPr>
      </p:sp>
      <p:sp>
        <p:nvSpPr>
          <p:cNvPr id="13" name="sep-31-32">
            <a:extLst xmlns:a="http://schemas.openxmlformats.org/drawingml/2006/main">
              <a:ext uri="{FF2B5EF4-FFF2-40B4-BE49-F238E27FC236}">
                <a16:creationId xmlns:a16="http://schemas.microsoft.com/office/drawing/2014/main" id="{149D645C-7771-4923-81BB-95CFD6D4C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14300"/>
            <a:ext cx="0" cy="6591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4D8"/>
            </a:solidFill>
            <a:prstDash val="solid"/>
          </a:ln>
        </p:spPr>
      </p:sp>
      <p:sp>
        <p:nvSpPr>
          <p:cNvPr id="14" name="sep-32-33">
            <a:extLst xmlns:a="http://schemas.openxmlformats.org/drawingml/2006/main">
              <a:ext uri="{FF2B5EF4-FFF2-40B4-BE49-F238E27FC236}">
                <a16:creationId xmlns:a16="http://schemas.microsoft.com/office/drawing/2014/main" id="{605C3560-379F-4E31-8503-AACF7D67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14300"/>
            <a:ext cx="0" cy="6591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4D8"/>
            </a:solidFill>
            <a:prstDash val="solid"/>
          </a:ln>
        </p:spPr>
      </p:sp>
      <p:sp>
        <p:nvSpPr>
          <p:cNvPr id="15" name="sep-33-34">
            <a:extLst xmlns:a="http://schemas.openxmlformats.org/drawingml/2006/main">
              <a:ext uri="{FF2B5EF4-FFF2-40B4-BE49-F238E27FC236}">
                <a16:creationId xmlns:a16="http://schemas.microsoft.com/office/drawing/2014/main" id="{A6731820-651C-4F7C-B303-666B175DE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14300"/>
            <a:ext cx="0" cy="6591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4D8"/>
            </a:solidFill>
            <a:prstDash val="solid"/>
          </a:ln>
        </p:spPr>
      </p:sp>
      <p:sp>
        <p:nvSpPr>
          <p:cNvPr id="16" name="source-safehoo">
            <a:extLst xmlns:a="http://schemas.openxmlformats.org/drawingml/2006/main">
              <a:ext uri="{FF2B5EF4-FFF2-40B4-BE49-F238E27FC236}">
                <a16:creationId xmlns:a16="http://schemas.microsoft.com/office/drawing/2014/main" id="{954FBE57-CB66-4F91-A70C-AD4AF8BF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81050"/>
            <a:ext cx="99060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7FD"/>
          </a:solidFill>
          <a:ln xmlns:a="http://schemas.openxmlformats.org/drawingml/2006/main" w="8573">
            <a:solidFill>
              <a:srgbClr val="0072B2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8615"/>
          </a:bodyPr>
          <a:lstStyle xmlns:a="http://schemas.openxmlformats.org/drawingml/2006/main"/>
          <a:p xmlns:a="http://schemas.openxmlformats.org/drawingml/2006/main">
            <a:pPr algn="ctr">
              <a:defRPr sz="92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Safety Management</a:t>
            </a:r>
          </a:p>
          <a:p xmlns:a="http://schemas.openxmlformats.org/drawingml/2006/main">
            <a:pPr algn="ctr">
              <a:defRPr sz="92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Network</a:t>
            </a:r>
          </a:p>
        </p:txBody>
      </p:sp>
      <p:sp>
        <p:nvSpPr>
          <p:cNvPr id="17" name="source-mem">
            <a:extLst xmlns:a="http://schemas.openxmlformats.org/drawingml/2006/main">
              <a:ext uri="{FF2B5EF4-FFF2-40B4-BE49-F238E27FC236}">
                <a16:creationId xmlns:a16="http://schemas.microsoft.com/office/drawing/2014/main" id="{9FC5BD70-4ED3-41D1-9EE5-822FF3CA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428750"/>
            <a:ext cx="99060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DF7FD"/>
          </a:solidFill>
          <a:ln xmlns:a="http://schemas.openxmlformats.org/drawingml/2006/main" w="8573">
            <a:solidFill>
              <a:srgbClr val="0072B2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5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Ministry of Emergency</a:t>
            </a:r>
          </a:p>
          <a:p xmlns:a="http://schemas.openxmlformats.org/drawingml/2006/main">
            <a:pPr algn="ctr">
              <a:defRPr sz="885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5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Management</a:t>
            </a:r>
          </a:p>
        </p:txBody>
      </p:sp>
      <p:sp>
        <p:nvSpPr>
          <p:cNvPr id="18" name="source-compilation">
            <a:extLst xmlns:a="http://schemas.openxmlformats.org/drawingml/2006/main">
              <a:ext uri="{FF2B5EF4-FFF2-40B4-BE49-F238E27FC236}">
                <a16:creationId xmlns:a16="http://schemas.microsoft.com/office/drawing/2014/main" id="{CEE97969-6742-4F92-B9A2-6184D66E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152650"/>
            <a:ext cx="99060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DF7FD"/>
          </a:solidFill>
          <a:ln xmlns:a="http://schemas.openxmlformats.org/drawingml/2006/main" w="8573">
            <a:solidFill>
              <a:srgbClr val="0072B2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2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Accident case</a:t>
            </a:r>
          </a:p>
          <a:p xmlns:a="http://schemas.openxmlformats.org/drawingml/2006/main">
            <a:pPr algn="ctr">
              <a:defRPr sz="92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compilation</a:t>
            </a:r>
          </a:p>
        </p:txBody>
      </p:sp>
      <p:sp>
        <p:nvSpPr>
          <p:cNvPr id="19" name="retrieval-screening">
            <a:extLst xmlns:a="http://schemas.openxmlformats.org/drawingml/2006/main">
              <a:ext uri="{FF2B5EF4-FFF2-40B4-BE49-F238E27FC236}">
                <a16:creationId xmlns:a16="http://schemas.microsoft.com/office/drawing/2014/main" id="{CAA81833-14C1-4108-A8BD-BFF597F4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352550"/>
            <a:ext cx="1162050" cy="723900"/>
          </a:xfrm>
          <a:prstGeom xmlns:a="http://schemas.openxmlformats.org/drawingml/2006/main" prst="roundRect">
            <a:avLst>
              <a:gd name="adj" fmla="val 65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72B2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Keyword retrieval</a:t>
            </a:r>
          </a:p>
          <a:p xmlns:a="http://schemas.openxmlformats.org/drawingml/2006/main">
            <a:pPr algn="ctr">
              <a:defRPr sz="1050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+</a:t>
            </a:r>
          </a:p>
          <a:p xmlns:a="http://schemas.openxmlformats.org/drawingml/2006/main">
            <a:pPr algn="ctr">
              <a:defRPr sz="1050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manual screening</a:t>
            </a:r>
          </a:p>
        </p:txBody>
      </p:sp>
      <p:sp>
        <p:nvSpPr>
          <p:cNvPr id="20" name="case-segmentation">
            <a:extLst xmlns:a="http://schemas.openxmlformats.org/drawingml/2006/main">
              <a:ext uri="{FF2B5EF4-FFF2-40B4-BE49-F238E27FC236}">
                <a16:creationId xmlns:a16="http://schemas.microsoft.com/office/drawing/2014/main" id="{FC4C0604-4B38-49F6-9FA4-72E2DB54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15811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0072B2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Case segmentation</a:t>
            </a:r>
          </a:p>
        </p:txBody>
      </p:sp>
      <p:sp>
        <p:nvSpPr>
          <p:cNvPr id="21" name="text-cleaning">
            <a:extLst xmlns:a="http://schemas.openxmlformats.org/drawingml/2006/main">
              <a:ext uri="{FF2B5EF4-FFF2-40B4-BE49-F238E27FC236}">
                <a16:creationId xmlns:a16="http://schemas.microsoft.com/office/drawing/2014/main" id="{B745EE99-7DAD-4323-9972-F66BF8801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5811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0072B2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Text cleaning</a:t>
            </a:r>
          </a:p>
        </p:txBody>
      </p:sp>
      <p:sp>
        <p:nvSpPr>
          <p:cNvPr id="22" name="anonymization">
            <a:extLst xmlns:a="http://schemas.openxmlformats.org/drawingml/2006/main">
              <a:ext uri="{FF2B5EF4-FFF2-40B4-BE49-F238E27FC236}">
                <a16:creationId xmlns:a16="http://schemas.microsoft.com/office/drawing/2014/main" id="{A5DFD0F1-4BB6-4AB0-8CD8-1DE3F71B3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15811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0072B2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90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90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Irreversible anonymization</a:t>
            </a:r>
          </a:p>
        </p:txBody>
      </p:sp>
      <p:sp>
        <p:nvSpPr>
          <p:cNvPr id="23" name="cases-456">
            <a:extLst xmlns:a="http://schemas.openxmlformats.org/drawingml/2006/main">
              <a:ext uri="{FF2B5EF4-FFF2-40B4-BE49-F238E27FC236}">
                <a16:creationId xmlns:a16="http://schemas.microsoft.com/office/drawing/2014/main" id="{C1A1BA75-BF36-4C77-9927-372872E7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19700"/>
            <a:ext cx="1924050" cy="552450"/>
          </a:xfrm>
          <a:prstGeom xmlns:a="http://schemas.openxmlformats.org/drawingml/2006/main" prst="roundRect">
            <a:avLst>
              <a:gd name="adj" fmla="val 8621"/>
            </a:avLst>
          </a:prstGeom>
          <a:solidFill xmlns:a="http://schemas.openxmlformats.org/drawingml/2006/main">
            <a:srgbClr val="EDF7FD"/>
          </a:solidFill>
          <a:ln xmlns:a="http://schemas.openxmlformats.org/drawingml/2006/main" w="12383">
            <a:solidFill>
              <a:srgbClr val="0072B2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456 HEC accident cases</a:t>
            </a:r>
          </a:p>
        </p:txBody>
      </p:sp>
      <p:sp>
        <p:nvSpPr>
          <p:cNvPr id="24" name="retained-fields">
            <a:extLst xmlns:a="http://schemas.openxmlformats.org/drawingml/2006/main">
              <a:ext uri="{FF2B5EF4-FFF2-40B4-BE49-F238E27FC236}">
                <a16:creationId xmlns:a16="http://schemas.microsoft.com/office/drawing/2014/main" id="{A90A4C1A-745E-455F-BF6F-07B5F774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90550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7769"/>
          </a:bodyPr>
          <a:lstStyle xmlns:a="http://schemas.openxmlformats.org/drawingml/2006/main"/>
          <a:p xmlns:a="http://schemas.openxmlformats.org/drawingml/2006/main">
            <a:pPr algn="ctr">
              <a:defRPr sz="86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title · type · process · causes · consequences · measures</a:t>
            </a:r>
          </a:p>
        </p:txBody>
      </p:sp>
      <p:sp>
        <p:nvSpPr>
          <p:cNvPr id="25" name="input-24model">
            <a:extLst xmlns:a="http://schemas.openxmlformats.org/drawingml/2006/main">
              <a:ext uri="{FF2B5EF4-FFF2-40B4-BE49-F238E27FC236}">
                <a16:creationId xmlns:a16="http://schemas.microsoft.com/office/drawing/2014/main" id="{76A7677C-21B6-4058-A38E-20FCC315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800100"/>
            <a:ext cx="9906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EDF8F4"/>
          </a:solidFill>
          <a:ln xmlns:a="http://schemas.openxmlformats.org/drawingml/2006/main" w="9525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24Model v6</a:t>
            </a:r>
          </a:p>
        </p:txBody>
      </p:sp>
      <p:sp>
        <p:nvSpPr>
          <p:cNvPr id="26" name="hec-domain-concepts">
            <a:extLst xmlns:a="http://schemas.openxmlformats.org/drawingml/2006/main">
              <a:ext uri="{FF2B5EF4-FFF2-40B4-BE49-F238E27FC236}">
                <a16:creationId xmlns:a16="http://schemas.microsoft.com/office/drawing/2014/main" id="{D5527BCB-0C42-43B4-9E6E-3BC9C4F2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800100"/>
            <a:ext cx="9906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EDF8F4"/>
          </a:solidFill>
          <a:ln xmlns:a="http://schemas.openxmlformats.org/drawingml/2006/main" w="9525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HEC domain</a:t>
            </a:r>
          </a:p>
          <a:p xmlns:a="http://schemas.openxmlformats.org/drawingml/2006/main">
            <a:pPr algn="ctr">
              <a:defRPr sz="105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concepts</a:t>
            </a:r>
          </a:p>
        </p:txBody>
      </p:sp>
      <p:sp>
        <p:nvSpPr>
          <p:cNvPr id="27" name="top-down-construction">
            <a:extLst xmlns:a="http://schemas.openxmlformats.org/drawingml/2006/main">
              <a:ext uri="{FF2B5EF4-FFF2-40B4-BE49-F238E27FC236}">
                <a16:creationId xmlns:a16="http://schemas.microsoft.com/office/drawing/2014/main" id="{53430938-BA69-4100-A0CA-2B993D67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24000"/>
            <a:ext cx="1009650" cy="5334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Top-down</a:t>
            </a:r>
          </a:p>
          <a:p xmlns:a="http://schemas.openxmlformats.org/drawingml/2006/main">
            <a:pPr algn="ctr">
              <a:defRPr sz="105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construction</a:t>
            </a:r>
          </a:p>
        </p:txBody>
      </p:sp>
      <p:sp>
        <p:nvSpPr>
          <p:cNvPr id="28" name="ontology-frame">
            <a:extLst xmlns:a="http://schemas.openxmlformats.org/drawingml/2006/main">
              <a:ext uri="{FF2B5EF4-FFF2-40B4-BE49-F238E27FC236}">
                <a16:creationId xmlns:a16="http://schemas.microsoft.com/office/drawing/2014/main" id="{2B17680A-1946-47D7-87E4-A9789BC5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81250"/>
            <a:ext cx="2343150" cy="266700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EDF8F4"/>
          </a:solidFill>
          <a:ln xmlns:a="http://schemas.openxmlformats.org/drawingml/2006/main" w="11430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ontology-title">
            <a:extLst xmlns:a="http://schemas.openxmlformats.org/drawingml/2006/main">
              <a:ext uri="{FF2B5EF4-FFF2-40B4-BE49-F238E27FC236}">
                <a16:creationId xmlns:a16="http://schemas.microsoft.com/office/drawing/2014/main" id="{B93A6325-B3E9-4665-9260-0188AE0B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76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HEC accident ontology</a:t>
            </a:r>
          </a:p>
        </p:txBody>
      </p:sp>
      <p:sp>
        <p:nvSpPr>
          <p:cNvPr id="30" name="ont-culture">
            <a:extLst xmlns:a="http://schemas.openxmlformats.org/drawingml/2006/main">
              <a:ext uri="{FF2B5EF4-FFF2-40B4-BE49-F238E27FC236}">
                <a16:creationId xmlns:a16="http://schemas.microsoft.com/office/drawing/2014/main" id="{9CC75797-3914-4E6D-849B-0EB3BDC2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33700"/>
            <a:ext cx="7239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B8E2D4"/>
          </a:solidFill>
          <a:ln xmlns:a="http://schemas.openxmlformats.org/drawingml/2006/main" w="7620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Culture</a:t>
            </a:r>
          </a:p>
        </p:txBody>
      </p:sp>
      <p:sp>
        <p:nvSpPr>
          <p:cNvPr id="31" name="ont-management">
            <a:extLst xmlns:a="http://schemas.openxmlformats.org/drawingml/2006/main">
              <a:ext uri="{FF2B5EF4-FFF2-40B4-BE49-F238E27FC236}">
                <a16:creationId xmlns:a16="http://schemas.microsoft.com/office/drawing/2014/main" id="{1DB9D9D2-4CFA-4561-9475-222D7EB9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933700"/>
            <a:ext cx="9906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B8E2D4"/>
          </a:solidFill>
          <a:ln xmlns:a="http://schemas.openxmlformats.org/drawingml/2006/main" w="7620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Management</a:t>
            </a:r>
          </a:p>
        </p:txBody>
      </p:sp>
      <p:sp>
        <p:nvSpPr>
          <p:cNvPr id="32" name="ont-capability">
            <a:extLst xmlns:a="http://schemas.openxmlformats.org/drawingml/2006/main">
              <a:ext uri="{FF2B5EF4-FFF2-40B4-BE49-F238E27FC236}">
                <a16:creationId xmlns:a16="http://schemas.microsoft.com/office/drawing/2014/main" id="{37FA22F9-30FB-48A1-8FD9-F74CCB76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409950"/>
            <a:ext cx="8763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3F0F8"/>
          </a:solidFill>
          <a:ln xmlns:a="http://schemas.openxmlformats.org/drawingml/2006/main" w="7620">
            <a:solidFill>
              <a:srgbClr val="7B6BA8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Capability</a:t>
            </a:r>
          </a:p>
        </p:txBody>
      </p:sp>
      <p:sp>
        <p:nvSpPr>
          <p:cNvPr id="33" name="ont-unsafe-action">
            <a:extLst xmlns:a="http://schemas.openxmlformats.org/drawingml/2006/main">
              <a:ext uri="{FF2B5EF4-FFF2-40B4-BE49-F238E27FC236}">
                <a16:creationId xmlns:a16="http://schemas.microsoft.com/office/drawing/2014/main" id="{E48A7E3A-9A79-4228-BD6A-A239D34D5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09950"/>
            <a:ext cx="8382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7620">
            <a:solidFill>
              <a:srgbClr val="E69F00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Unsafe action</a:t>
            </a:r>
          </a:p>
        </p:txBody>
      </p:sp>
      <p:sp>
        <p:nvSpPr>
          <p:cNvPr id="34" name="ont-unsafe-state">
            <a:extLst xmlns:a="http://schemas.openxmlformats.org/drawingml/2006/main">
              <a:ext uri="{FF2B5EF4-FFF2-40B4-BE49-F238E27FC236}">
                <a16:creationId xmlns:a16="http://schemas.microsoft.com/office/drawing/2014/main" id="{3D0F5E22-0F98-4251-849A-03673E9E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86200"/>
            <a:ext cx="10668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7620">
            <a:solidFill>
              <a:srgbClr val="E69F00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Unsafe object state</a:t>
            </a:r>
          </a:p>
        </p:txBody>
      </p:sp>
      <p:sp>
        <p:nvSpPr>
          <p:cNvPr id="35" name="ont-context">
            <a:extLst xmlns:a="http://schemas.openxmlformats.org/drawingml/2006/main">
              <a:ext uri="{FF2B5EF4-FFF2-40B4-BE49-F238E27FC236}">
                <a16:creationId xmlns:a16="http://schemas.microsoft.com/office/drawing/2014/main" id="{6AE132EF-BB8C-441F-9B5D-896F95D1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886200"/>
            <a:ext cx="6477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DF7FD"/>
          </a:solidFill>
          <a:ln xmlns:a="http://schemas.openxmlformats.org/drawingml/2006/main" w="7620">
            <a:solidFill>
              <a:srgbClr val="0072B2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3959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HEC context</a:t>
            </a:r>
          </a:p>
        </p:txBody>
      </p:sp>
      <p:sp>
        <p:nvSpPr>
          <p:cNvPr id="36" name="ont-process">
            <a:extLst xmlns:a="http://schemas.openxmlformats.org/drawingml/2006/main">
              <a:ext uri="{FF2B5EF4-FFF2-40B4-BE49-F238E27FC236}">
                <a16:creationId xmlns:a16="http://schemas.microsoft.com/office/drawing/2014/main" id="{68733706-035D-4BE6-B0AD-8415C613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62450"/>
            <a:ext cx="6286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B8BEC5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Process</a:t>
            </a:r>
          </a:p>
        </p:txBody>
      </p:sp>
      <p:sp>
        <p:nvSpPr>
          <p:cNvPr id="37" name="ont-consequence">
            <a:extLst xmlns:a="http://schemas.openxmlformats.org/drawingml/2006/main">
              <a:ext uri="{FF2B5EF4-FFF2-40B4-BE49-F238E27FC236}">
                <a16:creationId xmlns:a16="http://schemas.microsoft.com/office/drawing/2014/main" id="{F3B3863F-663A-4A07-9E56-0EAC09EB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362450"/>
            <a:ext cx="7810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BF0F6"/>
          </a:solidFill>
          <a:ln xmlns:a="http://schemas.openxmlformats.org/drawingml/2006/main" w="7620">
            <a:solidFill>
              <a:srgbClr val="CC79A7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Consequence</a:t>
            </a:r>
          </a:p>
        </p:txBody>
      </p:sp>
      <p:sp>
        <p:nvSpPr>
          <p:cNvPr id="38" name="ont-measure">
            <a:extLst xmlns:a="http://schemas.openxmlformats.org/drawingml/2006/main">
              <a:ext uri="{FF2B5EF4-FFF2-40B4-BE49-F238E27FC236}">
                <a16:creationId xmlns:a16="http://schemas.microsoft.com/office/drawing/2014/main" id="{22CF29F8-94B7-4BD0-9F44-F2D045FD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362450"/>
            <a:ext cx="4572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EF5DA"/>
          </a:solidFill>
          <a:ln xmlns:a="http://schemas.openxmlformats.org/drawingml/2006/main" w="7620">
            <a:solidFill>
              <a:srgbClr val="7A9E2B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4944"/>
          </a:bodyPr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8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Measure</a:t>
            </a:r>
          </a:p>
        </p:txBody>
      </p:sp>
      <p:sp>
        <p:nvSpPr>
          <p:cNvPr id="39" name="ontology-entity-types">
            <a:extLst xmlns:a="http://schemas.openxmlformats.org/drawingml/2006/main">
              <a:ext uri="{FF2B5EF4-FFF2-40B4-BE49-F238E27FC236}">
                <a16:creationId xmlns:a16="http://schemas.microsoft.com/office/drawing/2014/main" id="{072D6658-8230-4327-B42E-1EBEFF73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314950"/>
            <a:ext cx="7429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Entity types</a:t>
            </a:r>
          </a:p>
        </p:txBody>
      </p:sp>
      <p:sp>
        <p:nvSpPr>
          <p:cNvPr id="40" name="ontology-relation-types">
            <a:extLst xmlns:a="http://schemas.openxmlformats.org/drawingml/2006/main">
              <a:ext uri="{FF2B5EF4-FFF2-40B4-BE49-F238E27FC236}">
                <a16:creationId xmlns:a16="http://schemas.microsoft.com/office/drawing/2014/main" id="{8CCA1913-9682-4541-82A5-93B21FF77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314950"/>
            <a:ext cx="8001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Relation types</a:t>
            </a:r>
          </a:p>
        </p:txBody>
      </p:sp>
      <p:sp>
        <p:nvSpPr>
          <p:cNvPr id="41" name="ontology-constraints">
            <a:extLst xmlns:a="http://schemas.openxmlformats.org/drawingml/2006/main">
              <a:ext uri="{FF2B5EF4-FFF2-40B4-BE49-F238E27FC236}">
                <a16:creationId xmlns:a16="http://schemas.microsoft.com/office/drawing/2014/main" id="{BDA56376-BB1B-48F5-90BA-A1E12F11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314950"/>
            <a:ext cx="66675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Constraints</a:t>
            </a:r>
          </a:p>
        </p:txBody>
      </p:sp>
      <p:sp>
        <p:nvSpPr>
          <p:cNvPr id="42" name="ontology-role">
            <a:extLst xmlns:a="http://schemas.openxmlformats.org/drawingml/2006/main">
              <a:ext uri="{FF2B5EF4-FFF2-40B4-BE49-F238E27FC236}">
                <a16:creationId xmlns:a16="http://schemas.microsoft.com/office/drawing/2014/main" id="{2CED8583-BB9F-4E17-BB49-FA07913D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943600"/>
            <a:ext cx="1695450" cy="4191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EDF8F4"/>
          </a:solidFill>
          <a:ln xmlns:a="http://schemas.openxmlformats.org/drawingml/2006/main" w="8573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Upper-level causal schema</a:t>
            </a:r>
          </a:p>
        </p:txBody>
      </p:sp>
      <p:sp>
        <p:nvSpPr>
          <p:cNvPr id="43" name="entity-identification-frame">
            <a:extLst xmlns:a="http://schemas.openxmlformats.org/drawingml/2006/main">
              <a:ext uri="{FF2B5EF4-FFF2-40B4-BE49-F238E27FC236}">
                <a16:creationId xmlns:a16="http://schemas.microsoft.com/office/drawing/2014/main" id="{8C644697-70D1-421F-93F6-E53DE14F9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914400"/>
            <a:ext cx="1238250" cy="2381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4" name="entity-identification-title">
            <a:extLst xmlns:a="http://schemas.openxmlformats.org/drawingml/2006/main">
              <a:ext uri="{FF2B5EF4-FFF2-40B4-BE49-F238E27FC236}">
                <a16:creationId xmlns:a16="http://schemas.microsoft.com/office/drawing/2014/main" id="{48FF4797-92B5-4250-A250-6C5D5658B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990600"/>
            <a:ext cx="1085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4764"/>
          </a:bodyPr>
          <a:lstStyle xmlns:a="http://schemas.openxmlformats.org/drawingml/2006/main"/>
          <a:p xmlns:a="http://schemas.openxmlformats.org/drawingml/2006/main">
            <a:pPr algn="ctr">
              <a:defRPr sz="1088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rPr>
              <a:t>Entity identification</a:t>
            </a:r>
          </a:p>
        </p:txBody>
      </p:sp>
      <p:sp>
        <p:nvSpPr>
          <p:cNvPr id="45" name="evidence-spans">
            <a:extLst xmlns:a="http://schemas.openxmlformats.org/drawingml/2006/main">
              <a:ext uri="{FF2B5EF4-FFF2-40B4-BE49-F238E27FC236}">
                <a16:creationId xmlns:a16="http://schemas.microsoft.com/office/drawing/2014/main" id="{B39DDC48-A66C-4B3E-912D-9684A48B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66850"/>
            <a:ext cx="933450" cy="51435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69F00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1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1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Evidence spans</a:t>
            </a:r>
          </a:p>
          <a:p xmlns:a="http://schemas.openxmlformats.org/drawingml/2006/main">
            <a:pPr algn="ctr">
              <a:defRPr sz="91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15" b="0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S001 · S002 · ...</a:t>
            </a:r>
          </a:p>
        </p:txBody>
      </p:sp>
      <p:sp>
        <p:nvSpPr>
          <p:cNvPr id="46" name="ontology-extraction">
            <a:extLst xmlns:a="http://schemas.openxmlformats.org/drawingml/2006/main">
              <a:ext uri="{FF2B5EF4-FFF2-40B4-BE49-F238E27FC236}">
                <a16:creationId xmlns:a16="http://schemas.microsoft.com/office/drawing/2014/main" id="{7F691043-D8BF-4EDF-8276-5B2781B7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133600"/>
            <a:ext cx="1066800" cy="5334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69F00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1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Ontology-constrained</a:t>
            </a:r>
          </a:p>
          <a:p xmlns:a="http://schemas.openxmlformats.org/drawingml/2006/main">
            <a:pPr algn="ctr">
              <a:defRPr sz="81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1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extraction</a:t>
            </a:r>
          </a:p>
        </p:txBody>
      </p:sp>
      <p:sp>
        <p:nvSpPr>
          <p:cNvPr id="47" name="gleaning-round">
            <a:extLst xmlns:a="http://schemas.openxmlformats.org/drawingml/2006/main">
              <a:ext uri="{FF2B5EF4-FFF2-40B4-BE49-F238E27FC236}">
                <a16:creationId xmlns:a16="http://schemas.microsoft.com/office/drawing/2014/main" id="{827B4834-B212-4839-B8BF-829951128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38450"/>
            <a:ext cx="9334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69F00"/>
            </a:solidFill>
            <a:prstDash val="dash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rPr>
              <a:t>1 gleaning round</a:t>
            </a:r>
          </a:p>
        </p:txBody>
      </p:sp>
      <p:sp>
        <p:nvSpPr>
          <p:cNvPr id="48" name="relation-reasoning-frame">
            <a:extLst xmlns:a="http://schemas.openxmlformats.org/drawingml/2006/main">
              <a:ext uri="{FF2B5EF4-FFF2-40B4-BE49-F238E27FC236}">
                <a16:creationId xmlns:a16="http://schemas.microsoft.com/office/drawing/2014/main" id="{5885A2DE-568D-491F-885B-3AD606F9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914400"/>
            <a:ext cx="1352550" cy="23812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6E8"/>
          </a:solidFill>
          <a:ln xmlns:a="http://schemas.openxmlformats.org/drawingml/2006/main" w="10478">
            <a:solidFill>
              <a:srgbClr val="D55E00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9" name="relation-reasoning-title">
            <a:extLst xmlns:a="http://schemas.openxmlformats.org/drawingml/2006/main">
              <a:ext uri="{FF2B5EF4-FFF2-40B4-BE49-F238E27FC236}">
                <a16:creationId xmlns:a16="http://schemas.microsoft.com/office/drawing/2014/main" id="{DF3CA901-720A-44C2-9A19-8B8F93C0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990600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88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88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rPr>
              <a:t>Relation reasoning</a:t>
            </a:r>
          </a:p>
        </p:txBody>
      </p:sp>
      <p:sp>
        <p:nvSpPr>
          <p:cNvPr id="50" name="question-bank">
            <a:extLst xmlns:a="http://schemas.openxmlformats.org/drawingml/2006/main">
              <a:ext uri="{FF2B5EF4-FFF2-40B4-BE49-F238E27FC236}">
                <a16:creationId xmlns:a16="http://schemas.microsoft.com/office/drawing/2014/main" id="{12B9FFB0-14C5-4B8E-8380-06C6C820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66850"/>
            <a:ext cx="104775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69F00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1" i="0">
                <a:solidFill>
                  <a:srgbClr val="D55E00"/>
                </a:solidFill>
                <a:latin typeface="Times New Roman"/>
                <a:ea typeface="Times New Roman"/>
                <a:cs typeface="Times New Roman"/>
              </a:rPr>
              <a:t>16-question bank</a:t>
            </a:r>
          </a:p>
        </p:txBody>
      </p:sp>
      <p:sp>
        <p:nvSpPr>
          <p:cNvPr id="51" name="yes-no-evidence">
            <a:extLst xmlns:a="http://schemas.openxmlformats.org/drawingml/2006/main">
              <a:ext uri="{FF2B5EF4-FFF2-40B4-BE49-F238E27FC236}">
                <a16:creationId xmlns:a16="http://schemas.microsoft.com/office/drawing/2014/main" id="{D35BF677-E306-4C47-81F5-2597678D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00250"/>
            <a:ext cx="104775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69F00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38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Yes / No</a:t>
            </a:r>
          </a:p>
          <a:p xmlns:a="http://schemas.openxmlformats.org/drawingml/2006/main">
            <a:pPr algn="ctr">
              <a:defRPr sz="938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+ evidence</a:t>
            </a:r>
          </a:p>
        </p:txBody>
      </p:sp>
      <p:sp>
        <p:nvSpPr>
          <p:cNvPr id="52" name="vote-consistency">
            <a:extLst xmlns:a="http://schemas.openxmlformats.org/drawingml/2006/main">
              <a:ext uri="{FF2B5EF4-FFF2-40B4-BE49-F238E27FC236}">
                <a16:creationId xmlns:a16="http://schemas.microsoft.com/office/drawing/2014/main" id="{B1720A60-EDDD-44BD-BBF3-255EF0A7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67000"/>
            <a:ext cx="104775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69F00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8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3-vote consistency</a:t>
            </a:r>
          </a:p>
          <a:p xmlns:a="http://schemas.openxmlformats.org/drawingml/2006/main">
            <a:pPr algn="ctr">
              <a:defRPr sz="88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majority + margin</a:t>
            </a:r>
          </a:p>
        </p:txBody>
      </p:sp>
      <p:sp>
        <p:nvSpPr>
          <p:cNvPr id="53" name="verification-fusion-frame">
            <a:extLst xmlns:a="http://schemas.openxmlformats.org/drawingml/2006/main">
              <a:ext uri="{FF2B5EF4-FFF2-40B4-BE49-F238E27FC236}">
                <a16:creationId xmlns:a16="http://schemas.microsoft.com/office/drawing/2014/main" id="{3F1DBE9D-05C8-4825-9ECE-6F51B26E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914400"/>
            <a:ext cx="1257300" cy="238125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BF0F6"/>
          </a:solidFill>
          <a:ln xmlns:a="http://schemas.openxmlformats.org/drawingml/2006/main" w="10478">
            <a:solidFill>
              <a:srgbClr val="CC79A7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4" name="verification-fusion-title">
            <a:extLst xmlns:a="http://schemas.openxmlformats.org/drawingml/2006/main">
              <a:ext uri="{FF2B5EF4-FFF2-40B4-BE49-F238E27FC236}">
                <a16:creationId xmlns:a16="http://schemas.microsoft.com/office/drawing/2014/main" id="{6E4A3F28-37EF-4CDD-8911-A13178B1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990600"/>
            <a:ext cx="1104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5405"/>
          </a:bodyPr>
          <a:lstStyle xmlns:a="http://schemas.openxmlformats.org/drawingml/2006/main"/>
          <a:p xmlns:a="http://schemas.openxmlformats.org/drawingml/2006/main">
            <a:pPr algn="ctr">
              <a:defRPr sz="1065" b="1" i="0">
                <a:solidFill>
                  <a:srgbClr val="CC79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65" b="1" i="0">
                <a:solidFill>
                  <a:srgbClr val="CC79A7"/>
                </a:solidFill>
                <a:latin typeface="Times New Roman"/>
                <a:ea typeface="Times New Roman"/>
                <a:cs typeface="Times New Roman"/>
              </a:rPr>
              <a:t>Verification &amp; fusion</a:t>
            </a:r>
          </a:p>
        </p:txBody>
      </p:sp>
      <p:sp>
        <p:nvSpPr>
          <p:cNvPr id="55" name="ontology-validation">
            <a:extLst xmlns:a="http://schemas.openxmlformats.org/drawingml/2006/main">
              <a:ext uri="{FF2B5EF4-FFF2-40B4-BE49-F238E27FC236}">
                <a16:creationId xmlns:a16="http://schemas.microsoft.com/office/drawing/2014/main" id="{EB8C6E51-60C2-4A59-9511-605DF300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466850"/>
            <a:ext cx="95250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C79A7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6804"/>
          </a:bodyPr>
          <a:lstStyle xmlns:a="http://schemas.openxmlformats.org/drawingml/2006/main"/>
          <a:p xmlns:a="http://schemas.openxmlformats.org/drawingml/2006/main">
            <a:pPr algn="ctr">
              <a:defRPr sz="907" b="1" i="0">
                <a:solidFill>
                  <a:srgbClr val="CC79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7" b="1" i="0">
                <a:solidFill>
                  <a:srgbClr val="CC79A7"/>
                </a:solidFill>
                <a:latin typeface="Times New Roman"/>
                <a:ea typeface="Times New Roman"/>
                <a:cs typeface="Times New Roman"/>
              </a:rPr>
              <a:t>Ontology validation</a:t>
            </a:r>
          </a:p>
        </p:txBody>
      </p:sp>
      <p:sp>
        <p:nvSpPr>
          <p:cNvPr id="56" name="bounded-repair">
            <a:extLst xmlns:a="http://schemas.openxmlformats.org/drawingml/2006/main">
              <a:ext uri="{FF2B5EF4-FFF2-40B4-BE49-F238E27FC236}">
                <a16:creationId xmlns:a16="http://schemas.microsoft.com/office/drawing/2014/main" id="{E8B07DFD-6FF6-44D9-AEBA-D19CE661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981200"/>
            <a:ext cx="9525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C79A7"/>
            </a:solidFill>
            <a:prstDash val="dash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7" b="1" i="0">
                <a:solidFill>
                  <a:srgbClr val="CC79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7" b="1" i="0">
                <a:solidFill>
                  <a:srgbClr val="CC79A7"/>
                </a:solidFill>
                <a:latin typeface="Times New Roman"/>
                <a:ea typeface="Times New Roman"/>
                <a:cs typeface="Times New Roman"/>
              </a:rPr>
              <a:t>Bounded repair</a:t>
            </a:r>
          </a:p>
        </p:txBody>
      </p:sp>
      <p:sp>
        <p:nvSpPr>
          <p:cNvPr id="57" name="string-embedding-alignment">
            <a:extLst xmlns:a="http://schemas.openxmlformats.org/drawingml/2006/main">
              <a:ext uri="{FF2B5EF4-FFF2-40B4-BE49-F238E27FC236}">
                <a16:creationId xmlns:a16="http://schemas.microsoft.com/office/drawing/2014/main" id="{3747CD3D-6DA1-417B-B594-3DA6AD77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76500"/>
            <a:ext cx="9525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C79A7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8962"/>
          </a:bodyPr>
          <a:lstStyle xmlns:a="http://schemas.openxmlformats.org/drawingml/2006/main"/>
          <a:p xmlns:a="http://schemas.openxmlformats.org/drawingml/2006/main">
            <a:pPr algn="ctr">
              <a:defRPr sz="88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String + embedding</a:t>
            </a:r>
          </a:p>
          <a:p xmlns:a="http://schemas.openxmlformats.org/drawingml/2006/main">
            <a:pPr algn="ctr">
              <a:defRPr sz="88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8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alignment</a:t>
            </a:r>
          </a:p>
        </p:txBody>
      </p:sp>
      <p:sp>
        <p:nvSpPr>
          <p:cNvPr id="58" name="relation-merge">
            <a:extLst xmlns:a="http://schemas.openxmlformats.org/drawingml/2006/main">
              <a:ext uri="{FF2B5EF4-FFF2-40B4-BE49-F238E27FC236}">
                <a16:creationId xmlns:a16="http://schemas.microsoft.com/office/drawing/2014/main" id="{4A2178E6-B8A8-489C-817E-C96E19F7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09900"/>
            <a:ext cx="952500" cy="2286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CC79A7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7255"/>
          </a:bodyPr>
          <a:lstStyle xmlns:a="http://schemas.openxmlformats.org/drawingml/2006/main"/>
          <a:p xmlns:a="http://schemas.openxmlformats.org/drawingml/2006/main">
            <a:pPr algn="ctr">
              <a:defRPr sz="84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4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Relation merge</a:t>
            </a:r>
          </a:p>
        </p:txBody>
      </p:sp>
      <p:sp>
        <p:nvSpPr>
          <p:cNvPr id="59" name="canonical-kg-frame">
            <a:extLst xmlns:a="http://schemas.openxmlformats.org/drawingml/2006/main">
              <a:ext uri="{FF2B5EF4-FFF2-40B4-BE49-F238E27FC236}">
                <a16:creationId xmlns:a16="http://schemas.microsoft.com/office/drawing/2014/main" id="{56EBFCDE-AE0F-40BD-B2B2-68B380C15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943350"/>
            <a:ext cx="2381250" cy="1695450"/>
          </a:xfrm>
          <a:prstGeom xmlns:a="http://schemas.openxmlformats.org/drawingml/2006/main" prst="roundRect">
            <a:avLst>
              <a:gd name="adj" fmla="val 3371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1430">
            <a:solidFill>
              <a:srgbClr val="222222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canonical-kg-title">
            <a:extLst xmlns:a="http://schemas.openxmlformats.org/drawingml/2006/main">
              <a:ext uri="{FF2B5EF4-FFF2-40B4-BE49-F238E27FC236}">
                <a16:creationId xmlns:a16="http://schemas.microsoft.com/office/drawing/2014/main" id="{163DAB06-6DFE-46BB-B707-17AF05F3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038600"/>
            <a:ext cx="2038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0872"/>
          </a:bodyPr>
          <a:lstStyle xmlns:a="http://schemas.openxmlformats.org/drawingml/2006/main"/>
          <a:p xmlns:a="http://schemas.openxmlformats.org/drawingml/2006/main">
            <a:pPr algn="ctr">
              <a:defRPr sz="1238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38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Canonical HEC-KG</a:t>
            </a:r>
          </a:p>
        </p:txBody>
      </p:sp>
      <p:sp>
        <p:nvSpPr>
          <p:cNvPr id="61" name="kg-n1">
            <a:extLst xmlns:a="http://schemas.openxmlformats.org/drawingml/2006/main">
              <a:ext uri="{FF2B5EF4-FFF2-40B4-BE49-F238E27FC236}">
                <a16:creationId xmlns:a16="http://schemas.microsoft.com/office/drawing/2014/main" id="{61C7C31C-571C-4A7B-9342-A1A91211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514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DDF2"/>
          </a:solidFill>
          <a:ln xmlns:a="http://schemas.openxmlformats.org/drawingml/2006/main" w="9525">
            <a:solidFill>
              <a:srgbClr val="0072B2"/>
            </a:solidFill>
            <a:prstDash val="solid"/>
          </a:ln>
        </p:spPr>
      </p:sp>
      <p:sp>
        <p:nvSpPr>
          <p:cNvPr id="62" name="kg-n2">
            <a:extLst xmlns:a="http://schemas.openxmlformats.org/drawingml/2006/main">
              <a:ext uri="{FF2B5EF4-FFF2-40B4-BE49-F238E27FC236}">
                <a16:creationId xmlns:a16="http://schemas.microsoft.com/office/drawing/2014/main" id="{EAFF7509-3159-448B-B7A8-46A94684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62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5A7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</p:sp>
      <p:sp>
        <p:nvSpPr>
          <p:cNvPr id="63" name="kg-n3">
            <a:extLst xmlns:a="http://schemas.openxmlformats.org/drawingml/2006/main">
              <a:ext uri="{FF2B5EF4-FFF2-40B4-BE49-F238E27FC236}">
                <a16:creationId xmlns:a16="http://schemas.microsoft.com/office/drawing/2014/main" id="{23F48F94-FBEE-4816-B3AE-450C9887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958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E2D4"/>
          </a:solidFill>
          <a:ln xmlns:a="http://schemas.openxmlformats.org/drawingml/2006/main" w="9525">
            <a:solidFill>
              <a:srgbClr val="009E73"/>
            </a:solidFill>
            <a:prstDash val="solid"/>
          </a:ln>
        </p:spPr>
      </p:sp>
      <p:sp>
        <p:nvSpPr>
          <p:cNvPr id="64" name="kg-n4">
            <a:extLst xmlns:a="http://schemas.openxmlformats.org/drawingml/2006/main">
              <a:ext uri="{FF2B5EF4-FFF2-40B4-BE49-F238E27FC236}">
                <a16:creationId xmlns:a16="http://schemas.microsoft.com/office/drawing/2014/main" id="{B548B87A-FB8F-4372-9683-CF170553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8958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BD7"/>
          </a:solidFill>
          <a:ln xmlns:a="http://schemas.openxmlformats.org/drawingml/2006/main" w="9525">
            <a:solidFill>
              <a:srgbClr val="CC79A7"/>
            </a:solidFill>
            <a:prstDash val="solid"/>
          </a:ln>
        </p:spPr>
      </p:sp>
      <p:sp>
        <p:nvSpPr>
          <p:cNvPr id="65" name="kg-n5">
            <a:extLst xmlns:a="http://schemas.openxmlformats.org/drawingml/2006/main">
              <a:ext uri="{FF2B5EF4-FFF2-40B4-BE49-F238E27FC236}">
                <a16:creationId xmlns:a16="http://schemas.microsoft.com/office/drawing/2014/main" id="{1EAA734C-617A-4C6B-A8FD-CE1B6ED6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0863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9EF"/>
          </a:solidFill>
          <a:ln xmlns:a="http://schemas.openxmlformats.org/drawingml/2006/main" w="9525">
            <a:solidFill>
              <a:srgbClr val="7B6BA8"/>
            </a:solidFill>
            <a:prstDash val="solid"/>
          </a:ln>
        </p:spPr>
      </p:sp>
      <p:sp>
        <p:nvSpPr>
          <p:cNvPr id="66" name="kg-n6">
            <a:extLst xmlns:a="http://schemas.openxmlformats.org/drawingml/2006/main">
              <a:ext uri="{FF2B5EF4-FFF2-40B4-BE49-F238E27FC236}">
                <a16:creationId xmlns:a16="http://schemas.microsoft.com/office/drawing/2014/main" id="{9C417392-2B3F-487C-B189-861F46B1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43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EDFE9"/>
          </a:solidFill>
          <a:ln xmlns:a="http://schemas.openxmlformats.org/drawingml/2006/main" w="9525">
            <a:solidFill>
              <a:srgbClr val="0072B2"/>
            </a:solidFill>
            <a:prstDash val="solid"/>
          </a:ln>
        </p:spPr>
      </p:sp>
      <p:sp>
        <p:nvSpPr>
          <p:cNvPr id="67" name="kg-tag-case">
            <a:extLst xmlns:a="http://schemas.openxmlformats.org/drawingml/2006/main">
              <a:ext uri="{FF2B5EF4-FFF2-40B4-BE49-F238E27FC236}">
                <a16:creationId xmlns:a16="http://schemas.microsoft.com/office/drawing/2014/main" id="{A9F839BD-72D6-4179-9E3A-A68A6CC2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791200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222222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case</a:t>
            </a:r>
          </a:p>
        </p:txBody>
      </p:sp>
      <p:sp>
        <p:nvSpPr>
          <p:cNvPr id="68" name="kg-tag-evidence">
            <a:extLst xmlns:a="http://schemas.openxmlformats.org/drawingml/2006/main">
              <a:ext uri="{FF2B5EF4-FFF2-40B4-BE49-F238E27FC236}">
                <a16:creationId xmlns:a16="http://schemas.microsoft.com/office/drawing/2014/main" id="{74F46BC8-1A27-49BE-8437-523942B8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791200"/>
            <a:ext cx="6477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222222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evidence</a:t>
            </a:r>
          </a:p>
        </p:txBody>
      </p:sp>
      <p:sp>
        <p:nvSpPr>
          <p:cNvPr id="69" name="kg-tag-votes">
            <a:extLst xmlns:a="http://schemas.openxmlformats.org/drawingml/2006/main">
              <a:ext uri="{FF2B5EF4-FFF2-40B4-BE49-F238E27FC236}">
                <a16:creationId xmlns:a16="http://schemas.microsoft.com/office/drawing/2014/main" id="{E55D5EFB-4605-4BA8-84CE-5A3BE4A7F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791200"/>
            <a:ext cx="5334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222222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votes</a:t>
            </a:r>
          </a:p>
        </p:txBody>
      </p:sp>
      <p:sp>
        <p:nvSpPr>
          <p:cNvPr id="70" name="neo4j-output">
            <a:extLst xmlns:a="http://schemas.openxmlformats.org/drawingml/2006/main">
              <a:ext uri="{FF2B5EF4-FFF2-40B4-BE49-F238E27FC236}">
                <a16:creationId xmlns:a16="http://schemas.microsoft.com/office/drawing/2014/main" id="{EE0D5853-2742-4482-9B61-5556F6C5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24350"/>
            <a:ext cx="723900" cy="43815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2222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Neo4j</a:t>
            </a:r>
          </a:p>
        </p:txBody>
      </p:sp>
      <p:sp>
        <p:nvSpPr>
          <p:cNvPr id="71" name="causal-matrix-frame">
            <a:extLst xmlns:a="http://schemas.openxmlformats.org/drawingml/2006/main">
              <a:ext uri="{FF2B5EF4-FFF2-40B4-BE49-F238E27FC236}">
                <a16:creationId xmlns:a16="http://schemas.microsoft.com/office/drawing/2014/main" id="{3BAEB8B9-789C-47D4-8022-98FFBA2D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838200"/>
            <a:ext cx="914400" cy="135255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0072B2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2" name="causal-matrix-title">
            <a:extLst xmlns:a="http://schemas.openxmlformats.org/drawingml/2006/main">
              <a:ext uri="{FF2B5EF4-FFF2-40B4-BE49-F238E27FC236}">
                <a16:creationId xmlns:a16="http://schemas.microsoft.com/office/drawing/2014/main" id="{B8F57223-D878-47FB-BDDE-3DEC4AC3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8953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82072"/>
          </a:bodyPr>
          <a:lstStyle xmlns:a="http://schemas.openxmlformats.org/drawingml/2006/main"/>
          <a:p xmlns:a="http://schemas.openxmlformats.org/drawingml/2006/main">
            <a:pPr algn="ctr">
              <a:defRPr sz="93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Causal matrix X</a:t>
            </a:r>
          </a:p>
        </p:txBody>
      </p:sp>
      <p:sp>
        <p:nvSpPr>
          <p:cNvPr id="73" name="causal-matrix-cell-0-0">
            <a:extLst xmlns:a="http://schemas.openxmlformats.org/drawingml/2006/main">
              <a:ext uri="{FF2B5EF4-FFF2-40B4-BE49-F238E27FC236}">
                <a16:creationId xmlns:a16="http://schemas.microsoft.com/office/drawing/2014/main" id="{8E18AE4C-43E1-412E-AE64-AAA47075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1238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0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962"/>
          </a:bodyPr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74" name="causal-matrix-cell-0-1">
            <a:extLst xmlns:a="http://schemas.openxmlformats.org/drawingml/2006/main">
              <a:ext uri="{FF2B5EF4-FFF2-40B4-BE49-F238E27FC236}">
                <a16:creationId xmlns:a16="http://schemas.microsoft.com/office/drawing/2014/main" id="{CB5764CF-B773-48CA-A7E6-5DF8CA211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1238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962"/>
          </a:bodyPr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75" name="causal-matrix-cell-0-2">
            <a:extLst xmlns:a="http://schemas.openxmlformats.org/drawingml/2006/main">
              <a:ext uri="{FF2B5EF4-FFF2-40B4-BE49-F238E27FC236}">
                <a16:creationId xmlns:a16="http://schemas.microsoft.com/office/drawing/2014/main" id="{BD59AA7D-1CBA-4D77-B1A5-2B8BC5AB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238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0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962"/>
          </a:bodyPr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76" name="causal-matrix-cell-0-3">
            <a:extLst xmlns:a="http://schemas.openxmlformats.org/drawingml/2006/main">
              <a:ext uri="{FF2B5EF4-FFF2-40B4-BE49-F238E27FC236}">
                <a16:creationId xmlns:a16="http://schemas.microsoft.com/office/drawing/2014/main" id="{55A23C87-075A-4E19-B802-CE031A0F8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238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962"/>
          </a:bodyPr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77" name="causal-matrix-cell-0-4">
            <a:extLst xmlns:a="http://schemas.openxmlformats.org/drawingml/2006/main">
              <a:ext uri="{FF2B5EF4-FFF2-40B4-BE49-F238E27FC236}">
                <a16:creationId xmlns:a16="http://schemas.microsoft.com/office/drawing/2014/main" id="{3DC0D177-DBCD-41B0-A674-7B960335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238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0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962"/>
          </a:bodyPr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78" name="causal-matrix-cell-0-5">
            <a:extLst xmlns:a="http://schemas.openxmlformats.org/drawingml/2006/main">
              <a:ext uri="{FF2B5EF4-FFF2-40B4-BE49-F238E27FC236}">
                <a16:creationId xmlns:a16="http://schemas.microsoft.com/office/drawing/2014/main" id="{E9E8BE03-A9D7-42A9-91EA-2433B9690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1238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962"/>
          </a:bodyPr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79" name="causal-matrix-cell-1-0">
            <a:extLst xmlns:a="http://schemas.openxmlformats.org/drawingml/2006/main">
              <a:ext uri="{FF2B5EF4-FFF2-40B4-BE49-F238E27FC236}">
                <a16:creationId xmlns:a16="http://schemas.microsoft.com/office/drawing/2014/main" id="{BA3DB48F-BCDF-49F3-AEC4-C02D4192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1333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962"/>
          </a:bodyPr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80" name="causal-matrix-cell-1-1">
            <a:extLst xmlns:a="http://schemas.openxmlformats.org/drawingml/2006/main">
              <a:ext uri="{FF2B5EF4-FFF2-40B4-BE49-F238E27FC236}">
                <a16:creationId xmlns:a16="http://schemas.microsoft.com/office/drawing/2014/main" id="{953E9684-12B4-4A20-85F8-91F5BF34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1333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0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962"/>
          </a:bodyPr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81" name="causal-matrix-cell-1-2">
            <a:extLst xmlns:a="http://schemas.openxmlformats.org/drawingml/2006/main">
              <a:ext uri="{FF2B5EF4-FFF2-40B4-BE49-F238E27FC236}">
                <a16:creationId xmlns:a16="http://schemas.microsoft.com/office/drawing/2014/main" id="{76E70396-E07B-4188-80EB-E372B1CC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333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962"/>
          </a:bodyPr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82" name="causal-matrix-cell-1-3">
            <a:extLst xmlns:a="http://schemas.openxmlformats.org/drawingml/2006/main">
              <a:ext uri="{FF2B5EF4-FFF2-40B4-BE49-F238E27FC236}">
                <a16:creationId xmlns:a16="http://schemas.microsoft.com/office/drawing/2014/main" id="{901EDB4C-CE22-486C-9F0C-9AE367ED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333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962"/>
          </a:bodyPr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83" name="causal-matrix-cell-1-4">
            <a:extLst xmlns:a="http://schemas.openxmlformats.org/drawingml/2006/main">
              <a:ext uri="{FF2B5EF4-FFF2-40B4-BE49-F238E27FC236}">
                <a16:creationId xmlns:a16="http://schemas.microsoft.com/office/drawing/2014/main" id="{F6A27296-C00A-4DC3-9CF8-23A752AF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333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0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962"/>
          </a:bodyPr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84" name="causal-matrix-cell-1-5">
            <a:extLst xmlns:a="http://schemas.openxmlformats.org/drawingml/2006/main">
              <a:ext uri="{FF2B5EF4-FFF2-40B4-BE49-F238E27FC236}">
                <a16:creationId xmlns:a16="http://schemas.microsoft.com/office/drawing/2014/main" id="{92971116-EB6D-4920-AC8B-B58E8BFC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1333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962"/>
          </a:bodyPr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85" name="causal-matrix-cell-2-0">
            <a:extLst xmlns:a="http://schemas.openxmlformats.org/drawingml/2006/main">
              <a:ext uri="{FF2B5EF4-FFF2-40B4-BE49-F238E27FC236}">
                <a16:creationId xmlns:a16="http://schemas.microsoft.com/office/drawing/2014/main" id="{B74D7009-E8E8-49BD-BBCB-9A47DAE8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1428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962"/>
          </a:bodyPr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86" name="causal-matrix-cell-2-1">
            <a:extLst xmlns:a="http://schemas.openxmlformats.org/drawingml/2006/main">
              <a:ext uri="{FF2B5EF4-FFF2-40B4-BE49-F238E27FC236}">
                <a16:creationId xmlns:a16="http://schemas.microsoft.com/office/drawing/2014/main" id="{F5A7257C-1503-41B7-BADF-E3235FC50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1428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962"/>
          </a:bodyPr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87" name="causal-matrix-cell-2-2">
            <a:extLst xmlns:a="http://schemas.openxmlformats.org/drawingml/2006/main">
              <a:ext uri="{FF2B5EF4-FFF2-40B4-BE49-F238E27FC236}">
                <a16:creationId xmlns:a16="http://schemas.microsoft.com/office/drawing/2014/main" id="{2C6D9710-372A-4ED4-ADD0-CE6C8933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428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962"/>
          </a:bodyPr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88" name="causal-matrix-cell-2-3">
            <a:extLst xmlns:a="http://schemas.openxmlformats.org/drawingml/2006/main">
              <a:ext uri="{FF2B5EF4-FFF2-40B4-BE49-F238E27FC236}">
                <a16:creationId xmlns:a16="http://schemas.microsoft.com/office/drawing/2014/main" id="{1579FA87-47E5-410F-A730-786D68A9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428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0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962"/>
          </a:bodyPr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89" name="causal-matrix-cell-2-4">
            <a:extLst xmlns:a="http://schemas.openxmlformats.org/drawingml/2006/main">
              <a:ext uri="{FF2B5EF4-FFF2-40B4-BE49-F238E27FC236}">
                <a16:creationId xmlns:a16="http://schemas.microsoft.com/office/drawing/2014/main" id="{B2334146-B90F-45E6-A435-A2F1FF6E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428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0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962"/>
          </a:bodyPr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0" name="causal-matrix-cell-2-5">
            <a:extLst xmlns:a="http://schemas.openxmlformats.org/drawingml/2006/main">
              <a:ext uri="{FF2B5EF4-FFF2-40B4-BE49-F238E27FC236}">
                <a16:creationId xmlns:a16="http://schemas.microsoft.com/office/drawing/2014/main" id="{B1CD05AE-5439-4724-B1C1-8E01E6AD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1428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962"/>
          </a:bodyPr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91" name="causal-matrix-cell-3-0">
            <a:extLst xmlns:a="http://schemas.openxmlformats.org/drawingml/2006/main">
              <a:ext uri="{FF2B5EF4-FFF2-40B4-BE49-F238E27FC236}">
                <a16:creationId xmlns:a16="http://schemas.microsoft.com/office/drawing/2014/main" id="{B91C4EE3-86D0-47E3-8563-571FA755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1524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0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962"/>
          </a:bodyPr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2" name="causal-matrix-cell-3-1">
            <a:extLst xmlns:a="http://schemas.openxmlformats.org/drawingml/2006/main">
              <a:ext uri="{FF2B5EF4-FFF2-40B4-BE49-F238E27FC236}">
                <a16:creationId xmlns:a16="http://schemas.microsoft.com/office/drawing/2014/main" id="{07AD3137-0C98-4AB6-9130-AA905963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1524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0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962"/>
          </a:bodyPr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3" name="causal-matrix-cell-3-2">
            <a:extLst xmlns:a="http://schemas.openxmlformats.org/drawingml/2006/main">
              <a:ext uri="{FF2B5EF4-FFF2-40B4-BE49-F238E27FC236}">
                <a16:creationId xmlns:a16="http://schemas.microsoft.com/office/drawing/2014/main" id="{EDD6A251-CDEE-4D46-A6DE-4F2562DF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524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0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962"/>
          </a:bodyPr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4" name="causal-matrix-cell-3-3">
            <a:extLst xmlns:a="http://schemas.openxmlformats.org/drawingml/2006/main">
              <a:ext uri="{FF2B5EF4-FFF2-40B4-BE49-F238E27FC236}">
                <a16:creationId xmlns:a16="http://schemas.microsoft.com/office/drawing/2014/main" id="{3852FCE8-1DB3-4302-A017-2D4CC515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524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0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962"/>
          </a:bodyPr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5" name="causal-matrix-cell-3-4">
            <a:extLst xmlns:a="http://schemas.openxmlformats.org/drawingml/2006/main">
              <a:ext uri="{FF2B5EF4-FFF2-40B4-BE49-F238E27FC236}">
                <a16:creationId xmlns:a16="http://schemas.microsoft.com/office/drawing/2014/main" id="{ED85B0C0-2E0A-4B28-88B4-A238491C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524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0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962"/>
          </a:bodyPr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6" name="causal-matrix-cell-3-5">
            <a:extLst xmlns:a="http://schemas.openxmlformats.org/drawingml/2006/main">
              <a:ext uri="{FF2B5EF4-FFF2-40B4-BE49-F238E27FC236}">
                <a16:creationId xmlns:a16="http://schemas.microsoft.com/office/drawing/2014/main" id="{EE73B9D5-985A-4A51-8FC2-C5C64E0C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1524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0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962"/>
          </a:bodyPr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7" name="causal-matrix-cell-4-0">
            <a:extLst xmlns:a="http://schemas.openxmlformats.org/drawingml/2006/main">
              <a:ext uri="{FF2B5EF4-FFF2-40B4-BE49-F238E27FC236}">
                <a16:creationId xmlns:a16="http://schemas.microsoft.com/office/drawing/2014/main" id="{D80D1ABE-8C23-45DB-B455-DAE5B8B9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1619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962"/>
          </a:bodyPr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98" name="causal-matrix-cell-4-1">
            <a:extLst xmlns:a="http://schemas.openxmlformats.org/drawingml/2006/main">
              <a:ext uri="{FF2B5EF4-FFF2-40B4-BE49-F238E27FC236}">
                <a16:creationId xmlns:a16="http://schemas.microsoft.com/office/drawing/2014/main" id="{8ADC0DD1-1ECC-4469-8BD5-1DA17F99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1619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962"/>
          </a:bodyPr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99" name="causal-matrix-cell-4-2">
            <a:extLst xmlns:a="http://schemas.openxmlformats.org/drawingml/2006/main">
              <a:ext uri="{FF2B5EF4-FFF2-40B4-BE49-F238E27FC236}">
                <a16:creationId xmlns:a16="http://schemas.microsoft.com/office/drawing/2014/main" id="{3CE72BF2-4CDB-475D-A20D-18256F46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619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962"/>
          </a:bodyPr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00" name="causal-matrix-cell-4-3">
            <a:extLst xmlns:a="http://schemas.openxmlformats.org/drawingml/2006/main">
              <a:ext uri="{FF2B5EF4-FFF2-40B4-BE49-F238E27FC236}">
                <a16:creationId xmlns:a16="http://schemas.microsoft.com/office/drawing/2014/main" id="{CE20B132-DD33-4943-A7E1-D97A9B75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619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962"/>
          </a:bodyPr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01" name="causal-matrix-cell-4-4">
            <a:extLst xmlns:a="http://schemas.openxmlformats.org/drawingml/2006/main">
              <a:ext uri="{FF2B5EF4-FFF2-40B4-BE49-F238E27FC236}">
                <a16:creationId xmlns:a16="http://schemas.microsoft.com/office/drawing/2014/main" id="{4788B989-6913-4479-BFC5-CEB6A9F5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619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0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962"/>
          </a:bodyPr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02" name="causal-matrix-cell-4-5">
            <a:extLst xmlns:a="http://schemas.openxmlformats.org/drawingml/2006/main">
              <a:ext uri="{FF2B5EF4-FFF2-40B4-BE49-F238E27FC236}">
                <a16:creationId xmlns:a16="http://schemas.microsoft.com/office/drawing/2014/main" id="{D3468541-AF9F-4DA5-BDFF-5B3CCB45D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1619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0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962"/>
          </a:bodyPr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03" name="causal-matrix-cell-5-0">
            <a:extLst xmlns:a="http://schemas.openxmlformats.org/drawingml/2006/main">
              <a:ext uri="{FF2B5EF4-FFF2-40B4-BE49-F238E27FC236}">
                <a16:creationId xmlns:a16="http://schemas.microsoft.com/office/drawing/2014/main" id="{1F9A2326-5F7B-4D6D-8846-29472614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1714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962"/>
          </a:bodyPr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04" name="causal-matrix-cell-5-1">
            <a:extLst xmlns:a="http://schemas.openxmlformats.org/drawingml/2006/main">
              <a:ext uri="{FF2B5EF4-FFF2-40B4-BE49-F238E27FC236}">
                <a16:creationId xmlns:a16="http://schemas.microsoft.com/office/drawing/2014/main" id="{20653231-74E7-4591-8BC6-F3883382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1714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0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962"/>
          </a:bodyPr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05" name="causal-matrix-cell-5-2">
            <a:extLst xmlns:a="http://schemas.openxmlformats.org/drawingml/2006/main">
              <a:ext uri="{FF2B5EF4-FFF2-40B4-BE49-F238E27FC236}">
                <a16:creationId xmlns:a16="http://schemas.microsoft.com/office/drawing/2014/main" id="{3D67A552-AB37-4F61-9813-044D8DE5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714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962"/>
          </a:bodyPr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06" name="causal-matrix-cell-5-3">
            <a:extLst xmlns:a="http://schemas.openxmlformats.org/drawingml/2006/main">
              <a:ext uri="{FF2B5EF4-FFF2-40B4-BE49-F238E27FC236}">
                <a16:creationId xmlns:a16="http://schemas.microsoft.com/office/drawing/2014/main" id="{140ECFA9-4D8E-45AC-AA58-52D2DC9D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714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962"/>
          </a:bodyPr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07" name="causal-matrix-cell-5-4">
            <a:extLst xmlns:a="http://schemas.openxmlformats.org/drawingml/2006/main">
              <a:ext uri="{FF2B5EF4-FFF2-40B4-BE49-F238E27FC236}">
                <a16:creationId xmlns:a16="http://schemas.microsoft.com/office/drawing/2014/main" id="{A79EABE9-341B-4CEE-91AE-B82AF113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714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8D8F0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962"/>
          </a:bodyPr>
          <a:lstStyle xmlns:a="http://schemas.openxmlformats.org/drawingml/2006/main"/>
          <a:p xmlns:a="http://schemas.openxmlformats.org/drawingml/2006/main">
            <a:pPr algn="ctr">
              <a:defRPr sz="63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108" name="causal-matrix-cell-5-5">
            <a:extLst xmlns:a="http://schemas.openxmlformats.org/drawingml/2006/main">
              <a:ext uri="{FF2B5EF4-FFF2-40B4-BE49-F238E27FC236}">
                <a16:creationId xmlns:a16="http://schemas.microsoft.com/office/drawing/2014/main" id="{8C8A15CA-B883-4AD0-A54F-B082533A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1714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286">
            <a:solidFill>
              <a:srgbClr val="91A9B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962"/>
          </a:bodyPr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38" b="0" i="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09" name="variable-map-phi">
            <a:extLst xmlns:a="http://schemas.openxmlformats.org/drawingml/2006/main">
              <a:ext uri="{FF2B5EF4-FFF2-40B4-BE49-F238E27FC236}">
                <a16:creationId xmlns:a16="http://schemas.microsoft.com/office/drawing/2014/main" id="{EB67BEF8-EE1B-4B03-8B06-958F8DA2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8859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5178"/>
          </a:bodyPr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8" b="1" i="0">
                <a:solidFill>
                  <a:srgbClr val="0072B2"/>
                </a:solidFill>
                <a:latin typeface="Times New Roman"/>
                <a:ea typeface="Times New Roman"/>
                <a:cs typeface="Times New Roman"/>
              </a:rPr>
              <a:t>variable map φ</a:t>
            </a:r>
          </a:p>
        </p:txBody>
      </p:sp>
      <p:sp>
        <p:nvSpPr>
          <p:cNvPr id="110" name="prior-dag-mini-frame">
            <a:extLst xmlns:a="http://schemas.openxmlformats.org/drawingml/2006/main">
              <a:ext uri="{FF2B5EF4-FFF2-40B4-BE49-F238E27FC236}">
                <a16:creationId xmlns:a16="http://schemas.microsoft.com/office/drawing/2014/main" id="{6EB9E546-0C01-4F6D-800D-86927834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838200"/>
            <a:ext cx="1238250" cy="13525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DF8F4"/>
          </a:solidFill>
          <a:ln xmlns:a="http://schemas.openxmlformats.org/drawingml/2006/main" w="9525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1" name="prior-dag-mini-title">
            <a:extLst xmlns:a="http://schemas.openxmlformats.org/drawingml/2006/main">
              <a:ext uri="{FF2B5EF4-FFF2-40B4-BE49-F238E27FC236}">
                <a16:creationId xmlns:a16="http://schemas.microsoft.com/office/drawing/2014/main" id="{A28E053E-B447-43C1-A96B-E1F971ABA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895350"/>
            <a:ext cx="1085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93284"/>
          </a:bodyPr>
          <a:lstStyle xmlns:a="http://schemas.openxmlformats.org/drawingml/2006/main"/>
          <a:p xmlns:a="http://schemas.openxmlformats.org/drawingml/2006/main">
            <a:pPr algn="ctr">
              <a:defRPr sz="938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24Model prior DAG</a:t>
            </a:r>
          </a:p>
        </p:txBody>
      </p:sp>
      <p:sp>
        <p:nvSpPr>
          <p:cNvPr id="112" name="mini-smd">
            <a:extLst xmlns:a="http://schemas.openxmlformats.org/drawingml/2006/main">
              <a:ext uri="{FF2B5EF4-FFF2-40B4-BE49-F238E27FC236}">
                <a16:creationId xmlns:a16="http://schemas.microsoft.com/office/drawing/2014/main" id="{FAAA8DB3-DFC4-4911-98FA-2546E361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276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E2D4"/>
          </a:solidFill>
          <a:ln xmlns:a="http://schemas.openxmlformats.org/drawingml/2006/main" w="9525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90962"/>
          </a:bodyPr>
          <a:lstStyle xmlns:a="http://schemas.openxmlformats.org/drawingml/2006/main"/>
          <a:p xmlns:a="http://schemas.openxmlformats.org/drawingml/2006/main">
            <a:pPr algn="ctr">
              <a:defRPr sz="713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13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SMD</a:t>
            </a:r>
          </a:p>
        </p:txBody>
      </p:sp>
      <p:sp>
        <p:nvSpPr>
          <p:cNvPr id="113" name="mini-scap">
            <a:extLst xmlns:a="http://schemas.openxmlformats.org/drawingml/2006/main">
              <a:ext uri="{FF2B5EF4-FFF2-40B4-BE49-F238E27FC236}">
                <a16:creationId xmlns:a16="http://schemas.microsoft.com/office/drawing/2014/main" id="{D5AB8D21-6CC7-4720-9903-7C77BF26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12573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C9EF"/>
          </a:solidFill>
          <a:ln xmlns:a="http://schemas.openxmlformats.org/drawingml/2006/main" w="9525">
            <a:solidFill>
              <a:srgbClr val="7B6BA8"/>
            </a:solidFill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0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SCap</a:t>
            </a:r>
          </a:p>
        </p:txBody>
      </p:sp>
      <p:sp>
        <p:nvSpPr>
          <p:cNvPr id="114" name="mini-ua">
            <a:extLst xmlns:a="http://schemas.openxmlformats.org/drawingml/2006/main">
              <a:ext uri="{FF2B5EF4-FFF2-40B4-BE49-F238E27FC236}">
                <a16:creationId xmlns:a16="http://schemas.microsoft.com/office/drawing/2014/main" id="{27C2D75A-BD8B-4069-A7BA-F045A390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11620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5A7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UA</a:t>
            </a:r>
          </a:p>
        </p:txBody>
      </p:sp>
      <p:sp>
        <p:nvSpPr>
          <p:cNvPr id="115" name="mini-uos">
            <a:extLst xmlns:a="http://schemas.openxmlformats.org/drawingml/2006/main">
              <a:ext uri="{FF2B5EF4-FFF2-40B4-BE49-F238E27FC236}">
                <a16:creationId xmlns:a16="http://schemas.microsoft.com/office/drawing/2014/main" id="{3F7D5150-4430-4F52-B3DF-61307881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7300" y="1638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D5A7"/>
          </a:solidFill>
          <a:ln xmlns:a="http://schemas.openxmlformats.org/drawingml/2006/main" w="9525">
            <a:solidFill>
              <a:srgbClr val="E69F00"/>
            </a:solidFill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7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UOS</a:t>
            </a:r>
          </a:p>
        </p:txBody>
      </p:sp>
      <p:sp>
        <p:nvSpPr>
          <p:cNvPr id="116" name="mini-y">
            <a:extLst xmlns:a="http://schemas.openxmlformats.org/drawingml/2006/main">
              <a:ext uri="{FF2B5EF4-FFF2-40B4-BE49-F238E27FC236}">
                <a16:creationId xmlns:a16="http://schemas.microsoft.com/office/drawing/2014/main" id="{A0118D65-56AD-4AD7-90FF-96C7C518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1752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BBD7"/>
          </a:solidFill>
          <a:ln xmlns:a="http://schemas.openxmlformats.org/drawingml/2006/main" w="9525">
            <a:solidFill>
              <a:srgbClr val="CC79A7"/>
            </a:solidFill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sp>
        <p:nvSpPr>
          <p:cNvPr id="117" name="treatment-graph">
            <a:extLst xmlns:a="http://schemas.openxmlformats.org/drawingml/2006/main">
              <a:ext uri="{FF2B5EF4-FFF2-40B4-BE49-F238E27FC236}">
                <a16:creationId xmlns:a16="http://schemas.microsoft.com/office/drawing/2014/main" id="{770BC28E-D498-4908-A25C-542250849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1028700"/>
            <a:ext cx="1257300" cy="895350"/>
          </a:xfrm>
          <a:prstGeom xmlns:a="http://schemas.openxmlformats.org/drawingml/2006/main" prst="roundRect">
            <a:avLst>
              <a:gd name="adj" fmla="val 5319"/>
            </a:avLst>
          </a:prstGeom>
          <a:solidFill xmlns:a="http://schemas.openxmlformats.org/drawingml/2006/main">
            <a:srgbClr val="EDF8F4"/>
          </a:solidFill>
          <a:ln xmlns:a="http://schemas.openxmlformats.org/drawingml/2006/main" w="10478">
            <a:solidFill>
              <a:srgbClr val="009E73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Treatment-specific graph Gₜ</a:t>
            </a:r>
          </a:p>
          <a:p xmlns:a="http://schemas.openxmlformats.org/drawingml/2006/main">
            <a:pPr algn="ctr">
              <a:defRPr sz="975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T → Y; Zₜ → {T,Y}</a:t>
            </a:r>
          </a:p>
        </p:txBody>
      </p:sp>
      <p:sp>
        <p:nvSpPr>
          <p:cNvPr id="118" name="dowhy">
            <a:extLst xmlns:a="http://schemas.openxmlformats.org/drawingml/2006/main">
              <a:ext uri="{FF2B5EF4-FFF2-40B4-BE49-F238E27FC236}">
                <a16:creationId xmlns:a16="http://schemas.microsoft.com/office/drawing/2014/main" id="{3C59A75F-07FC-430C-B963-8F309863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86050"/>
            <a:ext cx="12573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3F0F8"/>
          </a:solidFill>
          <a:ln xmlns:a="http://schemas.openxmlformats.org/drawingml/2006/main" w="10478">
            <a:solidFill>
              <a:srgbClr val="7B6BA8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7B6BA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 i="0">
                <a:solidFill>
                  <a:srgbClr val="7B6BA8"/>
                </a:solidFill>
                <a:latin typeface="Times New Roman"/>
                <a:ea typeface="Times New Roman"/>
                <a:cs typeface="Times New Roman"/>
              </a:rPr>
              <a:t>DoWhy CausalModel</a:t>
            </a:r>
          </a:p>
        </p:txBody>
      </p:sp>
      <p:sp>
        <p:nvSpPr>
          <p:cNvPr id="119" name="backdoor-identify">
            <a:extLst xmlns:a="http://schemas.openxmlformats.org/drawingml/2006/main">
              <a:ext uri="{FF2B5EF4-FFF2-40B4-BE49-F238E27FC236}">
                <a16:creationId xmlns:a16="http://schemas.microsoft.com/office/drawing/2014/main" id="{FB2C972A-9570-4D36-9048-8D5BCC02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686050"/>
            <a:ext cx="9334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3F0F8"/>
          </a:solidFill>
          <a:ln xmlns:a="http://schemas.openxmlformats.org/drawingml/2006/main" w="10478">
            <a:solidFill>
              <a:srgbClr val="7B6BA8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7B6BA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7B6BA8"/>
                </a:solidFill>
                <a:latin typeface="Times New Roman"/>
                <a:ea typeface="Times New Roman"/>
                <a:cs typeface="Times New Roman"/>
              </a:rPr>
              <a:t>Backdoor</a:t>
            </a:r>
          </a:p>
          <a:p xmlns:a="http://schemas.openxmlformats.org/drawingml/2006/main">
            <a:pPr algn="ctr">
              <a:defRPr sz="975" b="1" i="0">
                <a:solidFill>
                  <a:srgbClr val="7B6BA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7B6BA8"/>
                </a:solidFill>
                <a:latin typeface="Times New Roman"/>
                <a:ea typeface="Times New Roman"/>
                <a:cs typeface="Times New Roman"/>
              </a:rPr>
              <a:t>identify</a:t>
            </a:r>
          </a:p>
        </p:txBody>
      </p:sp>
      <p:sp>
        <p:nvSpPr>
          <p:cNvPr id="120" name="ols-estimate">
            <a:extLst xmlns:a="http://schemas.openxmlformats.org/drawingml/2006/main">
              <a:ext uri="{FF2B5EF4-FFF2-40B4-BE49-F238E27FC236}">
                <a16:creationId xmlns:a16="http://schemas.microsoft.com/office/drawing/2014/main" id="{C60A40B6-FADF-441A-A147-F8DBF20C2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2686050"/>
            <a:ext cx="9334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3F0F8"/>
          </a:solidFill>
          <a:ln xmlns:a="http://schemas.openxmlformats.org/drawingml/2006/main" w="10478">
            <a:solidFill>
              <a:srgbClr val="7B6BA8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7B6BA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7B6BA8"/>
                </a:solidFill>
                <a:latin typeface="Times New Roman"/>
                <a:ea typeface="Times New Roman"/>
                <a:cs typeface="Times New Roman"/>
              </a:rPr>
              <a:t>OLS estimate</a:t>
            </a:r>
          </a:p>
          <a:p xmlns:a="http://schemas.openxmlformats.org/drawingml/2006/main">
            <a:pPr algn="ctr">
              <a:defRPr sz="975" b="1" i="0">
                <a:solidFill>
                  <a:srgbClr val="7B6BA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7B6BA8"/>
                </a:solidFill>
                <a:latin typeface="Times New Roman"/>
                <a:ea typeface="Times New Roman"/>
                <a:cs typeface="Times New Roman"/>
              </a:rPr>
              <a:t>τ̂ₜ</a:t>
            </a:r>
          </a:p>
        </p:txBody>
      </p:sp>
      <p:sp>
        <p:nvSpPr>
          <p:cNvPr id="121" name="bootstrap">
            <a:extLst xmlns:a="http://schemas.openxmlformats.org/drawingml/2006/main">
              <a:ext uri="{FF2B5EF4-FFF2-40B4-BE49-F238E27FC236}">
                <a16:creationId xmlns:a16="http://schemas.microsoft.com/office/drawing/2014/main" id="{13E1EE15-2533-4289-99A5-20E001F3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3409950"/>
            <a:ext cx="93345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3F0F8"/>
          </a:solidFill>
          <a:ln xmlns:a="http://schemas.openxmlformats.org/drawingml/2006/main" w="10478">
            <a:solidFill>
              <a:srgbClr val="7B6BA8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7B6BA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7B6BA8"/>
                </a:solidFill>
                <a:latin typeface="Times New Roman"/>
                <a:ea typeface="Times New Roman"/>
                <a:cs typeface="Times New Roman"/>
              </a:rPr>
              <a:t>Bootstrap</a:t>
            </a:r>
          </a:p>
          <a:p xmlns:a="http://schemas.openxmlformats.org/drawingml/2006/main">
            <a:pPr algn="ctr">
              <a:defRPr sz="975" b="1" i="0">
                <a:solidFill>
                  <a:srgbClr val="7B6BA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0">
                <a:solidFill>
                  <a:srgbClr val="7B6BA8"/>
                </a:solidFill>
                <a:latin typeface="Times New Roman"/>
                <a:ea typeface="Times New Roman"/>
                <a:cs typeface="Times New Roman"/>
              </a:rPr>
              <a:t>B = 500</a:t>
            </a:r>
          </a:p>
        </p:txBody>
      </p:sp>
      <p:sp>
        <p:nvSpPr>
          <p:cNvPr id="122" name="random-common-cause">
            <a:extLst xmlns:a="http://schemas.openxmlformats.org/drawingml/2006/main">
              <a:ext uri="{FF2B5EF4-FFF2-40B4-BE49-F238E27FC236}">
                <a16:creationId xmlns:a16="http://schemas.microsoft.com/office/drawing/2014/main" id="{DEE6406A-1916-4A2F-8297-2ECEE5EA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095750"/>
            <a:ext cx="14668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BF0F6"/>
          </a:solidFill>
          <a:ln xmlns:a="http://schemas.openxmlformats.org/drawingml/2006/main" w="8573">
            <a:solidFill>
              <a:srgbClr val="CC79A7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23" b="1" i="0">
                <a:solidFill>
                  <a:srgbClr val="CC79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3" b="1" i="0">
                <a:solidFill>
                  <a:srgbClr val="CC79A7"/>
                </a:solidFill>
                <a:latin typeface="Times New Roman"/>
                <a:ea typeface="Times New Roman"/>
                <a:cs typeface="Times New Roman"/>
              </a:rPr>
              <a:t>Random common cause</a:t>
            </a:r>
          </a:p>
        </p:txBody>
      </p:sp>
      <p:sp>
        <p:nvSpPr>
          <p:cNvPr id="123" name="placebo-treatment">
            <a:extLst xmlns:a="http://schemas.openxmlformats.org/drawingml/2006/main">
              <a:ext uri="{FF2B5EF4-FFF2-40B4-BE49-F238E27FC236}">
                <a16:creationId xmlns:a16="http://schemas.microsoft.com/office/drawing/2014/main" id="{54BA3E72-03FC-4C74-BC09-2175880A5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4095750"/>
            <a:ext cx="1466850" cy="40005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BF0F6"/>
          </a:solidFill>
          <a:ln xmlns:a="http://schemas.openxmlformats.org/drawingml/2006/main" w="8573">
            <a:solidFill>
              <a:srgbClr val="CC79A7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23" b="1" i="0">
                <a:solidFill>
                  <a:srgbClr val="CC79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23" b="1" i="0">
                <a:solidFill>
                  <a:srgbClr val="CC79A7"/>
                </a:solidFill>
                <a:latin typeface="Times New Roman"/>
                <a:ea typeface="Times New Roman"/>
                <a:cs typeface="Times New Roman"/>
              </a:rPr>
              <a:t>Placebo treatment</a:t>
            </a:r>
          </a:p>
        </p:txBody>
      </p:sp>
      <p:sp>
        <p:nvSpPr>
          <p:cNvPr id="124" name="effect-record-frame">
            <a:extLst xmlns:a="http://schemas.openxmlformats.org/drawingml/2006/main">
              <a:ext uri="{FF2B5EF4-FFF2-40B4-BE49-F238E27FC236}">
                <a16:creationId xmlns:a16="http://schemas.microsoft.com/office/drawing/2014/main" id="{62F28435-8463-4C60-9CBD-8225AEAD9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010150"/>
            <a:ext cx="2895600" cy="1009650"/>
          </a:xfrm>
          <a:prstGeom xmlns:a="http://schemas.openxmlformats.org/drawingml/2006/main" prst="roundRect">
            <a:avLst>
              <a:gd name="adj" fmla="val 471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10478">
            <a:solidFill>
              <a:srgbClr val="222222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5" name="effect-record-title">
            <a:extLst xmlns:a="http://schemas.openxmlformats.org/drawingml/2006/main">
              <a:ext uri="{FF2B5EF4-FFF2-40B4-BE49-F238E27FC236}">
                <a16:creationId xmlns:a16="http://schemas.microsoft.com/office/drawing/2014/main" id="{A438517B-282A-485A-BD98-9950DC728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5086350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63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63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Effect records</a:t>
            </a:r>
          </a:p>
        </p:txBody>
      </p:sp>
      <p:sp>
        <p:nvSpPr>
          <p:cNvPr id="126" name="effect-ate">
            <a:extLst xmlns:a="http://schemas.openxmlformats.org/drawingml/2006/main">
              <a:ext uri="{FF2B5EF4-FFF2-40B4-BE49-F238E27FC236}">
                <a16:creationId xmlns:a16="http://schemas.microsoft.com/office/drawing/2014/main" id="{D8DF9B1B-D325-4085-A78A-9AA26CA5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448300"/>
            <a:ext cx="4191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0F8"/>
          </a:solidFill>
          <a:ln xmlns:a="http://schemas.openxmlformats.org/drawingml/2006/main" w="6668">
            <a:solidFill>
              <a:srgbClr val="7B6BA8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63" b="1" i="0">
                <a:solidFill>
                  <a:srgbClr val="7B6BA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1" i="0">
                <a:solidFill>
                  <a:srgbClr val="7B6BA8"/>
                </a:solidFill>
                <a:latin typeface="Times New Roman"/>
                <a:ea typeface="Times New Roman"/>
                <a:cs typeface="Times New Roman"/>
              </a:rPr>
              <a:t>ATE</a:t>
            </a:r>
          </a:p>
        </p:txBody>
      </p:sp>
      <p:sp>
        <p:nvSpPr>
          <p:cNvPr id="127" name="effect-ci">
            <a:extLst xmlns:a="http://schemas.openxmlformats.org/drawingml/2006/main">
              <a:ext uri="{FF2B5EF4-FFF2-40B4-BE49-F238E27FC236}">
                <a16:creationId xmlns:a16="http://schemas.microsoft.com/office/drawing/2014/main" id="{BE16EFB9-1DE7-45C2-89E0-9653F5DB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5448300"/>
            <a:ext cx="5143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3F0F8"/>
          </a:solidFill>
          <a:ln xmlns:a="http://schemas.openxmlformats.org/drawingml/2006/main" w="6668">
            <a:solidFill>
              <a:srgbClr val="7B6BA8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40" b="1" i="0">
                <a:solidFill>
                  <a:srgbClr val="7B6BA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40" b="1" i="0">
                <a:solidFill>
                  <a:srgbClr val="7B6BA8"/>
                </a:solidFill>
                <a:latin typeface="Times New Roman"/>
                <a:ea typeface="Times New Roman"/>
                <a:cs typeface="Times New Roman"/>
              </a:rPr>
              <a:t>95% CI</a:t>
            </a:r>
          </a:p>
        </p:txBody>
      </p:sp>
      <p:sp>
        <p:nvSpPr>
          <p:cNvPr id="128" name="effect-rd">
            <a:extLst xmlns:a="http://schemas.openxmlformats.org/drawingml/2006/main">
              <a:ext uri="{FF2B5EF4-FFF2-40B4-BE49-F238E27FC236}">
                <a16:creationId xmlns:a16="http://schemas.microsoft.com/office/drawing/2014/main" id="{54D9B1F8-6A18-4026-962F-866AC723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5448300"/>
            <a:ext cx="7429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B8BEC5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3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35" b="1" i="0">
                <a:solidFill>
                  <a:srgbClr val="222222"/>
                </a:solidFill>
                <a:latin typeface="Times New Roman"/>
                <a:ea typeface="Times New Roman"/>
                <a:cs typeface="Times New Roman"/>
              </a:rPr>
              <a:t>Unadjusted RD</a:t>
            </a:r>
          </a:p>
        </p:txBody>
      </p:sp>
      <p:sp>
        <p:nvSpPr>
          <p:cNvPr id="129" name="effect-review">
            <a:extLst xmlns:a="http://schemas.openxmlformats.org/drawingml/2006/main">
              <a:ext uri="{FF2B5EF4-FFF2-40B4-BE49-F238E27FC236}">
                <a16:creationId xmlns:a16="http://schemas.microsoft.com/office/drawing/2014/main" id="{A2ABFE09-21BD-4DC2-B61F-9BE7C870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5448300"/>
            <a:ext cx="78105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BF0F6"/>
          </a:solidFill>
          <a:ln xmlns:a="http://schemas.openxmlformats.org/drawingml/2006/main" w="6668">
            <a:solidFill>
              <a:srgbClr val="CC79A7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CC79A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8" b="1" i="0">
                <a:solidFill>
                  <a:srgbClr val="CC79A7"/>
                </a:solidFill>
                <a:latin typeface="Times New Roman"/>
                <a:ea typeface="Times New Roman"/>
                <a:cs typeface="Times New Roman"/>
              </a:rPr>
              <a:t>needs_review</a:t>
            </a:r>
          </a:p>
        </p:txBody>
      </p:sp>
      <p:sp>
        <p:nvSpPr>
          <p:cNvPr id="130" name="causal-scope">
            <a:extLst xmlns:a="http://schemas.openxmlformats.org/drawingml/2006/main">
              <a:ext uri="{FF2B5EF4-FFF2-40B4-BE49-F238E27FC236}">
                <a16:creationId xmlns:a16="http://schemas.microsoft.com/office/drawing/2014/main" id="{4EAE44EA-207E-4FA1-8816-6CD6620F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29350"/>
            <a:ext cx="2457450" cy="36195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3">
            <a:solidFill>
              <a:srgbClr val="7B6BA8"/>
            </a:solidFill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 i="1">
                <a:solidFill>
                  <a:srgbClr val="7B6BA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 i="1">
                <a:solidFill>
                  <a:srgbClr val="7B6BA8"/>
                </a:solidFill>
                <a:latin typeface="Times New Roman"/>
                <a:ea typeface="Times New Roman"/>
                <a:cs typeface="Times New Roman"/>
              </a:rPr>
              <a:t>Severity among recorded accidents</a:t>
            </a:r>
          </a:p>
        </p:txBody>
      </p:sp>
      <p:cxnSp>
        <p:nvCxnSpPr>
          <p:cNvPr id="332" name="source-to-retrieval-1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181100" y="1019175"/>
            <a:ext cx="304800" cy="6953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2859">
            <a:solidFill>
              <a:srgbClr val="0072B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33" name="source-to-retrieval-2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1181100" y="1704975"/>
            <a:ext cx="304800" cy="9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2859">
            <a:solidFill>
              <a:srgbClr val="0072B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34" name="source-to-retrieval-3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1181100" y="1714500"/>
            <a:ext cx="304800" cy="6762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2859">
            <a:solidFill>
              <a:srgbClr val="0072B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35" name="retrieval-to-segmentation"/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1457325" y="2076450"/>
            <a:ext cx="609600" cy="1028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2859">
            <a:solidFill>
              <a:srgbClr val="0072B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36" name="segmentation-to-cleaning"/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1457325" y="350520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0072B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37" name="cleaning-to-anonymization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1457325" y="4114800"/>
            <a:ext cx="0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0072B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38" name="anonymization-to-cases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457325" y="4724400"/>
            <a:ext cx="0" cy="49530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0072B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39" name="24model-to-topdown"/>
          <p:cNvCxnSpPr>
            <a:stCxn xmlns:a="http://schemas.openxmlformats.org/drawingml/2006/main" id="25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3733800" y="1257300"/>
            <a:ext cx="676275" cy="266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2859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40" name="hec-concepts-to-topdown"/>
          <p:cNvCxnSpPr>
            <a:stCxn xmlns:a="http://schemas.openxmlformats.org/drawingml/2006/main" id="2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 flipH="1">
            <a:off x="4410075" y="1257300"/>
            <a:ext cx="638175" cy="266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2859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41" name="topdown-to-ontology"/>
          <p:cNvCxnSpPr>
            <a:stCxn xmlns:a="http://schemas.openxmlformats.org/drawingml/2006/main" id="27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 flipH="1">
            <a:off x="4391025" y="2057400"/>
            <a:ext cx="1905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42" name="ont-culture-management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4114800" y="309562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43" name="ont-management-capability"/>
          <p:cNvCxnSpPr>
            <a:stCxn xmlns:a="http://schemas.openxmlformats.org/drawingml/2006/main" id="31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 flipH="1">
            <a:off x="3829050" y="3257550"/>
            <a:ext cx="914400" cy="152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2859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44" name="ont-capability-unsafe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4267200" y="357187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45" name="ont-unsafe-process"/>
          <p:cNvCxnSpPr>
            <a:stCxn xmlns:a="http://schemas.openxmlformats.org/drawingml/2006/main" id="33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 flipH="1">
            <a:off x="3705225" y="3733800"/>
            <a:ext cx="1114425" cy="628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2859">
            <a:solidFill>
              <a:srgbClr val="D55E0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46" name="ont-state-process"/>
          <p:cNvCxnSpPr>
            <a:stCxn xmlns:a="http://schemas.openxmlformats.org/drawingml/2006/main" id="34" idx="2"/>
            <a:endCxn xmlns:a="http://schemas.openxmlformats.org/drawingml/2006/main" id="36" idx="0"/>
          </p:cNvCxnSpPr>
          <p:nvPr/>
        </p:nvCxnSpPr>
        <p:spPr>
          <a:xfrm xmlns:a="http://schemas.openxmlformats.org/drawingml/2006/main" flipH="1">
            <a:off x="3705225" y="4210050"/>
            <a:ext cx="219075" cy="152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2859">
            <a:solidFill>
              <a:srgbClr val="D55E0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47" name="ont-process-consequence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4019550" y="45243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22222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48" name="ontology-to-output-1"/>
          <p:cNvCxnSpPr>
            <a:stCxn xmlns:a="http://schemas.openxmlformats.org/drawingml/2006/main" id="28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 flipH="1">
            <a:off x="3571875" y="5048250"/>
            <a:ext cx="81915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49" name="ontology-to-output-2"/>
          <p:cNvCxnSpPr>
            <a:stCxn xmlns:a="http://schemas.openxmlformats.org/drawingml/2006/main" id="28" idx="2"/>
            <a:endCxn xmlns:a="http://schemas.openxmlformats.org/drawingml/2006/main" id="40" idx="0"/>
          </p:cNvCxnSpPr>
          <p:nvPr/>
        </p:nvCxnSpPr>
        <p:spPr>
          <a:xfrm xmlns:a="http://schemas.openxmlformats.org/drawingml/2006/main">
            <a:off x="4391025" y="5048250"/>
            <a:ext cx="47625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50" name="ontology-to-output-3"/>
          <p:cNvCxnSpPr>
            <a:stCxn xmlns:a="http://schemas.openxmlformats.org/drawingml/2006/main" id="28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4391025" y="5048250"/>
            <a:ext cx="87630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51" name="cases-to-entity-identification"/>
          <p:cNvCxnSpPr>
            <a:stCxn xmlns:a="http://schemas.openxmlformats.org/drawingml/2006/main" id="23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 flipV="1">
            <a:off x="2419350" y="2105025"/>
            <a:ext cx="3619500" cy="3390900"/>
          </a:xfrm>
          <a:prstGeom xmlns:a="http://schemas.openxmlformats.org/drawingml/2006/main" prst="bentConnector5">
            <a:avLst>
              <a:gd name="adj1" fmla="val 18421"/>
              <a:gd name="adj2" fmla="val 98034"/>
              <a:gd name="adj3" fmla="val 93684"/>
            </a:avLst>
          </a:prstGeom>
          <a:ln xmlns:a="http://schemas.openxmlformats.org/drawingml/2006/main" w="17145">
            <a:solidFill>
              <a:srgbClr val="22222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52" name="evidence-to-discovery"/>
          <p:cNvCxnSpPr>
            <a:stCxn xmlns:a="http://schemas.openxmlformats.org/drawingml/2006/main" id="45" idx="2"/>
            <a:endCxn xmlns:a="http://schemas.openxmlformats.org/drawingml/2006/main" id="46" idx="0"/>
          </p:cNvCxnSpPr>
          <p:nvPr/>
        </p:nvCxnSpPr>
        <p:spPr>
          <a:xfrm xmlns:a="http://schemas.openxmlformats.org/drawingml/2006/main">
            <a:off x="6657975" y="1981200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D55E0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53" name="discovery-to-glean"/>
          <p:cNvCxnSpPr>
            <a:stCxn xmlns:a="http://schemas.openxmlformats.org/drawingml/2006/main" id="46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>
            <a:off x="6657975" y="266700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D55E00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354" name="entity-to-relation"/>
          <p:cNvCxnSpPr>
            <a:stCxn xmlns:a="http://schemas.openxmlformats.org/drawingml/2006/main" id="43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7277100" y="210502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55E0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55" name="question-to-yesno"/>
          <p:cNvCxnSpPr>
            <a:stCxn xmlns:a="http://schemas.openxmlformats.org/drawingml/2006/main" id="50" idx="2"/>
            <a:endCxn xmlns:a="http://schemas.openxmlformats.org/drawingml/2006/main" id="51" idx="0"/>
          </p:cNvCxnSpPr>
          <p:nvPr/>
        </p:nvCxnSpPr>
        <p:spPr>
          <a:xfrm xmlns:a="http://schemas.openxmlformats.org/drawingml/2006/main">
            <a:off x="8143875" y="180975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D55E0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56" name="yesno-to-votes"/>
          <p:cNvCxnSpPr>
            <a:stCxn xmlns:a="http://schemas.openxmlformats.org/drawingml/2006/main" id="51" idx="2"/>
            <a:endCxn xmlns:a="http://schemas.openxmlformats.org/drawingml/2006/main" id="52" idx="0"/>
          </p:cNvCxnSpPr>
          <p:nvPr/>
        </p:nvCxnSpPr>
        <p:spPr>
          <a:xfrm xmlns:a="http://schemas.openxmlformats.org/drawingml/2006/main">
            <a:off x="8143875" y="247650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D55E0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57" name="relation-to-fusion"/>
          <p:cNvCxnSpPr>
            <a:stCxn xmlns:a="http://schemas.openxmlformats.org/drawingml/2006/main" id="48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>
            <a:off x="8820150" y="210502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D55E00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58" name="validate-to-repair"/>
          <p:cNvCxnSpPr>
            <a:stCxn xmlns:a="http://schemas.openxmlformats.org/drawingml/2006/main" id="55" idx="2"/>
            <a:endCxn xmlns:a="http://schemas.openxmlformats.org/drawingml/2006/main" id="56" idx="0"/>
          </p:cNvCxnSpPr>
          <p:nvPr/>
        </p:nvCxnSpPr>
        <p:spPr>
          <a:xfrm xmlns:a="http://schemas.openxmlformats.org/drawingml/2006/main">
            <a:off x="9639300" y="180975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CC79A7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359" name="repair-back-to-validation"/>
          <p:cNvCxnSpPr>
            <a:stCxn xmlns:a="http://schemas.openxmlformats.org/drawingml/2006/main" id="56" idx="3"/>
            <a:endCxn xmlns:a="http://schemas.openxmlformats.org/drawingml/2006/main" id="55" idx="3"/>
          </p:cNvCxnSpPr>
          <p:nvPr/>
        </p:nvCxnSpPr>
        <p:spPr>
          <a:xfrm xmlns:a="http://schemas.openxmlformats.org/drawingml/2006/main" flipV="1">
            <a:off x="10115550" y="1638300"/>
            <a:ext cx="0" cy="504825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CC79A7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360" name="repair-to-alignment"/>
          <p:cNvCxnSpPr>
            <a:stCxn xmlns:a="http://schemas.openxmlformats.org/drawingml/2006/main" id="56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9639300" y="2305050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CC79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61" name="alignment-to-merge"/>
          <p:cNvCxnSpPr>
            <a:stCxn xmlns:a="http://schemas.openxmlformats.org/drawingml/2006/main" id="57" idx="2"/>
            <a:endCxn xmlns:a="http://schemas.openxmlformats.org/drawingml/2006/main" id="58" idx="0"/>
          </p:cNvCxnSpPr>
          <p:nvPr/>
        </p:nvCxnSpPr>
        <p:spPr>
          <a:xfrm xmlns:a="http://schemas.openxmlformats.org/drawingml/2006/main">
            <a:off x="9639300" y="2933700"/>
            <a:ext cx="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CC79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62" name="fusion-to-kg"/>
          <p:cNvCxnSpPr>
            <a:stCxn xmlns:a="http://schemas.openxmlformats.org/drawingml/2006/main" id="53" idx="2"/>
            <a:endCxn xmlns:a="http://schemas.openxmlformats.org/drawingml/2006/main" id="59" idx="0"/>
          </p:cNvCxnSpPr>
          <p:nvPr/>
        </p:nvCxnSpPr>
        <p:spPr>
          <a:xfrm xmlns:a="http://schemas.openxmlformats.org/drawingml/2006/main" flipH="1">
            <a:off x="8162925" y="3295650"/>
            <a:ext cx="1476375" cy="647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22222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63" name="canonical-kg-edge-1"/>
          <p:cNvCxnSpPr>
            <a:stCxn xmlns:a="http://schemas.openxmlformats.org/drawingml/2006/main" id="61" idx="6"/>
            <a:endCxn xmlns:a="http://schemas.openxmlformats.org/drawingml/2006/main" id="62" idx="2"/>
          </p:cNvCxnSpPr>
          <p:nvPr/>
        </p:nvCxnSpPr>
        <p:spPr>
          <a:xfrm xmlns:a="http://schemas.openxmlformats.org/drawingml/2006/main" flipV="1">
            <a:off x="7505700" y="4476750"/>
            <a:ext cx="34290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64" name="canonical-kg-edge-2"/>
          <p:cNvCxnSpPr>
            <a:stCxn xmlns:a="http://schemas.openxmlformats.org/drawingml/2006/main" id="62" idx="6"/>
            <a:endCxn xmlns:a="http://schemas.openxmlformats.org/drawingml/2006/main" id="63" idx="2"/>
          </p:cNvCxnSpPr>
          <p:nvPr/>
        </p:nvCxnSpPr>
        <p:spPr>
          <a:xfrm xmlns:a="http://schemas.openxmlformats.org/drawingml/2006/main">
            <a:off x="8077200" y="4476750"/>
            <a:ext cx="40005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2222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65" name="canonical-kg-edge-3"/>
          <p:cNvCxnSpPr>
            <a:stCxn xmlns:a="http://schemas.openxmlformats.org/drawingml/2006/main" id="61" idx="6"/>
            <a:endCxn xmlns:a="http://schemas.openxmlformats.org/drawingml/2006/main" id="65" idx="2"/>
          </p:cNvCxnSpPr>
          <p:nvPr/>
        </p:nvCxnSpPr>
        <p:spPr>
          <a:xfrm xmlns:a="http://schemas.openxmlformats.org/drawingml/2006/main" flipH="1">
            <a:off x="7486650" y="4629150"/>
            <a:ext cx="19050" cy="5715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2222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66" name="canonical-kg-edge-4"/>
          <p:cNvCxnSpPr>
            <a:stCxn xmlns:a="http://schemas.openxmlformats.org/drawingml/2006/main" id="65" idx="6"/>
            <a:endCxn xmlns:a="http://schemas.openxmlformats.org/drawingml/2006/main" id="66" idx="2"/>
          </p:cNvCxnSpPr>
          <p:nvPr/>
        </p:nvCxnSpPr>
        <p:spPr>
          <a:xfrm xmlns:a="http://schemas.openxmlformats.org/drawingml/2006/main">
            <a:off x="7715250" y="5200650"/>
            <a:ext cx="438150" cy="571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67" name="canonical-kg-edge-5"/>
          <p:cNvCxnSpPr>
            <a:stCxn xmlns:a="http://schemas.openxmlformats.org/drawingml/2006/main" id="66" idx="6"/>
            <a:endCxn xmlns:a="http://schemas.openxmlformats.org/drawingml/2006/main" id="63" idx="2"/>
          </p:cNvCxnSpPr>
          <p:nvPr/>
        </p:nvCxnSpPr>
        <p:spPr>
          <a:xfrm xmlns:a="http://schemas.openxmlformats.org/drawingml/2006/main" flipV="1">
            <a:off x="8382000" y="4610100"/>
            <a:ext cx="9525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2222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68" name="canonical-kg-edge-6"/>
          <p:cNvCxnSpPr>
            <a:stCxn xmlns:a="http://schemas.openxmlformats.org/drawingml/2006/main" id="63" idx="6"/>
            <a:endCxn xmlns:a="http://schemas.openxmlformats.org/drawingml/2006/main" id="64" idx="2"/>
          </p:cNvCxnSpPr>
          <p:nvPr/>
        </p:nvCxnSpPr>
        <p:spPr>
          <a:xfrm xmlns:a="http://schemas.openxmlformats.org/drawingml/2006/main">
            <a:off x="8705850" y="4610100"/>
            <a:ext cx="19050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22222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69" name="canonical-kg-edge-7"/>
          <p:cNvCxnSpPr>
            <a:stCxn xmlns:a="http://schemas.openxmlformats.org/drawingml/2006/main" id="66" idx="6"/>
            <a:endCxn xmlns:a="http://schemas.openxmlformats.org/drawingml/2006/main" id="64" idx="2"/>
          </p:cNvCxnSpPr>
          <p:nvPr/>
        </p:nvCxnSpPr>
        <p:spPr>
          <a:xfrm xmlns:a="http://schemas.openxmlformats.org/drawingml/2006/main" flipV="1">
            <a:off x="8382000" y="5010150"/>
            <a:ext cx="51435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70" name="kg-to-neo4j"/>
          <p:cNvCxnSpPr>
            <a:stCxn xmlns:a="http://schemas.openxmlformats.org/drawingml/2006/main" id="59" idx="3"/>
            <a:endCxn xmlns:a="http://schemas.openxmlformats.org/drawingml/2006/main" id="70" idx="1"/>
          </p:cNvCxnSpPr>
          <p:nvPr/>
        </p:nvCxnSpPr>
        <p:spPr>
          <a:xfrm xmlns:a="http://schemas.openxmlformats.org/drawingml/2006/main" flipV="1">
            <a:off x="9353550" y="4543425"/>
            <a:ext cx="171450" cy="24765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22222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71" name="kg-to-causal-matrix"/>
          <p:cNvCxnSpPr>
            <a:stCxn xmlns:a="http://schemas.openxmlformats.org/drawingml/2006/main" id="59" idx="3"/>
            <a:endCxn xmlns:a="http://schemas.openxmlformats.org/drawingml/2006/main" id="71" idx="1"/>
          </p:cNvCxnSpPr>
          <p:nvPr/>
        </p:nvCxnSpPr>
        <p:spPr>
          <a:xfrm xmlns:a="http://schemas.openxmlformats.org/drawingml/2006/main" flipV="1">
            <a:off x="9353550" y="1514475"/>
            <a:ext cx="1295400" cy="3276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7145">
            <a:solidFill>
              <a:srgbClr val="22222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72" name="matrix-to-treatment-graph"/>
          <p:cNvCxnSpPr>
            <a:stCxn xmlns:a="http://schemas.openxmlformats.org/drawingml/2006/main" id="71" idx="3"/>
            <a:endCxn xmlns:a="http://schemas.openxmlformats.org/drawingml/2006/main" id="117" idx="1"/>
          </p:cNvCxnSpPr>
          <p:nvPr/>
        </p:nvCxnSpPr>
        <p:spPr>
          <a:xfrm xmlns:a="http://schemas.openxmlformats.org/drawingml/2006/main" flipV="1">
            <a:off x="11563350" y="1476375"/>
            <a:ext cx="1619250" cy="38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4288">
            <a:solidFill>
              <a:srgbClr val="0072B2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73" name="prior-dag-to-treatment-graph"/>
          <p:cNvCxnSpPr>
            <a:stCxn xmlns:a="http://schemas.openxmlformats.org/drawingml/2006/main" id="110" idx="3"/>
            <a:endCxn xmlns:a="http://schemas.openxmlformats.org/drawingml/2006/main" id="117" idx="1"/>
          </p:cNvCxnSpPr>
          <p:nvPr/>
        </p:nvCxnSpPr>
        <p:spPr>
          <a:xfrm xmlns:a="http://schemas.openxmlformats.org/drawingml/2006/main" flipV="1">
            <a:off x="12992100" y="1476375"/>
            <a:ext cx="190500" cy="3810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74" name="mini-smd-scap"/>
          <p:cNvCxnSpPr>
            <a:stCxn xmlns:a="http://schemas.openxmlformats.org/drawingml/2006/main" id="112" idx="6"/>
            <a:endCxn xmlns:a="http://schemas.openxmlformats.org/drawingml/2006/main" id="113" idx="2"/>
          </p:cNvCxnSpPr>
          <p:nvPr/>
        </p:nvCxnSpPr>
        <p:spPr>
          <a:xfrm xmlns:a="http://schemas.openxmlformats.org/drawingml/2006/main">
            <a:off x="12172950" y="1419225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75" name="mini-scap-ua"/>
          <p:cNvCxnSpPr>
            <a:stCxn xmlns:a="http://schemas.openxmlformats.org/drawingml/2006/main" id="113" idx="6"/>
            <a:endCxn xmlns:a="http://schemas.openxmlformats.org/drawingml/2006/main" id="114" idx="2"/>
          </p:cNvCxnSpPr>
          <p:nvPr/>
        </p:nvCxnSpPr>
        <p:spPr>
          <a:xfrm xmlns:a="http://schemas.openxmlformats.org/drawingml/2006/main" flipV="1">
            <a:off x="12592050" y="1304925"/>
            <a:ext cx="9525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76" name="mini-smd-uos"/>
          <p:cNvCxnSpPr>
            <a:stCxn xmlns:a="http://schemas.openxmlformats.org/drawingml/2006/main" id="112" idx="4"/>
            <a:endCxn xmlns:a="http://schemas.openxmlformats.org/drawingml/2006/main" id="115" idx="2"/>
          </p:cNvCxnSpPr>
          <p:nvPr/>
        </p:nvCxnSpPr>
        <p:spPr>
          <a:xfrm xmlns:a="http://schemas.openxmlformats.org/drawingml/2006/main">
            <a:off x="12030075" y="1562100"/>
            <a:ext cx="657225" cy="219075"/>
          </a:xfrm>
          <a:prstGeom xmlns:a="http://schemas.openxmlformats.org/drawingml/2006/main" prst="bentConnector3">
            <a:avLst>
              <a:gd name="adj1" fmla="val 0"/>
            </a:avLst>
          </a:prstGeom>
          <a:ln xmlns:a="http://schemas.openxmlformats.org/drawingml/2006/main" w="12859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77" name="mini-ua-y"/>
          <p:cNvCxnSpPr>
            <a:stCxn xmlns:a="http://schemas.openxmlformats.org/drawingml/2006/main" id="114" idx="4"/>
            <a:endCxn xmlns:a="http://schemas.openxmlformats.org/drawingml/2006/main" id="116" idx="0"/>
          </p:cNvCxnSpPr>
          <p:nvPr/>
        </p:nvCxnSpPr>
        <p:spPr>
          <a:xfrm xmlns:a="http://schemas.openxmlformats.org/drawingml/2006/main" flipH="1">
            <a:off x="12430125" y="1447800"/>
            <a:ext cx="400050" cy="3048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2859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78" name="mini-uos-y"/>
          <p:cNvCxnSpPr>
            <a:stCxn xmlns:a="http://schemas.openxmlformats.org/drawingml/2006/main" id="115" idx="2"/>
            <a:endCxn xmlns:a="http://schemas.openxmlformats.org/drawingml/2006/main" id="116" idx="6"/>
          </p:cNvCxnSpPr>
          <p:nvPr/>
        </p:nvCxnSpPr>
        <p:spPr>
          <a:xfrm xmlns:a="http://schemas.openxmlformats.org/drawingml/2006/main" flipH="1">
            <a:off x="12592050" y="1781175"/>
            <a:ext cx="95250" cy="133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2859">
            <a:solidFill>
              <a:srgbClr val="009E7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79" name="treatment-graph-to-dowhy"/>
          <p:cNvCxnSpPr>
            <a:stCxn xmlns:a="http://schemas.openxmlformats.org/drawingml/2006/main" id="117" idx="2"/>
            <a:endCxn xmlns:a="http://schemas.openxmlformats.org/drawingml/2006/main" id="118" idx="0"/>
          </p:cNvCxnSpPr>
          <p:nvPr/>
        </p:nvCxnSpPr>
        <p:spPr>
          <a:xfrm xmlns:a="http://schemas.openxmlformats.org/drawingml/2006/main" flipH="1">
            <a:off x="11410950" y="1924050"/>
            <a:ext cx="2400300" cy="762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7B6B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80" name="dowhy-to-identify"/>
          <p:cNvCxnSpPr>
            <a:stCxn xmlns:a="http://schemas.openxmlformats.org/drawingml/2006/main" id="118" idx="3"/>
            <a:endCxn xmlns:a="http://schemas.openxmlformats.org/drawingml/2006/main" id="119" idx="1"/>
          </p:cNvCxnSpPr>
          <p:nvPr/>
        </p:nvCxnSpPr>
        <p:spPr>
          <a:xfrm xmlns:a="http://schemas.openxmlformats.org/drawingml/2006/main">
            <a:off x="12039600" y="29146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B6B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81" name="identify-to-ols"/>
          <p:cNvCxnSpPr>
            <a:stCxn xmlns:a="http://schemas.openxmlformats.org/drawingml/2006/main" id="119" idx="3"/>
            <a:endCxn xmlns:a="http://schemas.openxmlformats.org/drawingml/2006/main" id="120" idx="1"/>
          </p:cNvCxnSpPr>
          <p:nvPr/>
        </p:nvCxnSpPr>
        <p:spPr>
          <a:xfrm xmlns:a="http://schemas.openxmlformats.org/drawingml/2006/main">
            <a:off x="13125450" y="29146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7B6B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82" name="ols-to-bootstrap"/>
          <p:cNvCxnSpPr>
            <a:stCxn xmlns:a="http://schemas.openxmlformats.org/drawingml/2006/main" id="120" idx="2"/>
            <a:endCxn xmlns:a="http://schemas.openxmlformats.org/drawingml/2006/main" id="121" idx="0"/>
          </p:cNvCxnSpPr>
          <p:nvPr/>
        </p:nvCxnSpPr>
        <p:spPr>
          <a:xfrm xmlns:a="http://schemas.openxmlformats.org/drawingml/2006/main">
            <a:off x="13744575" y="314325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7B6B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83" name="ols-to-random"/>
          <p:cNvCxnSpPr>
            <a:stCxn xmlns:a="http://schemas.openxmlformats.org/drawingml/2006/main" id="120" idx="2"/>
            <a:endCxn xmlns:a="http://schemas.openxmlformats.org/drawingml/2006/main" id="122" idx="0"/>
          </p:cNvCxnSpPr>
          <p:nvPr/>
        </p:nvCxnSpPr>
        <p:spPr>
          <a:xfrm xmlns:a="http://schemas.openxmlformats.org/drawingml/2006/main" flipH="1">
            <a:off x="11515725" y="3143250"/>
            <a:ext cx="2228850" cy="952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2859">
            <a:solidFill>
              <a:srgbClr val="CC79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84" name="bootstrap-to-placebo"/>
          <p:cNvCxnSpPr>
            <a:stCxn xmlns:a="http://schemas.openxmlformats.org/drawingml/2006/main" id="121" idx="2"/>
            <a:endCxn xmlns:a="http://schemas.openxmlformats.org/drawingml/2006/main" id="123" idx="0"/>
          </p:cNvCxnSpPr>
          <p:nvPr/>
        </p:nvCxnSpPr>
        <p:spPr>
          <a:xfrm xmlns:a="http://schemas.openxmlformats.org/drawingml/2006/main" flipH="1">
            <a:off x="13211175" y="3867150"/>
            <a:ext cx="533400" cy="2286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2859">
            <a:solidFill>
              <a:srgbClr val="CC79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85" name="random-to-effect"/>
          <p:cNvCxnSpPr>
            <a:stCxn xmlns:a="http://schemas.openxmlformats.org/drawingml/2006/main" id="122" idx="2"/>
            <a:endCxn xmlns:a="http://schemas.openxmlformats.org/drawingml/2006/main" id="124" idx="0"/>
          </p:cNvCxnSpPr>
          <p:nvPr/>
        </p:nvCxnSpPr>
        <p:spPr>
          <a:xfrm xmlns:a="http://schemas.openxmlformats.org/drawingml/2006/main">
            <a:off x="11515725" y="4495800"/>
            <a:ext cx="981075" cy="514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2859">
            <a:solidFill>
              <a:srgbClr val="CC79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86" name="placebo-to-effect"/>
          <p:cNvCxnSpPr>
            <a:stCxn xmlns:a="http://schemas.openxmlformats.org/drawingml/2006/main" id="123" idx="2"/>
            <a:endCxn xmlns:a="http://schemas.openxmlformats.org/drawingml/2006/main" id="124" idx="0"/>
          </p:cNvCxnSpPr>
          <p:nvPr/>
        </p:nvCxnSpPr>
        <p:spPr>
          <a:xfrm xmlns:a="http://schemas.openxmlformats.org/drawingml/2006/main" flipH="1">
            <a:off x="12496800" y="4495800"/>
            <a:ext cx="714375" cy="5143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2859">
            <a:solidFill>
              <a:srgbClr val="CC79A7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387" name="effect-to-scope"/>
          <p:cNvCxnSpPr>
            <a:stCxn xmlns:a="http://schemas.openxmlformats.org/drawingml/2006/main" id="124" idx="2"/>
            <a:endCxn xmlns:a="http://schemas.openxmlformats.org/drawingml/2006/main" id="130" idx="0"/>
          </p:cNvCxnSpPr>
          <p:nvPr/>
        </p:nvCxnSpPr>
        <p:spPr>
          <a:xfrm xmlns:a="http://schemas.openxmlformats.org/drawingml/2006/main">
            <a:off x="12496800" y="6019800"/>
            <a:ext cx="9525" cy="20955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7B6BA8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87" name="ontology-bus-start">
            <a:extLst xmlns:a="http://schemas.openxmlformats.org/drawingml/2006/main">
              <a:ext uri="{FF2B5EF4-FFF2-40B4-BE49-F238E27FC236}">
                <a16:creationId xmlns:a16="http://schemas.microsoft.com/office/drawing/2014/main" id="{AC39C69F-7F28-425A-AEE6-3F7F516AB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6667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8" name="ontology-bus-entity">
            <a:extLst xmlns:a="http://schemas.openxmlformats.org/drawingml/2006/main">
              <a:ext uri="{FF2B5EF4-FFF2-40B4-BE49-F238E27FC236}">
                <a16:creationId xmlns:a16="http://schemas.microsoft.com/office/drawing/2014/main" id="{523F4C6E-A011-4B93-BF89-0DD35C79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667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9" name="ontology-bus-relation">
            <a:extLst xmlns:a="http://schemas.openxmlformats.org/drawingml/2006/main">
              <a:ext uri="{FF2B5EF4-FFF2-40B4-BE49-F238E27FC236}">
                <a16:creationId xmlns:a16="http://schemas.microsoft.com/office/drawing/2014/main" id="{3FF6D0CE-B69E-4C8B-9A08-83FA9517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667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0" name="ontology-bus-fusion">
            <a:extLst xmlns:a="http://schemas.openxmlformats.org/drawingml/2006/main">
              <a:ext uri="{FF2B5EF4-FFF2-40B4-BE49-F238E27FC236}">
                <a16:creationId xmlns:a16="http://schemas.microsoft.com/office/drawing/2014/main" id="{D83549AB-A019-4D9B-8640-67D3F5B6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667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1" name="ontology-bus-prior">
            <a:extLst xmlns:a="http://schemas.openxmlformats.org/drawingml/2006/main">
              <a:ext uri="{FF2B5EF4-FFF2-40B4-BE49-F238E27FC236}">
                <a16:creationId xmlns:a16="http://schemas.microsoft.com/office/drawing/2014/main" id="{17ED8C15-EBCD-4D60-85B0-512FB930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6667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93" name="ontology-to-bus"/>
          <p:cNvCxnSpPr>
            <a:stCxn xmlns:a="http://schemas.openxmlformats.org/drawingml/2006/main" id="28" idx="3"/>
            <a:endCxn xmlns:a="http://schemas.openxmlformats.org/drawingml/2006/main" id="187" idx="4"/>
          </p:cNvCxnSpPr>
          <p:nvPr/>
        </p:nvCxnSpPr>
        <p:spPr>
          <a:xfrm xmlns:a="http://schemas.openxmlformats.org/drawingml/2006/main" flipV="1">
            <a:off x="5562600" y="685800"/>
            <a:ext cx="85725" cy="3028950"/>
          </a:xfrm>
          <a:prstGeom xmlns:a="http://schemas.openxmlformats.org/drawingml/2006/main" prst="bentConnector2">
            <a:avLst/>
          </a:prstGeom>
          <a:ln xmlns:a="http://schemas.openxmlformats.org/drawingml/2006/main" w="12859">
            <a:solidFill>
              <a:srgbClr val="009E73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94" name="bus-start-entity"/>
          <p:cNvCxnSpPr>
            <a:stCxn xmlns:a="http://schemas.openxmlformats.org/drawingml/2006/main" id="187" idx="6"/>
            <a:endCxn xmlns:a="http://schemas.openxmlformats.org/drawingml/2006/main" id="188" idx="2"/>
          </p:cNvCxnSpPr>
          <p:nvPr/>
        </p:nvCxnSpPr>
        <p:spPr>
          <a:xfrm xmlns:a="http://schemas.openxmlformats.org/drawingml/2006/main">
            <a:off x="5657850" y="676275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009E73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95" name="bus-entity-relation"/>
          <p:cNvCxnSpPr>
            <a:stCxn xmlns:a="http://schemas.openxmlformats.org/drawingml/2006/main" id="188" idx="6"/>
            <a:endCxn xmlns:a="http://schemas.openxmlformats.org/drawingml/2006/main" id="189" idx="2"/>
          </p:cNvCxnSpPr>
          <p:nvPr/>
        </p:nvCxnSpPr>
        <p:spPr>
          <a:xfrm xmlns:a="http://schemas.openxmlformats.org/drawingml/2006/main">
            <a:off x="6667500" y="676275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009E73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96" name="bus-relation-fusion"/>
          <p:cNvCxnSpPr>
            <a:stCxn xmlns:a="http://schemas.openxmlformats.org/drawingml/2006/main" id="189" idx="6"/>
            <a:endCxn xmlns:a="http://schemas.openxmlformats.org/drawingml/2006/main" id="190" idx="2"/>
          </p:cNvCxnSpPr>
          <p:nvPr/>
        </p:nvCxnSpPr>
        <p:spPr>
          <a:xfrm xmlns:a="http://schemas.openxmlformats.org/drawingml/2006/main">
            <a:off x="8162925" y="676275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009E73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97" name="bus-fusion-prior"/>
          <p:cNvCxnSpPr>
            <a:stCxn xmlns:a="http://schemas.openxmlformats.org/drawingml/2006/main" id="190" idx="6"/>
            <a:endCxn xmlns:a="http://schemas.openxmlformats.org/drawingml/2006/main" id="191" idx="2"/>
          </p:cNvCxnSpPr>
          <p:nvPr/>
        </p:nvCxnSpPr>
        <p:spPr>
          <a:xfrm xmlns:a="http://schemas.openxmlformats.org/drawingml/2006/main">
            <a:off x="9658350" y="676275"/>
            <a:ext cx="2705100" cy="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009E73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398" name="bus-to-entity"/>
          <p:cNvCxnSpPr>
            <a:stCxn xmlns:a="http://schemas.openxmlformats.org/drawingml/2006/main" id="188" idx="4"/>
            <a:endCxn xmlns:a="http://schemas.openxmlformats.org/drawingml/2006/main" id="43" idx="0"/>
          </p:cNvCxnSpPr>
          <p:nvPr/>
        </p:nvCxnSpPr>
        <p:spPr>
          <a:xfrm xmlns:a="http://schemas.openxmlformats.org/drawingml/2006/main">
            <a:off x="6657975" y="685800"/>
            <a:ext cx="0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009E73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399" name="bus-to-relation"/>
          <p:cNvCxnSpPr>
            <a:stCxn xmlns:a="http://schemas.openxmlformats.org/drawingml/2006/main" id="189" idx="4"/>
            <a:endCxn xmlns:a="http://schemas.openxmlformats.org/drawingml/2006/main" id="48" idx="0"/>
          </p:cNvCxnSpPr>
          <p:nvPr/>
        </p:nvCxnSpPr>
        <p:spPr>
          <a:xfrm xmlns:a="http://schemas.openxmlformats.org/drawingml/2006/main" flipH="1">
            <a:off x="8143875" y="685800"/>
            <a:ext cx="9525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009E73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400" name="bus-to-fusion"/>
          <p:cNvCxnSpPr>
            <a:stCxn xmlns:a="http://schemas.openxmlformats.org/drawingml/2006/main" id="190" idx="4"/>
            <a:endCxn xmlns:a="http://schemas.openxmlformats.org/drawingml/2006/main" id="53" idx="0"/>
          </p:cNvCxnSpPr>
          <p:nvPr/>
        </p:nvCxnSpPr>
        <p:spPr>
          <a:xfrm xmlns:a="http://schemas.openxmlformats.org/drawingml/2006/main" flipH="1">
            <a:off x="9639300" y="685800"/>
            <a:ext cx="9525" cy="22860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009E73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401" name="bus-to-prior"/>
          <p:cNvCxnSpPr>
            <a:stCxn xmlns:a="http://schemas.openxmlformats.org/drawingml/2006/main" id="191" idx="4"/>
            <a:endCxn xmlns:a="http://schemas.openxmlformats.org/drawingml/2006/main" id="110" idx="0"/>
          </p:cNvCxnSpPr>
          <p:nvPr/>
        </p:nvCxnSpPr>
        <p:spPr>
          <a:xfrm xmlns:a="http://schemas.openxmlformats.org/drawingml/2006/main">
            <a:off x="12372975" y="685800"/>
            <a:ext cx="0" cy="152400"/>
          </a:xfrm>
          <a:prstGeom xmlns:a="http://schemas.openxmlformats.org/drawingml/2006/main" prst="straightConnector1">
            <a:avLst/>
          </a:prstGeom>
          <a:ln xmlns:a="http://schemas.openxmlformats.org/drawingml/2006/main" w="12859">
            <a:solidFill>
              <a:srgbClr val="009E73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201" name="ontology-control-label">
            <a:extLst xmlns:a="http://schemas.openxmlformats.org/drawingml/2006/main">
              <a:ext uri="{FF2B5EF4-FFF2-40B4-BE49-F238E27FC236}">
                <a16:creationId xmlns:a16="http://schemas.microsoft.com/office/drawing/2014/main" id="{5601D42A-8F7A-4D9F-A2A5-797E7F0E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52450"/>
            <a:ext cx="1123950" cy="2095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88" b="1" i="0">
                <a:solidFill>
                  <a:srgbClr val="009E73"/>
                </a:solidFill>
                <a:latin typeface="Times New Roman"/>
                <a:ea typeface="Times New Roman"/>
                <a:cs typeface="Times New Roman"/>
              </a:rPr>
              <a:t>ontology constraints</a:t>
            </a:r>
          </a:p>
        </p:txBody>
      </p:sp>
    </p:spTree>
    <p:extLst>
      <p:ext uri="{BB962C8B-B14F-4D97-AF65-F5344CB8AC3E}">
        <p14:creationId xmlns:p14="http://schemas.microsoft.com/office/powerpoint/2010/main" val="15047433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2026-08-27T10:21:05.6860000Z</dcterms:created>
  <dcterms:modified xsi:type="dcterms:W3CDTF">2026-08-27T10:21:05.6860000Z</dcterms:modified>
</coreProperties>
</file>