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11bdf164ed401c" /><Relationship Type="http://schemas.openxmlformats.org/officeDocument/2006/relationships/extended-properties" Target="/docProps/app.xml" Id="R26d3514b69a143ff" /><Relationship Type="http://schemas.openxmlformats.org/officeDocument/2006/relationships/officeDocument" Target="/ppt/presentation.xml" Id="Ra37e60a3a74649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81e15efffb4f7e"/>
  </p:sldMasterIdLst>
  <p:notesMasterIdLst>
    <p:notesMasterId xmlns:r="http://schemas.openxmlformats.org/officeDocument/2006/relationships" r:id="R4acc92f28a4f448a"/>
  </p:notesMasterIdLst>
  <p:sldIdLst>
    <p:sldId xmlns:r="http://schemas.openxmlformats.org/officeDocument/2006/relationships" id="256" r:id="R56ba7a1217424fd5"/>
  </p:sldIdLst>
  <p:sldSz cx="12801600" cy="6800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86a3b25af448f9" /><Relationship Type="http://schemas.openxmlformats.org/officeDocument/2006/relationships/slideMaster" Target="/ppt/slideMasters/slideMaster1.xml" Id="R1481e15efffb4f7e" /><Relationship Type="http://schemas.openxmlformats.org/officeDocument/2006/relationships/notesMaster" Target="/ppt/notesMasters/notesMaster1.xml" Id="R4acc92f28a4f448a" /><Relationship Type="http://schemas.openxmlformats.org/officeDocument/2006/relationships/presProps" Target="/ppt/presProps.xml" Id="R212c7cf25ca14e6b" /><Relationship Type="http://schemas.openxmlformats.org/officeDocument/2006/relationships/tableStyles" Target="/ppt/tableStyles.xml" Id="R1f8b9561809341a0" /><Relationship Type="http://schemas.openxmlformats.org/officeDocument/2006/relationships/slide" Target="/ppt/slides/slide1.xml" Id="R56ba7a1217424f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026f2de8b140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5e2e6a96cd4dd2" /><Relationship Type="http://schemas.openxmlformats.org/officeDocument/2006/relationships/notesMaster" Target="/ppt/notesMasters/notesMaster1.xml" Id="Ra995cb29c1fa47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Section 3.3 and project implementation for the HEC-KG construction pipeline.</a:t>
            </a:r>
          </a:p>
          <a:p xmlns:a="http://schemas.openxmlformats.org/drawingml/2006/main">
            <a:r>
              <a:t>- Microsoft Research GraphRAG auto-tuning architecture, used only for transferable composition principles: https://www.microsoft.com/en-us/research/blog/graphrag-auto-tuning-provides-rapid-adaptation-to-new-domains/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visible objects are native editable PowerPoint shapes, connectors, lines, and live text. No full-slide raster is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1ab0c146444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ea9e3907c94f36" /><Relationship Type="http://schemas.openxmlformats.org/officeDocument/2006/relationships/slideLayout" Target="/ppt/slideLayouts/slideLayout1.xml" Id="R79b7a92273904d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b7a92273904d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de09bb7d449ec" /><Relationship Type="http://schemas.openxmlformats.org/officeDocument/2006/relationships/notesSlide" Target="/ppt/notesSlides/notesSlide1.xml" Id="Rde1ead06132e44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" name="region-I">
            <a:extLst xmlns:a="http://schemas.openxmlformats.org/drawingml/2006/main">
              <a:ext uri="{FF2B5EF4-FFF2-40B4-BE49-F238E27FC236}">
                <a16:creationId xmlns:a16="http://schemas.microsoft.com/office/drawing/2014/main" id="{0F32AEA0-11F9-4A2D-B2BA-64C5D0C0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33350"/>
            <a:ext cx="2781300" cy="643890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F2F8FD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2" name="region-II">
            <a:extLst xmlns:a="http://schemas.openxmlformats.org/drawingml/2006/main">
              <a:ext uri="{FF2B5EF4-FFF2-40B4-BE49-F238E27FC236}">
                <a16:creationId xmlns:a16="http://schemas.microsoft.com/office/drawing/2014/main" id="{7272A114-5113-4474-8C13-257A638B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3350"/>
            <a:ext cx="3810000" cy="64389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0478">
            <a:solidFill>
              <a:srgbClr val="E69F00"/>
            </a:solidFill>
            <a:prstDash val="solid"/>
          </a:ln>
        </p:spPr>
      </p:sp>
      <p:sp>
        <p:nvSpPr>
          <p:cNvPr id="3" name="region-III">
            <a:extLst xmlns:a="http://schemas.openxmlformats.org/drawingml/2006/main">
              <a:ext uri="{FF2B5EF4-FFF2-40B4-BE49-F238E27FC236}">
                <a16:creationId xmlns:a16="http://schemas.microsoft.com/office/drawing/2014/main" id="{D11EE3C9-3C2F-4EF1-9188-76F29F2E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3350"/>
            <a:ext cx="2590800" cy="6438900"/>
          </a:xfrm>
          <a:prstGeom xmlns:a="http://schemas.openxmlformats.org/drawingml/2006/main" prst="roundRect">
            <a:avLst>
              <a:gd name="adj" fmla="val 3676"/>
            </a:avLst>
          </a:prstGeom>
          <a:solidFill xmlns:a="http://schemas.openxmlformats.org/drawingml/2006/main">
            <a:srgbClr val="F1FAF7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</p:sp>
      <p:sp>
        <p:nvSpPr>
          <p:cNvPr id="4" name="stage-I-number">
            <a:extLst xmlns:a="http://schemas.openxmlformats.org/drawingml/2006/main">
              <a:ext uri="{FF2B5EF4-FFF2-40B4-BE49-F238E27FC236}">
                <a16:creationId xmlns:a16="http://schemas.microsoft.com/office/drawing/2014/main" id="{0682B394-E61B-4AA3-864C-86D1BBE1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57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5" name="stage-I-title">
            <a:extLst xmlns:a="http://schemas.openxmlformats.org/drawingml/2006/main">
              <a:ext uri="{FF2B5EF4-FFF2-40B4-BE49-F238E27FC236}">
                <a16:creationId xmlns:a16="http://schemas.microsoft.com/office/drawing/2014/main" id="{2F6DEE5A-2EFA-45B9-ACCE-6A55028A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57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Entity identification</a:t>
            </a:r>
          </a:p>
        </p:txBody>
      </p:sp>
      <p:sp>
        <p:nvSpPr>
          <p:cNvPr id="6" name="stage-II-number">
            <a:extLst xmlns:a="http://schemas.openxmlformats.org/drawingml/2006/main">
              <a:ext uri="{FF2B5EF4-FFF2-40B4-BE49-F238E27FC236}">
                <a16:creationId xmlns:a16="http://schemas.microsoft.com/office/drawing/2014/main" id="{D6F9CC6B-AC3C-4B9C-833C-BB75AB7B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II</a:t>
            </a:r>
          </a:p>
        </p:txBody>
      </p:sp>
      <p:sp>
        <p:nvSpPr>
          <p:cNvPr id="7" name="stage-II-title">
            <a:extLst xmlns:a="http://schemas.openxmlformats.org/drawingml/2006/main">
              <a:ext uri="{FF2B5EF4-FFF2-40B4-BE49-F238E27FC236}">
                <a16:creationId xmlns:a16="http://schemas.microsoft.com/office/drawing/2014/main" id="{B77F46F9-4B10-4CA8-A580-3F8DACB5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85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Question-guided relation reasoning</a:t>
            </a:r>
          </a:p>
        </p:txBody>
      </p:sp>
      <p:sp>
        <p:nvSpPr>
          <p:cNvPr id="8" name="stage-III-number">
            <a:extLst xmlns:a="http://schemas.openxmlformats.org/drawingml/2006/main">
              <a:ext uri="{FF2B5EF4-FFF2-40B4-BE49-F238E27FC236}">
                <a16:creationId xmlns:a16="http://schemas.microsoft.com/office/drawing/2014/main" id="{24D3389C-D4EC-40D3-9C68-7CF36879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III</a:t>
            </a:r>
          </a:p>
        </p:txBody>
      </p:sp>
      <p:sp>
        <p:nvSpPr>
          <p:cNvPr id="9" name="stage-III-title">
            <a:extLst xmlns:a="http://schemas.openxmlformats.org/drawingml/2006/main">
              <a:ext uri="{FF2B5EF4-FFF2-40B4-BE49-F238E27FC236}">
                <a16:creationId xmlns:a16="http://schemas.microsoft.com/office/drawing/2014/main" id="{9FA0D1D8-0B0D-4D7E-B556-EA22AB02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81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Verification, fusion and</a:t>
            </a:r>
          </a:p>
          <a:p xmlns:a="http://schemas.openxmlformats.org/drawingml/2006/main">
            <a:pPr algn="l">
              <a:defRPr sz="15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graph instantiation</a:t>
            </a:r>
          </a:p>
        </p:txBody>
      </p:sp>
      <p:sp>
        <p:nvSpPr>
          <p:cNvPr id="10" name="input-anonymized-report">
            <a:extLst xmlns:a="http://schemas.openxmlformats.org/drawingml/2006/main">
              <a:ext uri="{FF2B5EF4-FFF2-40B4-BE49-F238E27FC236}">
                <a16:creationId xmlns:a16="http://schemas.microsoft.com/office/drawing/2014/main" id="{DBCEA2DB-AE30-47E4-A85C-574C19A5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76300"/>
            <a:ext cx="1123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" name="input-report-title">
            <a:extLst xmlns:a="http://schemas.openxmlformats.org/drawingml/2006/main">
              <a:ext uri="{FF2B5EF4-FFF2-40B4-BE49-F238E27FC236}">
                <a16:creationId xmlns:a16="http://schemas.microsoft.com/office/drawing/2014/main" id="{B9802801-508E-4B88-ACDE-CD8DFCD7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04800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Anonymized</a:t>
            </a:r>
          </a:p>
          <a:p xmlns:a="http://schemas.openxmlformats.org/drawingml/2006/main">
            <a:pPr algn="l">
              <a:defRPr sz="13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HEC report</a:t>
            </a:r>
          </a:p>
        </p:txBody>
      </p:sp>
      <p:sp>
        <p:nvSpPr>
          <p:cNvPr id="12" name="report-line-1">
            <a:extLst xmlns:a="http://schemas.openxmlformats.org/drawingml/2006/main">
              <a:ext uri="{FF2B5EF4-FFF2-40B4-BE49-F238E27FC236}">
                <a16:creationId xmlns:a16="http://schemas.microsoft.com/office/drawing/2014/main" id="{28BBB1A1-746E-41A1-B688-41723B10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192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3" name="report-line-2">
            <a:extLst xmlns:a="http://schemas.openxmlformats.org/drawingml/2006/main">
              <a:ext uri="{FF2B5EF4-FFF2-40B4-BE49-F238E27FC236}">
                <a16:creationId xmlns:a16="http://schemas.microsoft.com/office/drawing/2014/main" id="{AA6144D4-E696-4F1D-BEE6-71AB5388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906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4" name="report-line-3">
            <a:extLst xmlns:a="http://schemas.openxmlformats.org/drawingml/2006/main">
              <a:ext uri="{FF2B5EF4-FFF2-40B4-BE49-F238E27FC236}">
                <a16:creationId xmlns:a16="http://schemas.microsoft.com/office/drawing/2014/main" id="{7308128F-2A9A-41D5-9DF3-B4F7FE31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621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5" name="report-line-4">
            <a:extLst xmlns:a="http://schemas.openxmlformats.org/drawingml/2006/main">
              <a:ext uri="{FF2B5EF4-FFF2-40B4-BE49-F238E27FC236}">
                <a16:creationId xmlns:a16="http://schemas.microsoft.com/office/drawing/2014/main" id="{57A757F4-46D6-457C-AC74-F8E49B8A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335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6" name="report-line-5">
            <a:extLst xmlns:a="http://schemas.openxmlformats.org/drawingml/2006/main">
              <a:ext uri="{FF2B5EF4-FFF2-40B4-BE49-F238E27FC236}">
                <a16:creationId xmlns:a16="http://schemas.microsoft.com/office/drawing/2014/main" id="{3EB8CA97-FBD2-4245-965B-6AA2093C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7" name="report-line-6">
            <a:extLst xmlns:a="http://schemas.openxmlformats.org/drawingml/2006/main">
              <a:ext uri="{FF2B5EF4-FFF2-40B4-BE49-F238E27FC236}">
                <a16:creationId xmlns:a16="http://schemas.microsoft.com/office/drawing/2014/main" id="{70783DC2-13CD-4A90-B2B2-B6BF995E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76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8" name="report-line-7">
            <a:extLst xmlns:a="http://schemas.openxmlformats.org/drawingml/2006/main">
              <a:ext uri="{FF2B5EF4-FFF2-40B4-BE49-F238E27FC236}">
                <a16:creationId xmlns:a16="http://schemas.microsoft.com/office/drawing/2014/main" id="{B1EE925F-155B-461A-A809-C322BF34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479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9" name="report-ellipsis-top">
            <a:extLst xmlns:a="http://schemas.openxmlformats.org/drawingml/2006/main">
              <a:ext uri="{FF2B5EF4-FFF2-40B4-BE49-F238E27FC236}">
                <a16:creationId xmlns:a16="http://schemas.microsoft.com/office/drawing/2014/main" id="{B698A0DE-70B4-4D73-B2AE-5B1C4A54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20" name="report-ellipsis-bottom">
            <a:extLst xmlns:a="http://schemas.openxmlformats.org/drawingml/2006/main">
              <a:ext uri="{FF2B5EF4-FFF2-40B4-BE49-F238E27FC236}">
                <a16:creationId xmlns:a16="http://schemas.microsoft.com/office/drawing/2014/main" id="{14002411-2C26-48AC-B61E-09A75304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622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21" name="ontology-title">
            <a:extLst xmlns:a="http://schemas.openxmlformats.org/drawingml/2006/main">
              <a:ext uri="{FF2B5EF4-FFF2-40B4-BE49-F238E27FC236}">
                <a16:creationId xmlns:a16="http://schemas.microsoft.com/office/drawing/2014/main" id="{36F021BD-3933-4F13-B96C-48BA6F11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099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24Model ontology</a:t>
            </a:r>
          </a:p>
        </p:txBody>
      </p:sp>
      <p:sp>
        <p:nvSpPr>
          <p:cNvPr id="22" name="ontology-frame">
            <a:extLst xmlns:a="http://schemas.openxmlformats.org/drawingml/2006/main">
              <a:ext uri="{FF2B5EF4-FFF2-40B4-BE49-F238E27FC236}">
                <a16:creationId xmlns:a16="http://schemas.microsoft.com/office/drawing/2014/main" id="{AE39C5D4-F4CF-4F08-97BC-5F26DC87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762375"/>
            <a:ext cx="1447800" cy="2286000"/>
          </a:xfrm>
          <a:prstGeom xmlns:a="http://schemas.openxmlformats.org/drawingml/2006/main" prst="roundRect">
            <a:avLst>
              <a:gd name="adj" fmla="val 32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3" name="ontology-layer-1">
            <a:extLst xmlns:a="http://schemas.openxmlformats.org/drawingml/2006/main">
              <a:ext uri="{FF2B5EF4-FFF2-40B4-BE49-F238E27FC236}">
                <a16:creationId xmlns:a16="http://schemas.microsoft.com/office/drawing/2014/main" id="{D985BD64-DCC1-4CB5-A9F3-81B2B7B1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848100"/>
            <a:ext cx="133350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Domain</a:t>
            </a:r>
          </a:p>
        </p:txBody>
      </p:sp>
      <p:sp>
        <p:nvSpPr>
          <p:cNvPr id="24" name="ontology-layer-2">
            <a:extLst xmlns:a="http://schemas.openxmlformats.org/drawingml/2006/main">
              <a:ext uri="{FF2B5EF4-FFF2-40B4-BE49-F238E27FC236}">
                <a16:creationId xmlns:a16="http://schemas.microsoft.com/office/drawing/2014/main" id="{EE5435C1-FC3E-4D83-9946-04772DBD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257675"/>
            <a:ext cx="133350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Top-level classes</a:t>
            </a:r>
          </a:p>
        </p:txBody>
      </p:sp>
      <p:sp>
        <p:nvSpPr>
          <p:cNvPr id="25" name="ontology-layer-3">
            <a:extLst xmlns:a="http://schemas.openxmlformats.org/drawingml/2006/main">
              <a:ext uri="{FF2B5EF4-FFF2-40B4-BE49-F238E27FC236}">
                <a16:creationId xmlns:a16="http://schemas.microsoft.com/office/drawing/2014/main" id="{E6666F42-FC75-44DC-9030-C0596395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667250"/>
            <a:ext cx="133350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Mid-level classes</a:t>
            </a:r>
          </a:p>
        </p:txBody>
      </p:sp>
      <p:sp>
        <p:nvSpPr>
          <p:cNvPr id="26" name="ontology-layer-4">
            <a:extLst xmlns:a="http://schemas.openxmlformats.org/drawingml/2006/main">
              <a:ext uri="{FF2B5EF4-FFF2-40B4-BE49-F238E27FC236}">
                <a16:creationId xmlns:a16="http://schemas.microsoft.com/office/drawing/2014/main" id="{A38CEEA1-98DC-41B4-82DF-53FB89C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076825"/>
            <a:ext cx="133350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Fine-grained classes</a:t>
            </a:r>
          </a:p>
        </p:txBody>
      </p:sp>
      <p:sp>
        <p:nvSpPr>
          <p:cNvPr id="27" name="ontology-layer-5">
            <a:extLst xmlns:a="http://schemas.openxmlformats.org/drawingml/2006/main">
              <a:ext uri="{FF2B5EF4-FFF2-40B4-BE49-F238E27FC236}">
                <a16:creationId xmlns:a16="http://schemas.microsoft.com/office/drawing/2014/main" id="{F2474FAD-90B8-4A3F-834D-B21D68E1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486400"/>
            <a:ext cx="133350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Properties / relations</a:t>
            </a:r>
          </a:p>
        </p:txBody>
      </p:sp>
      <p:sp>
        <p:nvSpPr>
          <p:cNvPr id="28" name="evidence-spans">
            <a:extLst xmlns:a="http://schemas.openxmlformats.org/drawingml/2006/main">
              <a:ext uri="{FF2B5EF4-FFF2-40B4-BE49-F238E27FC236}">
                <a16:creationId xmlns:a16="http://schemas.microsoft.com/office/drawing/2014/main" id="{63A9B4A6-29ED-4E5C-9775-62BABCC5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04950"/>
            <a:ext cx="1143000" cy="24765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evidence-spans-title">
            <a:extLst xmlns:a="http://schemas.openxmlformats.org/drawingml/2006/main">
              <a:ext uri="{FF2B5EF4-FFF2-40B4-BE49-F238E27FC236}">
                <a16:creationId xmlns:a16="http://schemas.microsoft.com/office/drawing/2014/main" id="{A802F151-1C79-4623-9FEE-C4F20461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002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Evidence spans</a:t>
            </a:r>
          </a:p>
        </p:txBody>
      </p:sp>
      <p:sp>
        <p:nvSpPr>
          <p:cNvPr id="30" name="span-S001">
            <a:extLst xmlns:a="http://schemas.openxmlformats.org/drawingml/2006/main">
              <a:ext uri="{FF2B5EF4-FFF2-40B4-BE49-F238E27FC236}">
                <a16:creationId xmlns:a16="http://schemas.microsoft.com/office/drawing/2014/main" id="{BF04E943-C0AA-4BAF-AC5D-EC716E77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00250"/>
            <a:ext cx="4191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6668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S001</a:t>
            </a:r>
          </a:p>
        </p:txBody>
      </p:sp>
      <p:sp>
        <p:nvSpPr>
          <p:cNvPr id="31" name="span-S002">
            <a:extLst xmlns:a="http://schemas.openxmlformats.org/drawingml/2006/main">
              <a:ext uri="{FF2B5EF4-FFF2-40B4-BE49-F238E27FC236}">
                <a16:creationId xmlns:a16="http://schemas.microsoft.com/office/drawing/2014/main" id="{E905B3CA-B377-4646-8C9D-BC2BE0DD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00300"/>
            <a:ext cx="4191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6668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S002</a:t>
            </a:r>
          </a:p>
        </p:txBody>
      </p:sp>
      <p:sp>
        <p:nvSpPr>
          <p:cNvPr id="32" name="span-Sn">
            <a:extLst xmlns:a="http://schemas.openxmlformats.org/drawingml/2006/main">
              <a:ext uri="{FF2B5EF4-FFF2-40B4-BE49-F238E27FC236}">
                <a16:creationId xmlns:a16="http://schemas.microsoft.com/office/drawing/2014/main" id="{211F8158-50F8-4A55-899E-46EA1DF3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43250"/>
            <a:ext cx="4191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6668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Sₙ</a:t>
            </a:r>
          </a:p>
        </p:txBody>
      </p:sp>
      <p:sp>
        <p:nvSpPr>
          <p:cNvPr id="33" name="span-text-1">
            <a:extLst xmlns:a="http://schemas.openxmlformats.org/drawingml/2006/main">
              <a:ext uri="{FF2B5EF4-FFF2-40B4-BE49-F238E27FC236}">
                <a16:creationId xmlns:a16="http://schemas.microsoft.com/office/drawing/2014/main" id="{78095307-6B4F-4F4B-B750-D8616500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76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34" name="span-text-2">
            <a:extLst xmlns:a="http://schemas.openxmlformats.org/drawingml/2006/main">
              <a:ext uri="{FF2B5EF4-FFF2-40B4-BE49-F238E27FC236}">
                <a16:creationId xmlns:a16="http://schemas.microsoft.com/office/drawing/2014/main" id="{B9026FB3-0B7D-4797-A9D3-25B52249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35" name="span-text-3">
            <a:extLst xmlns:a="http://schemas.openxmlformats.org/drawingml/2006/main">
              <a:ext uri="{FF2B5EF4-FFF2-40B4-BE49-F238E27FC236}">
                <a16:creationId xmlns:a16="http://schemas.microsoft.com/office/drawing/2014/main" id="{E592179D-2EBA-463F-926E-F27BFD36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19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36" name="span-ellipsis">
            <a:extLst xmlns:a="http://schemas.openxmlformats.org/drawingml/2006/main">
              <a:ext uri="{FF2B5EF4-FFF2-40B4-BE49-F238E27FC236}">
                <a16:creationId xmlns:a16="http://schemas.microsoft.com/office/drawing/2014/main" id="{6A6F7B92-5191-4009-A084-51BFB3F2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81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64815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37" name="span-limit">
            <a:extLst xmlns:a="http://schemas.openxmlformats.org/drawingml/2006/main">
              <a:ext uri="{FF2B5EF4-FFF2-40B4-BE49-F238E27FC236}">
                <a16:creationId xmlns:a16="http://schemas.microsoft.com/office/drawing/2014/main" id="{F00650B1-29A1-4180-8B6A-CD55EFCA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Lmax = 360</a:t>
            </a:r>
          </a:p>
        </p:txBody>
      </p:sp>
      <p:sp>
        <p:nvSpPr>
          <p:cNvPr id="38" name="ontology-typed-discovery">
            <a:extLst xmlns:a="http://schemas.openxmlformats.org/drawingml/2006/main">
              <a:ext uri="{FF2B5EF4-FFF2-40B4-BE49-F238E27FC236}">
                <a16:creationId xmlns:a16="http://schemas.microsoft.com/office/drawing/2014/main" id="{3F01ACD7-858C-4F08-8521-94BEF56E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066800"/>
            <a:ext cx="1200150" cy="42862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discovery-title">
            <a:extLst xmlns:a="http://schemas.openxmlformats.org/drawingml/2006/main">
              <a:ext uri="{FF2B5EF4-FFF2-40B4-BE49-F238E27FC236}">
                <a16:creationId xmlns:a16="http://schemas.microsoft.com/office/drawing/2014/main" id="{6E420600-0890-43C5-A1CD-935E181D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18110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785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Ontology-typed</a:t>
            </a:r>
          </a:p>
          <a:p xmlns:a="http://schemas.openxmlformats.org/drawingml/2006/main">
            <a:pPr algn="ctr">
              <a:defRPr sz="127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discovery</a:t>
            </a:r>
          </a:p>
        </p:txBody>
      </p:sp>
      <p:sp>
        <p:nvSpPr>
          <p:cNvPr id="40" name="entity-row-1">
            <a:extLst xmlns:a="http://schemas.openxmlformats.org/drawingml/2006/main">
              <a:ext uri="{FF2B5EF4-FFF2-40B4-BE49-F238E27FC236}">
                <a16:creationId xmlns:a16="http://schemas.microsoft.com/office/drawing/2014/main" id="{C7A499C9-964A-40C6-BA17-41C4F05A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33550"/>
            <a:ext cx="10096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715">
            <a:solidFill>
              <a:srgbClr val="C7D7E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entity-dot-1">
            <a:extLst xmlns:a="http://schemas.openxmlformats.org/drawingml/2006/main">
              <a:ext uri="{FF2B5EF4-FFF2-40B4-BE49-F238E27FC236}">
                <a16:creationId xmlns:a16="http://schemas.microsoft.com/office/drawing/2014/main" id="{ABC88E87-4FC5-4345-ACC2-B4BC1C62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09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42" name="entity-label-1">
            <a:extLst xmlns:a="http://schemas.openxmlformats.org/drawingml/2006/main">
              <a:ext uri="{FF2B5EF4-FFF2-40B4-BE49-F238E27FC236}">
                <a16:creationId xmlns:a16="http://schemas.microsoft.com/office/drawing/2014/main" id="{116D1144-879F-441F-A130-43DCD267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62125"/>
            <a:ext cx="69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Context</a:t>
            </a:r>
          </a:p>
        </p:txBody>
      </p:sp>
      <p:sp>
        <p:nvSpPr>
          <p:cNvPr id="43" name="entity-row-2">
            <a:extLst xmlns:a="http://schemas.openxmlformats.org/drawingml/2006/main">
              <a:ext uri="{FF2B5EF4-FFF2-40B4-BE49-F238E27FC236}">
                <a16:creationId xmlns:a16="http://schemas.microsoft.com/office/drawing/2014/main" id="{F4E662FD-6A43-4525-B288-542D91EC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05025"/>
            <a:ext cx="10096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715">
            <a:solidFill>
              <a:srgbClr val="C7D7E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entity-dot-2">
            <a:extLst xmlns:a="http://schemas.openxmlformats.org/drawingml/2006/main">
              <a:ext uri="{FF2B5EF4-FFF2-40B4-BE49-F238E27FC236}">
                <a16:creationId xmlns:a16="http://schemas.microsoft.com/office/drawing/2014/main" id="{37126887-0D5E-457E-ADFB-4FEE6F74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181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5A7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45" name="entity-label-2">
            <a:extLst xmlns:a="http://schemas.openxmlformats.org/drawingml/2006/main">
              <a:ext uri="{FF2B5EF4-FFF2-40B4-BE49-F238E27FC236}">
                <a16:creationId xmlns:a16="http://schemas.microsoft.com/office/drawing/2014/main" id="{1BEAE4A7-6311-4E84-987E-11E7C8CB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33600"/>
            <a:ext cx="69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Unsafe action</a:t>
            </a:r>
          </a:p>
        </p:txBody>
      </p:sp>
      <p:sp>
        <p:nvSpPr>
          <p:cNvPr id="46" name="entity-row-3">
            <a:extLst xmlns:a="http://schemas.openxmlformats.org/drawingml/2006/main">
              <a:ext uri="{FF2B5EF4-FFF2-40B4-BE49-F238E27FC236}">
                <a16:creationId xmlns:a16="http://schemas.microsoft.com/office/drawing/2014/main" id="{640947A1-C7C6-4CF0-8715-615B807C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76500"/>
            <a:ext cx="10096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715">
            <a:solidFill>
              <a:srgbClr val="C7D7E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entity-dot-3">
            <a:extLst xmlns:a="http://schemas.openxmlformats.org/drawingml/2006/main">
              <a:ext uri="{FF2B5EF4-FFF2-40B4-BE49-F238E27FC236}">
                <a16:creationId xmlns:a16="http://schemas.microsoft.com/office/drawing/2014/main" id="{54152444-A4E9-4847-B3DA-8B2A73C3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52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8D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48" name="entity-label-3">
            <a:extLst xmlns:a="http://schemas.openxmlformats.org/drawingml/2006/main">
              <a:ext uri="{FF2B5EF4-FFF2-40B4-BE49-F238E27FC236}">
                <a16:creationId xmlns:a16="http://schemas.microsoft.com/office/drawing/2014/main" id="{603927E9-243B-4384-9EB5-F815B456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05075"/>
            <a:ext cx="69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Unsafe state</a:t>
            </a:r>
          </a:p>
        </p:txBody>
      </p:sp>
      <p:sp>
        <p:nvSpPr>
          <p:cNvPr id="49" name="entity-row-4">
            <a:extLst xmlns:a="http://schemas.openxmlformats.org/drawingml/2006/main">
              <a:ext uri="{FF2B5EF4-FFF2-40B4-BE49-F238E27FC236}">
                <a16:creationId xmlns:a16="http://schemas.microsoft.com/office/drawing/2014/main" id="{657B9D83-03B7-4CAC-ABB9-01E78E98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47975"/>
            <a:ext cx="10096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715">
            <a:solidFill>
              <a:srgbClr val="C7D7E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entity-dot-4">
            <a:extLst xmlns:a="http://schemas.openxmlformats.org/drawingml/2006/main">
              <a:ext uri="{FF2B5EF4-FFF2-40B4-BE49-F238E27FC236}">
                <a16:creationId xmlns:a16="http://schemas.microsoft.com/office/drawing/2014/main" id="{FA97D84F-761D-48DC-9D38-18448DED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924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9EF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51" name="entity-label-4">
            <a:extLst xmlns:a="http://schemas.openxmlformats.org/drawingml/2006/main">
              <a:ext uri="{FF2B5EF4-FFF2-40B4-BE49-F238E27FC236}">
                <a16:creationId xmlns:a16="http://schemas.microsoft.com/office/drawing/2014/main" id="{D3427F8E-BABA-44C1-B426-71C8B585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76550"/>
            <a:ext cx="69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Capability</a:t>
            </a:r>
          </a:p>
        </p:txBody>
      </p:sp>
      <p:sp>
        <p:nvSpPr>
          <p:cNvPr id="52" name="entity-row-5">
            <a:extLst xmlns:a="http://schemas.openxmlformats.org/drawingml/2006/main">
              <a:ext uri="{FF2B5EF4-FFF2-40B4-BE49-F238E27FC236}">
                <a16:creationId xmlns:a16="http://schemas.microsoft.com/office/drawing/2014/main" id="{3E243E16-E5AA-4F66-9792-96462116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19450"/>
            <a:ext cx="10096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715">
            <a:solidFill>
              <a:srgbClr val="C7D7E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entity-dot-5">
            <a:extLst xmlns:a="http://schemas.openxmlformats.org/drawingml/2006/main">
              <a:ext uri="{FF2B5EF4-FFF2-40B4-BE49-F238E27FC236}">
                <a16:creationId xmlns:a16="http://schemas.microsoft.com/office/drawing/2014/main" id="{89F4704D-5449-4691-8CFE-AA2979E5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95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5A7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54" name="entity-label-5">
            <a:extLst xmlns:a="http://schemas.openxmlformats.org/drawingml/2006/main">
              <a:ext uri="{FF2B5EF4-FFF2-40B4-BE49-F238E27FC236}">
                <a16:creationId xmlns:a16="http://schemas.microsoft.com/office/drawing/2014/main" id="{72034C46-37DE-4587-B96E-D01AACB2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48025"/>
            <a:ext cx="69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Management</a:t>
            </a:r>
          </a:p>
        </p:txBody>
      </p:sp>
      <p:sp>
        <p:nvSpPr>
          <p:cNvPr id="55" name="entity-row-6">
            <a:extLst xmlns:a="http://schemas.openxmlformats.org/drawingml/2006/main">
              <a:ext uri="{FF2B5EF4-FFF2-40B4-BE49-F238E27FC236}">
                <a16:creationId xmlns:a16="http://schemas.microsoft.com/office/drawing/2014/main" id="{E3CCE45B-F029-45FF-8816-0CBBF598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90925"/>
            <a:ext cx="10096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715">
            <a:solidFill>
              <a:srgbClr val="C7D7E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entity-dot-6">
            <a:extLst xmlns:a="http://schemas.openxmlformats.org/drawingml/2006/main">
              <a:ext uri="{FF2B5EF4-FFF2-40B4-BE49-F238E27FC236}">
                <a16:creationId xmlns:a16="http://schemas.microsoft.com/office/drawing/2014/main" id="{B3A8BFB9-82F5-4821-AAFC-87666859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67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FE9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57" name="entity-label-6">
            <a:extLst xmlns:a="http://schemas.openxmlformats.org/drawingml/2006/main">
              <a:ext uri="{FF2B5EF4-FFF2-40B4-BE49-F238E27FC236}">
                <a16:creationId xmlns:a16="http://schemas.microsoft.com/office/drawing/2014/main" id="{F9876767-1FBC-4B8B-84EB-1D33D796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19500"/>
            <a:ext cx="69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Culture</a:t>
            </a:r>
          </a:p>
        </p:txBody>
      </p:sp>
      <p:sp>
        <p:nvSpPr>
          <p:cNvPr id="58" name="entity-row-7">
            <a:extLst xmlns:a="http://schemas.openxmlformats.org/drawingml/2006/main">
              <a:ext uri="{FF2B5EF4-FFF2-40B4-BE49-F238E27FC236}">
                <a16:creationId xmlns:a16="http://schemas.microsoft.com/office/drawing/2014/main" id="{2741C24F-2499-48E4-BE3F-4566F1DA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62400"/>
            <a:ext cx="10096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715">
            <a:solidFill>
              <a:srgbClr val="C7D7E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entity-dot-7">
            <a:extLst xmlns:a="http://schemas.openxmlformats.org/drawingml/2006/main">
              <a:ext uri="{FF2B5EF4-FFF2-40B4-BE49-F238E27FC236}">
                <a16:creationId xmlns:a16="http://schemas.microsoft.com/office/drawing/2014/main" id="{B2C6F656-6829-47D5-8927-7E857689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038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CF3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60" name="entity-label-7">
            <a:extLst xmlns:a="http://schemas.openxmlformats.org/drawingml/2006/main">
              <a:ext uri="{FF2B5EF4-FFF2-40B4-BE49-F238E27FC236}">
                <a16:creationId xmlns:a16="http://schemas.microsoft.com/office/drawing/2014/main" id="{B5CCA600-0A1B-4E09-86C0-8B8710AA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90975"/>
            <a:ext cx="69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Process</a:t>
            </a:r>
          </a:p>
        </p:txBody>
      </p:sp>
      <p:sp>
        <p:nvSpPr>
          <p:cNvPr id="61" name="entity-row-8">
            <a:extLst xmlns:a="http://schemas.openxmlformats.org/drawingml/2006/main">
              <a:ext uri="{FF2B5EF4-FFF2-40B4-BE49-F238E27FC236}">
                <a16:creationId xmlns:a16="http://schemas.microsoft.com/office/drawing/2014/main" id="{8935602C-CA0B-46F4-AF4A-8DF49286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33875"/>
            <a:ext cx="10096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715">
            <a:solidFill>
              <a:srgbClr val="C7D7E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entity-dot-8">
            <a:extLst xmlns:a="http://schemas.openxmlformats.org/drawingml/2006/main">
              <a:ext uri="{FF2B5EF4-FFF2-40B4-BE49-F238E27FC236}">
                <a16:creationId xmlns:a16="http://schemas.microsoft.com/office/drawing/2014/main" id="{4F64949E-D897-4D80-896E-236FBCCC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100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7D5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63" name="entity-label-8">
            <a:extLst xmlns:a="http://schemas.openxmlformats.org/drawingml/2006/main">
              <a:ext uri="{FF2B5EF4-FFF2-40B4-BE49-F238E27FC236}">
                <a16:creationId xmlns:a16="http://schemas.microsoft.com/office/drawing/2014/main" id="{47183963-E968-4232-94B6-D4F437EB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62450"/>
            <a:ext cx="69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Consequence</a:t>
            </a:r>
          </a:p>
        </p:txBody>
      </p:sp>
      <p:sp>
        <p:nvSpPr>
          <p:cNvPr id="64" name="entity-row-9">
            <a:extLst xmlns:a="http://schemas.openxmlformats.org/drawingml/2006/main">
              <a:ext uri="{FF2B5EF4-FFF2-40B4-BE49-F238E27FC236}">
                <a16:creationId xmlns:a16="http://schemas.microsoft.com/office/drawing/2014/main" id="{C3529F1F-BC63-46E9-B375-7FDA5892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05350"/>
            <a:ext cx="10096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715">
            <a:solidFill>
              <a:srgbClr val="C7D7E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entity-dot-9">
            <a:extLst xmlns:a="http://schemas.openxmlformats.org/drawingml/2006/main">
              <a:ext uri="{FF2B5EF4-FFF2-40B4-BE49-F238E27FC236}">
                <a16:creationId xmlns:a16="http://schemas.microsoft.com/office/drawing/2014/main" id="{067CCFD9-6A77-499B-9148-D466A8F0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781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ABB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66" name="entity-label-9">
            <a:extLst xmlns:a="http://schemas.openxmlformats.org/drawingml/2006/main">
              <a:ext uri="{FF2B5EF4-FFF2-40B4-BE49-F238E27FC236}">
                <a16:creationId xmlns:a16="http://schemas.microsoft.com/office/drawing/2014/main" id="{802ACC43-546A-4F00-9006-D2674EC0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33925"/>
            <a:ext cx="69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Measure</a:t>
            </a:r>
          </a:p>
        </p:txBody>
      </p:sp>
      <p:sp>
        <p:nvSpPr>
          <p:cNvPr id="67" name="gleaning-label">
            <a:extLst xmlns:a="http://schemas.openxmlformats.org/drawingml/2006/main">
              <a:ext uri="{FF2B5EF4-FFF2-40B4-BE49-F238E27FC236}">
                <a16:creationId xmlns:a16="http://schemas.microsoft.com/office/drawing/2014/main" id="{D7F69487-7B0A-4E69-B747-EFB59FD3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819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 gleaning round</a:t>
            </a:r>
          </a:p>
        </p:txBody>
      </p:sp>
      <p:sp>
        <p:nvSpPr>
          <p:cNvPr id="68" name="glean-anchor-a">
            <a:extLst xmlns:a="http://schemas.openxmlformats.org/drawingml/2006/main">
              <a:ext uri="{FF2B5EF4-FFF2-40B4-BE49-F238E27FC236}">
                <a16:creationId xmlns:a16="http://schemas.microsoft.com/office/drawing/2014/main" id="{8A3F8D64-3B88-45E9-9177-8AD4680B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9334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glean-anchor-b">
            <a:extLst xmlns:a="http://schemas.openxmlformats.org/drawingml/2006/main">
              <a:ext uri="{FF2B5EF4-FFF2-40B4-BE49-F238E27FC236}">
                <a16:creationId xmlns:a16="http://schemas.microsoft.com/office/drawing/2014/main" id="{221D325D-57B2-4273-B159-DD27ECA1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334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question-bank">
            <a:extLst xmlns:a="http://schemas.openxmlformats.org/drawingml/2006/main">
              <a:ext uri="{FF2B5EF4-FFF2-40B4-BE49-F238E27FC236}">
                <a16:creationId xmlns:a16="http://schemas.microsoft.com/office/drawing/2014/main" id="{666BE7E3-D38F-44F6-8458-80BFB9AE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42950"/>
            <a:ext cx="20764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16-question bank</a:t>
            </a:r>
          </a:p>
        </p:txBody>
      </p:sp>
      <p:sp>
        <p:nvSpPr>
          <p:cNvPr id="71" name="question-chip-1">
            <a:extLst xmlns:a="http://schemas.openxmlformats.org/drawingml/2006/main">
              <a:ext uri="{FF2B5EF4-FFF2-40B4-BE49-F238E27FC236}">
                <a16:creationId xmlns:a16="http://schemas.microsoft.com/office/drawing/2014/main" id="{AAD87391-D444-4023-82E4-3289A7AD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066800"/>
            <a:ext cx="2476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086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2" name="question-chip-2">
            <a:extLst xmlns:a="http://schemas.openxmlformats.org/drawingml/2006/main">
              <a:ext uri="{FF2B5EF4-FFF2-40B4-BE49-F238E27FC236}">
                <a16:creationId xmlns:a16="http://schemas.microsoft.com/office/drawing/2014/main" id="{17FDE5F1-CC32-44D3-B5EC-E780C290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66800"/>
            <a:ext cx="2476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086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73" name="question-chip-3">
            <a:extLst xmlns:a="http://schemas.openxmlformats.org/drawingml/2006/main">
              <a:ext uri="{FF2B5EF4-FFF2-40B4-BE49-F238E27FC236}">
                <a16:creationId xmlns:a16="http://schemas.microsoft.com/office/drawing/2014/main" id="{25A3ECAB-0B5F-4FBD-BE88-26A6F3F7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066800"/>
            <a:ext cx="2476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086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4" name="question-chip-4">
            <a:extLst xmlns:a="http://schemas.openxmlformats.org/drawingml/2006/main">
              <a:ext uri="{FF2B5EF4-FFF2-40B4-BE49-F238E27FC236}">
                <a16:creationId xmlns:a16="http://schemas.microsoft.com/office/drawing/2014/main" id="{79BFE4B0-D9B9-4941-A238-7D3726FE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66800"/>
            <a:ext cx="2667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086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75" name="question-chip-5">
            <a:extLst xmlns:a="http://schemas.openxmlformats.org/drawingml/2006/main">
              <a:ext uri="{FF2B5EF4-FFF2-40B4-BE49-F238E27FC236}">
                <a16:creationId xmlns:a16="http://schemas.microsoft.com/office/drawing/2014/main" id="{03961D04-BDDB-4B95-8AAE-2A1A1A7D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066800"/>
            <a:ext cx="2476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086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76" name="question-guided-llm">
            <a:extLst xmlns:a="http://schemas.openxmlformats.org/drawingml/2006/main">
              <a:ext uri="{FF2B5EF4-FFF2-40B4-BE49-F238E27FC236}">
                <a16:creationId xmlns:a16="http://schemas.microsoft.com/office/drawing/2014/main" id="{2649F458-44BC-4947-BFAA-1EB1F8E3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04950"/>
            <a:ext cx="16573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955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Question-guided LLM</a:t>
            </a:r>
          </a:p>
        </p:txBody>
      </p:sp>
      <p:sp>
        <p:nvSpPr>
          <p:cNvPr id="77" name="causal-cascade-frame">
            <a:extLst xmlns:a="http://schemas.openxmlformats.org/drawingml/2006/main">
              <a:ext uri="{FF2B5EF4-FFF2-40B4-BE49-F238E27FC236}">
                <a16:creationId xmlns:a16="http://schemas.microsoft.com/office/drawing/2014/main" id="{2A0674D8-F966-4D68-A644-7653C84F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3295650" cy="1752600"/>
          </a:xfrm>
          <a:prstGeom xmlns:a="http://schemas.openxmlformats.org/drawingml/2006/main" prst="roundRect">
            <a:avLst>
              <a:gd name="adj" fmla="val 434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55E00"/>
            </a:solidFill>
            <a:prstDash val="dash"/>
          </a:ln>
        </p:spPr>
      </p:sp>
      <p:sp>
        <p:nvSpPr>
          <p:cNvPr id="78" name="direct-causes">
            <a:extLst xmlns:a="http://schemas.openxmlformats.org/drawingml/2006/main">
              <a:ext uri="{FF2B5EF4-FFF2-40B4-BE49-F238E27FC236}">
                <a16:creationId xmlns:a16="http://schemas.microsoft.com/office/drawing/2014/main" id="{5D47BFD7-8595-441C-8C07-D4B18967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74295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Direct</a:t>
            </a:r>
          </a:p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causes</a:t>
            </a:r>
          </a:p>
        </p:txBody>
      </p:sp>
      <p:sp>
        <p:nvSpPr>
          <p:cNvPr id="79" name="capability-management">
            <a:extLst xmlns:a="http://schemas.openxmlformats.org/drawingml/2006/main">
              <a:ext uri="{FF2B5EF4-FFF2-40B4-BE49-F238E27FC236}">
                <a16:creationId xmlns:a16="http://schemas.microsoft.com/office/drawing/2014/main" id="{ADE2DE43-5722-4432-890C-1EE209F7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05050"/>
            <a:ext cx="9715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Capability /</a:t>
            </a:r>
          </a:p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management</a:t>
            </a:r>
          </a:p>
        </p:txBody>
      </p:sp>
      <p:sp>
        <p:nvSpPr>
          <p:cNvPr id="80" name="culture">
            <a:extLst xmlns:a="http://schemas.openxmlformats.org/drawingml/2006/main">
              <a:ext uri="{FF2B5EF4-FFF2-40B4-BE49-F238E27FC236}">
                <a16:creationId xmlns:a16="http://schemas.microsoft.com/office/drawing/2014/main" id="{4510E97A-25E3-4AFE-9575-34856866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381250"/>
            <a:ext cx="638175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Culture</a:t>
            </a:r>
          </a:p>
        </p:txBody>
      </p:sp>
      <p:sp>
        <p:nvSpPr>
          <p:cNvPr id="81" name="process-control">
            <a:extLst xmlns:a="http://schemas.openxmlformats.org/drawingml/2006/main">
              <a:ext uri="{FF2B5EF4-FFF2-40B4-BE49-F238E27FC236}">
                <a16:creationId xmlns:a16="http://schemas.microsoft.com/office/drawing/2014/main" id="{F31826C9-9D3D-4A10-93E4-8839264F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81915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Process /</a:t>
            </a:r>
          </a:p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control</a:t>
            </a:r>
          </a:p>
        </p:txBody>
      </p:sp>
      <p:sp>
        <p:nvSpPr>
          <p:cNvPr id="82" name="structured-output">
            <a:extLst xmlns:a="http://schemas.openxmlformats.org/drawingml/2006/main">
              <a:ext uri="{FF2B5EF4-FFF2-40B4-BE49-F238E27FC236}">
                <a16:creationId xmlns:a16="http://schemas.microsoft.com/office/drawing/2014/main" id="{D33BABF7-EA5D-4A86-8FC1-D43F753E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67200"/>
            <a:ext cx="914400" cy="16192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Yes / No</a:t>
            </a:r>
          </a:p>
          <a:p xmlns:a="http://schemas.openxmlformats.org/drawingml/2006/main">
            <a:pPr algn="ctr">
              <a:def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label</a:t>
            </a:r>
          </a:p>
          <a:p xmlns:a="http://schemas.openxmlformats.org/drawingml/2006/main">
            <a:pPr algn="ctr">
              <a:def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evidence</a:t>
            </a:r>
          </a:p>
          <a:p xmlns:a="http://schemas.openxmlformats.org/drawingml/2006/main">
            <a:pPr algn="ctr">
              <a:def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rationale</a:t>
            </a:r>
          </a:p>
          <a:p xmlns:a="http://schemas.openxmlformats.org/drawingml/2006/main">
            <a:pPr algn="ctr">
              <a:def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confidence</a:t>
            </a:r>
          </a:p>
        </p:txBody>
      </p:sp>
      <p:sp>
        <p:nvSpPr>
          <p:cNvPr id="83" name="vote-v1">
            <a:extLst xmlns:a="http://schemas.openxmlformats.org/drawingml/2006/main">
              <a:ext uri="{FF2B5EF4-FFF2-40B4-BE49-F238E27FC236}">
                <a16:creationId xmlns:a16="http://schemas.microsoft.com/office/drawing/2014/main" id="{65D0D70A-0B9B-4755-BD2D-76CA0654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62450"/>
            <a:ext cx="1000125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v1  response</a:t>
            </a:r>
          </a:p>
        </p:txBody>
      </p:sp>
      <p:sp>
        <p:nvSpPr>
          <p:cNvPr id="84" name="vote-v2">
            <a:extLst xmlns:a="http://schemas.openxmlformats.org/drawingml/2006/main">
              <a:ext uri="{FF2B5EF4-FFF2-40B4-BE49-F238E27FC236}">
                <a16:creationId xmlns:a16="http://schemas.microsoft.com/office/drawing/2014/main" id="{4A9ECBF4-FA71-4147-9DB9-3415D992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14900"/>
            <a:ext cx="1000125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v2  response</a:t>
            </a:r>
          </a:p>
        </p:txBody>
      </p:sp>
      <p:sp>
        <p:nvSpPr>
          <p:cNvPr id="85" name="vote-v3">
            <a:extLst xmlns:a="http://schemas.openxmlformats.org/drawingml/2006/main">
              <a:ext uri="{FF2B5EF4-FFF2-40B4-BE49-F238E27FC236}">
                <a16:creationId xmlns:a16="http://schemas.microsoft.com/office/drawing/2014/main" id="{5EFA801C-1B8E-4076-B844-F51CCC96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67350"/>
            <a:ext cx="1000125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v3  response</a:t>
            </a:r>
          </a:p>
        </p:txBody>
      </p:sp>
      <p:sp>
        <p:nvSpPr>
          <p:cNvPr id="86" name="majority-vote">
            <a:extLst xmlns:a="http://schemas.openxmlformats.org/drawingml/2006/main">
              <a:ext uri="{FF2B5EF4-FFF2-40B4-BE49-F238E27FC236}">
                <a16:creationId xmlns:a16="http://schemas.microsoft.com/office/drawing/2014/main" id="{19939AB4-338D-405C-860C-74D3DAFD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971550" cy="10668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Majority vote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T = 3</a:t>
            </a:r>
          </a:p>
          <a:p xmlns:a="http://schemas.openxmlformats.org/drawingml/2006/main">
            <a:pPr algn="ctr">
              <a:def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margin &gt;= 1</a:t>
            </a:r>
          </a:p>
        </p:txBody>
      </p:sp>
      <p:sp>
        <p:nvSpPr>
          <p:cNvPr id="87" name="typed-causal-relations">
            <a:extLst xmlns:a="http://schemas.openxmlformats.org/drawingml/2006/main">
              <a:ext uri="{FF2B5EF4-FFF2-40B4-BE49-F238E27FC236}">
                <a16:creationId xmlns:a16="http://schemas.microsoft.com/office/drawing/2014/main" id="{AB2E158B-6627-4A71-B756-EA0ED51B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769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Typed causal relations</a:t>
            </a:r>
          </a:p>
        </p:txBody>
      </p:sp>
      <p:sp>
        <p:nvSpPr>
          <p:cNvPr id="88" name="ontology-validator">
            <a:extLst xmlns:a="http://schemas.openxmlformats.org/drawingml/2006/main">
              <a:ext uri="{FF2B5EF4-FFF2-40B4-BE49-F238E27FC236}">
                <a16:creationId xmlns:a16="http://schemas.microsoft.com/office/drawing/2014/main" id="{65DE6499-ABD3-4D7F-9AB5-6C4EBE53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00125"/>
            <a:ext cx="16192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Ontology validator</a:t>
            </a:r>
          </a:p>
          <a:p xmlns:a="http://schemas.openxmlformats.org/drawingml/2006/main">
            <a:pPr algn="ctr">
              <a:def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type + evidence + direction</a:t>
            </a:r>
          </a:p>
        </p:txBody>
      </p:sp>
      <p:sp>
        <p:nvSpPr>
          <p:cNvPr id="89" name="bounded-repair">
            <a:extLst xmlns:a="http://schemas.openxmlformats.org/drawingml/2006/main">
              <a:ext uri="{FF2B5EF4-FFF2-40B4-BE49-F238E27FC236}">
                <a16:creationId xmlns:a16="http://schemas.microsoft.com/office/drawing/2014/main" id="{3C9D5AEB-D34A-43A3-B63F-2EC26BE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81200"/>
            <a:ext cx="10001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Bounded repair</a:t>
            </a:r>
          </a:p>
        </p:txBody>
      </p:sp>
      <p:sp>
        <p:nvSpPr>
          <p:cNvPr id="90" name="case-graph">
            <a:extLst xmlns:a="http://schemas.openxmlformats.org/drawingml/2006/main">
              <a:ext uri="{FF2B5EF4-FFF2-40B4-BE49-F238E27FC236}">
                <a16:creationId xmlns:a16="http://schemas.microsoft.com/office/drawing/2014/main" id="{968FC286-259A-4E3D-BB7B-43EDC1CB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09850"/>
            <a:ext cx="1428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Case graph</a:t>
            </a:r>
          </a:p>
        </p:txBody>
      </p:sp>
      <p:sp>
        <p:nvSpPr>
          <p:cNvPr id="91" name="string-recall">
            <a:extLst xmlns:a="http://schemas.openxmlformats.org/drawingml/2006/main">
              <a:ext uri="{FF2B5EF4-FFF2-40B4-BE49-F238E27FC236}">
                <a16:creationId xmlns:a16="http://schemas.microsoft.com/office/drawing/2014/main" id="{DA9A6A0C-921D-4D70-9E19-1398A4D5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1428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String recall</a:t>
            </a:r>
          </a:p>
        </p:txBody>
      </p:sp>
      <p:sp>
        <p:nvSpPr>
          <p:cNvPr id="92" name="embedding-rerank">
            <a:extLst xmlns:a="http://schemas.openxmlformats.org/drawingml/2006/main">
              <a:ext uri="{FF2B5EF4-FFF2-40B4-BE49-F238E27FC236}">
                <a16:creationId xmlns:a16="http://schemas.microsoft.com/office/drawing/2014/main" id="{9599AC66-2DA8-4107-84A4-14259B00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05250"/>
            <a:ext cx="1428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Embedding rerank</a:t>
            </a:r>
          </a:p>
        </p:txBody>
      </p:sp>
      <p:sp>
        <p:nvSpPr>
          <p:cNvPr id="93" name="match-nil">
            <a:extLst xmlns:a="http://schemas.openxmlformats.org/drawingml/2006/main">
              <a:ext uri="{FF2B5EF4-FFF2-40B4-BE49-F238E27FC236}">
                <a16:creationId xmlns:a16="http://schemas.microsoft.com/office/drawing/2014/main" id="{63DA8F9A-6176-42C8-9DFE-02048524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52950"/>
            <a:ext cx="15811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Match / NIL</a:t>
            </a:r>
          </a:p>
          <a:p xmlns:a="http://schemas.openxmlformats.org/drawingml/2006/main">
            <a:pPr algn="ctr">
              <a:defRPr sz="11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0.4 string + 0.6 vector</a:t>
            </a:r>
          </a:p>
        </p:txBody>
      </p:sp>
      <p:sp>
        <p:nvSpPr>
          <p:cNvPr id="94" name="entity-relation-merge">
            <a:extLst xmlns:a="http://schemas.openxmlformats.org/drawingml/2006/main">
              <a:ext uri="{FF2B5EF4-FFF2-40B4-BE49-F238E27FC236}">
                <a16:creationId xmlns:a16="http://schemas.microsoft.com/office/drawing/2014/main" id="{E3ABEF4B-6B25-40CD-871A-BACE859D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29250"/>
            <a:ext cx="17335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Entity + relation merge</a:t>
            </a:r>
          </a:p>
        </p:txBody>
      </p:sp>
      <p:sp>
        <p:nvSpPr>
          <p:cNvPr id="95" name="hec-kg-frame">
            <a:extLst xmlns:a="http://schemas.openxmlformats.org/drawingml/2006/main">
              <a:ext uri="{FF2B5EF4-FFF2-40B4-BE49-F238E27FC236}">
                <a16:creationId xmlns:a16="http://schemas.microsoft.com/office/drawing/2014/main" id="{F80D83E4-652A-4222-B267-01D7822F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0"/>
            <a:ext cx="1524000" cy="2857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96" name="hec-kg-title">
            <a:extLst xmlns:a="http://schemas.openxmlformats.org/drawingml/2006/main">
              <a:ext uri="{FF2B5EF4-FFF2-40B4-BE49-F238E27FC236}">
                <a16:creationId xmlns:a16="http://schemas.microsoft.com/office/drawing/2014/main" id="{4C8E47C5-C673-46B3-BD3A-11582B87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00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HEC-KG</a:t>
            </a:r>
          </a:p>
        </p:txBody>
      </p:sp>
      <p:sp>
        <p:nvSpPr>
          <p:cNvPr id="97" name="kg-node-1">
            <a:extLst xmlns:a="http://schemas.openxmlformats.org/drawingml/2006/main">
              <a:ext uri="{FF2B5EF4-FFF2-40B4-BE49-F238E27FC236}">
                <a16:creationId xmlns:a16="http://schemas.microsoft.com/office/drawing/2014/main" id="{2EA3C9B3-2CDD-4C83-812D-A81FEC20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71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</p:sp>
      <p:sp>
        <p:nvSpPr>
          <p:cNvPr id="98" name="kg-node-2">
            <a:extLst xmlns:a="http://schemas.openxmlformats.org/drawingml/2006/main">
              <a:ext uri="{FF2B5EF4-FFF2-40B4-BE49-F238E27FC236}">
                <a16:creationId xmlns:a16="http://schemas.microsoft.com/office/drawing/2014/main" id="{8EFEBE57-EC70-4A3D-A89B-77CB0334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8D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</p:sp>
      <p:sp>
        <p:nvSpPr>
          <p:cNvPr id="99" name="kg-node-3">
            <a:extLst xmlns:a="http://schemas.openxmlformats.org/drawingml/2006/main">
              <a:ext uri="{FF2B5EF4-FFF2-40B4-BE49-F238E27FC236}">
                <a16:creationId xmlns:a16="http://schemas.microsoft.com/office/drawing/2014/main" id="{D55EE8F0-E4B7-4F3C-8EA2-C06A95CA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257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5A7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</p:sp>
      <p:sp>
        <p:nvSpPr>
          <p:cNvPr id="100" name="kg-node-4">
            <a:extLst xmlns:a="http://schemas.openxmlformats.org/drawingml/2006/main">
              <a:ext uri="{FF2B5EF4-FFF2-40B4-BE49-F238E27FC236}">
                <a16:creationId xmlns:a16="http://schemas.microsoft.com/office/drawing/2014/main" id="{825324B5-F614-4AB3-AE56-CBA0160A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619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5A7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</p:sp>
      <p:sp>
        <p:nvSpPr>
          <p:cNvPr id="101" name="kg-node-5">
            <a:extLst xmlns:a="http://schemas.openxmlformats.org/drawingml/2006/main">
              <a:ext uri="{FF2B5EF4-FFF2-40B4-BE49-F238E27FC236}">
                <a16:creationId xmlns:a16="http://schemas.microsoft.com/office/drawing/2014/main" id="{2FE1D72F-A891-4B7A-976A-9552CA92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829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9EF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</p:sp>
      <p:sp>
        <p:nvSpPr>
          <p:cNvPr id="102" name="kg-node-6">
            <a:extLst xmlns:a="http://schemas.openxmlformats.org/drawingml/2006/main">
              <a:ext uri="{FF2B5EF4-FFF2-40B4-BE49-F238E27FC236}">
                <a16:creationId xmlns:a16="http://schemas.microsoft.com/office/drawing/2014/main" id="{36780180-9F63-459F-9CBA-9771CD64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752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</p:sp>
      <p:sp>
        <p:nvSpPr>
          <p:cNvPr id="103" name="kg-node-7">
            <a:extLst xmlns:a="http://schemas.openxmlformats.org/drawingml/2006/main">
              <a:ext uri="{FF2B5EF4-FFF2-40B4-BE49-F238E27FC236}">
                <a16:creationId xmlns:a16="http://schemas.microsoft.com/office/drawing/2014/main" id="{9D576675-F91B-4091-B988-18AC1B53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114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7D5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</p:sp>
      <p:sp>
        <p:nvSpPr>
          <p:cNvPr id="104" name="kg-node-8">
            <a:extLst xmlns:a="http://schemas.openxmlformats.org/drawingml/2006/main">
              <a:ext uri="{FF2B5EF4-FFF2-40B4-BE49-F238E27FC236}">
                <a16:creationId xmlns:a16="http://schemas.microsoft.com/office/drawing/2014/main" id="{DD41C277-60AC-40D5-A488-E52CA195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57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BD5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</p:sp>
      <p:sp>
        <p:nvSpPr>
          <p:cNvPr id="105" name="kg-node-9">
            <a:extLst xmlns:a="http://schemas.openxmlformats.org/drawingml/2006/main">
              <a:ext uri="{FF2B5EF4-FFF2-40B4-BE49-F238E27FC236}">
                <a16:creationId xmlns:a16="http://schemas.microsoft.com/office/drawing/2014/main" id="{011908FF-7C78-4687-BCA6-94913F52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552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9EF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</p:sp>
      <p:sp>
        <p:nvSpPr>
          <p:cNvPr id="106" name="kg-node-10">
            <a:extLst xmlns:a="http://schemas.openxmlformats.org/drawingml/2006/main">
              <a:ext uri="{FF2B5EF4-FFF2-40B4-BE49-F238E27FC236}">
                <a16:creationId xmlns:a16="http://schemas.microsoft.com/office/drawing/2014/main" id="{CE61DF2C-40CB-4F57-80A4-E62BC9BE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400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FE9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</p:sp>
      <p:sp>
        <p:nvSpPr>
          <p:cNvPr id="107" name="provenance-case">
            <a:extLst xmlns:a="http://schemas.openxmlformats.org/drawingml/2006/main">
              <a:ext uri="{FF2B5EF4-FFF2-40B4-BE49-F238E27FC236}">
                <a16:creationId xmlns:a16="http://schemas.microsoft.com/office/drawing/2014/main" id="{31B413DE-1107-4C9A-8B06-BC5FD839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429250"/>
            <a:ext cx="4381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case</a:t>
            </a:r>
          </a:p>
        </p:txBody>
      </p:sp>
      <p:sp>
        <p:nvSpPr>
          <p:cNvPr id="108" name="provenance-evidence">
            <a:extLst xmlns:a="http://schemas.openxmlformats.org/drawingml/2006/main">
              <a:ext uri="{FF2B5EF4-FFF2-40B4-BE49-F238E27FC236}">
                <a16:creationId xmlns:a16="http://schemas.microsoft.com/office/drawing/2014/main" id="{33ED2089-D047-4F0F-8E0D-577D7229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429250"/>
            <a:ext cx="5524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920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109" name="provenance-votes">
            <a:extLst xmlns:a="http://schemas.openxmlformats.org/drawingml/2006/main">
              <a:ext uri="{FF2B5EF4-FFF2-40B4-BE49-F238E27FC236}">
                <a16:creationId xmlns:a16="http://schemas.microsoft.com/office/drawing/2014/main" id="{37A35C63-D7B9-4C33-89EF-D18144B3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429250"/>
            <a:ext cx="38100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votes</a:t>
            </a:r>
          </a:p>
        </p:txBody>
      </p:sp>
      <p:cxnSp>
        <p:nvCxnSpPr>
          <p:cNvPr id="275" name="flow-report-to-evidence"/>
          <p:cNvCxnSpPr>
            <a:stCxn xmlns:a="http://schemas.openxmlformats.org/drawingml/2006/main" id="10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314450" y="1781175"/>
            <a:ext cx="47625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6" name="flow-evidence-to-discovery"/>
          <p:cNvCxnSpPr>
            <a:stCxn xmlns:a="http://schemas.openxmlformats.org/drawingml/2006/main" id="28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933700" y="2743200"/>
            <a:ext cx="15240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7" name="flow-discovery-to-direct"/>
          <p:cNvCxnSpPr>
            <a:stCxn xmlns:a="http://schemas.openxmlformats.org/drawingml/2006/main" id="38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 flipV="1">
            <a:off x="4286250" y="2643188"/>
            <a:ext cx="666750" cy="566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8" name="flow-questionbank-to-llm"/>
          <p:cNvCxnSpPr>
            <a:stCxn xmlns:a="http://schemas.openxmlformats.org/drawingml/2006/main" id="70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6296025" y="1295400"/>
            <a:ext cx="190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9" name="flow-llm-to-cascade"/>
          <p:cNvCxnSpPr>
            <a:stCxn xmlns:a="http://schemas.openxmlformats.org/drawingml/2006/main" id="76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6315075" y="1905000"/>
            <a:ext cx="15240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80" name="cascade-culture-management"/>
          <p:cNvCxnSpPr>
            <a:stCxn xmlns:a="http://schemas.openxmlformats.org/drawingml/2006/main" id="80" idx="1"/>
            <a:endCxn xmlns:a="http://schemas.openxmlformats.org/drawingml/2006/main" id="79" idx="3"/>
          </p:cNvCxnSpPr>
          <p:nvPr/>
        </p:nvCxnSpPr>
        <p:spPr>
          <a:xfrm xmlns:a="http://schemas.openxmlformats.org/drawingml/2006/main" flipH="1" flipV="1">
            <a:off x="6953250" y="2600325"/>
            <a:ext cx="276225" cy="428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81" name="cascade-management-direct"/>
          <p:cNvCxnSpPr>
            <a:stCxn xmlns:a="http://schemas.openxmlformats.org/drawingml/2006/main" id="79" idx="1"/>
            <a:endCxn xmlns:a="http://schemas.openxmlformats.org/drawingml/2006/main" id="78" idx="3"/>
          </p:cNvCxnSpPr>
          <p:nvPr/>
        </p:nvCxnSpPr>
        <p:spPr>
          <a:xfrm xmlns:a="http://schemas.openxmlformats.org/drawingml/2006/main" flipH="1">
            <a:off x="5695950" y="2600325"/>
            <a:ext cx="285750" cy="428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82" name="cascade-direct-process"/>
          <p:cNvCxnSpPr>
            <a:stCxn xmlns:a="http://schemas.openxmlformats.org/drawingml/2006/main" id="78" idx="2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5324475" y="2905125"/>
            <a:ext cx="771525" cy="46196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83" name="flow-cascade-to-output"/>
          <p:cNvCxnSpPr>
            <a:stCxn xmlns:a="http://schemas.openxmlformats.org/drawingml/2006/main" id="77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 flipH="1">
            <a:off x="5276850" y="3848100"/>
            <a:ext cx="113347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84" name="vote-output-v1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 flipV="1">
            <a:off x="5734050" y="4552950"/>
            <a:ext cx="26670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55E00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285" name="vote-output-v2"/>
          <p:cNvCxnSpPr>
            <a:stCxn xmlns:a="http://schemas.openxmlformats.org/drawingml/2006/main" id="82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5734050" y="5076825"/>
            <a:ext cx="2667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55E00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286" name="vote-output-v3"/>
          <p:cNvCxnSpPr>
            <a:stCxn xmlns:a="http://schemas.openxmlformats.org/drawingml/2006/main" id="82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5734050" y="5076825"/>
            <a:ext cx="26670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55E00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287" name="vote-v1-majority"/>
          <p:cNvCxnSpPr>
            <a:stCxn xmlns:a="http://schemas.openxmlformats.org/drawingml/2006/main" id="83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7000875" y="4552950"/>
            <a:ext cx="238125" cy="514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88" name="vote-v2-majority"/>
          <p:cNvCxnSpPr>
            <a:stCxn xmlns:a="http://schemas.openxmlformats.org/drawingml/2006/main" id="84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 flipV="1">
            <a:off x="7000875" y="5067300"/>
            <a:ext cx="23812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89" name="vote-v3-majority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 flipV="1">
            <a:off x="7000875" y="5067300"/>
            <a:ext cx="238125" cy="590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0" name="flow-majority-to-typed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 flipH="1">
            <a:off x="6786563" y="5600700"/>
            <a:ext cx="938213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1" name="flow-typed-to-validator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 flipV="1">
            <a:off x="7953375" y="1343025"/>
            <a:ext cx="904875" cy="4933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2" name="flow-valid-to-casegraph"/>
          <p:cNvCxnSpPr>
            <a:stCxn xmlns:a="http://schemas.openxmlformats.org/drawingml/2006/main" id="88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 flipH="1">
            <a:off x="9629775" y="1685925"/>
            <a:ext cx="3810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3" name="flow-casegraph-string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9629775" y="30289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4" name="flow-string-embedding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9629775" y="36766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5" name="flow-embedding-match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9629775" y="43243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6" name="flow-match-merge"/>
          <p:cNvCxnSpPr>
            <a:stCxn xmlns:a="http://schemas.openxmlformats.org/drawingml/2006/main" id="93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9629775" y="51435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7" name="flow-merge-kg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 flipV="1">
            <a:off x="10496550" y="3714750"/>
            <a:ext cx="666750" cy="1943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3" name="repair-loop-out">
            <a:extLst xmlns:a="http://schemas.openxmlformats.org/drawingml/2006/main">
              <a:ext uri="{FF2B5EF4-FFF2-40B4-BE49-F238E27FC236}">
                <a16:creationId xmlns:a16="http://schemas.microsoft.com/office/drawing/2014/main" id="{1E71FAEB-8396-47A5-852F-7328DB18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762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4" name="repair-loop-return-1">
            <a:extLst xmlns:a="http://schemas.openxmlformats.org/drawingml/2006/main">
              <a:ext uri="{FF2B5EF4-FFF2-40B4-BE49-F238E27FC236}">
                <a16:creationId xmlns:a16="http://schemas.microsoft.com/office/drawing/2014/main" id="{3A8FEB3E-AAA6-494D-B9A3-E5752E51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609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5" name="repair-loop-return-2">
            <a:extLst xmlns:a="http://schemas.openxmlformats.org/drawingml/2006/main">
              <a:ext uri="{FF2B5EF4-FFF2-40B4-BE49-F238E27FC236}">
                <a16:creationId xmlns:a16="http://schemas.microsoft.com/office/drawing/2014/main" id="{60B7A500-4DD2-48EB-A685-8478DF9B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572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1" name="repair-invalid-a"/>
          <p:cNvCxnSpPr>
            <a:stCxn xmlns:a="http://schemas.openxmlformats.org/drawingml/2006/main" id="88" idx="3"/>
            <a:endCxn xmlns:a="http://schemas.openxmlformats.org/drawingml/2006/main" id="133" idx="2"/>
          </p:cNvCxnSpPr>
          <p:nvPr/>
        </p:nvCxnSpPr>
        <p:spPr>
          <a:xfrm xmlns:a="http://schemas.openxmlformats.org/drawingml/2006/main">
            <a:off x="10477500" y="1343025"/>
            <a:ext cx="3619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9E73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02" name="repair-invalid-b"/>
          <p:cNvCxnSpPr>
            <a:stCxn xmlns:a="http://schemas.openxmlformats.org/drawingml/2006/main" id="133" idx="4"/>
            <a:endCxn xmlns:a="http://schemas.openxmlformats.org/drawingml/2006/main" id="89" idx="0"/>
          </p:cNvCxnSpPr>
          <p:nvPr/>
        </p:nvCxnSpPr>
        <p:spPr>
          <a:xfrm xmlns:a="http://schemas.openxmlformats.org/drawingml/2006/main" flipH="1">
            <a:off x="10406063" y="1781175"/>
            <a:ext cx="442913" cy="200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09E7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03" name="repair-return-a"/>
          <p:cNvCxnSpPr>
            <a:stCxn xmlns:a="http://schemas.openxmlformats.org/drawingml/2006/main" id="89" idx="3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0906125" y="2209800"/>
            <a:ext cx="38100" cy="400050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009E73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04" name="repair-return-b"/>
          <p:cNvCxnSpPr>
            <a:stCxn xmlns:a="http://schemas.openxmlformats.org/drawingml/2006/main" id="134" idx="0"/>
            <a:endCxn xmlns:a="http://schemas.openxmlformats.org/drawingml/2006/main" id="135" idx="4"/>
          </p:cNvCxnSpPr>
          <p:nvPr/>
        </p:nvCxnSpPr>
        <p:spPr>
          <a:xfrm xmlns:a="http://schemas.openxmlformats.org/drawingml/2006/main" flipH="1" flipV="1">
            <a:off x="10715625" y="876300"/>
            <a:ext cx="228600" cy="1733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09E73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05" name="repair-return-c"/>
          <p:cNvCxnSpPr>
            <a:stCxn xmlns:a="http://schemas.openxmlformats.org/drawingml/2006/main" id="135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 flipH="1">
            <a:off x="9667875" y="866775"/>
            <a:ext cx="1038225" cy="133350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009E73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141" name="repair-invalid-label">
            <a:extLst xmlns:a="http://schemas.openxmlformats.org/drawingml/2006/main">
              <a:ext uri="{FF2B5EF4-FFF2-40B4-BE49-F238E27FC236}">
                <a16:creationId xmlns:a16="http://schemas.microsoft.com/office/drawing/2014/main" id="{2556769B-1B3D-4AA4-873F-CFE6D0EA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14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invalid</a:t>
            </a:r>
          </a:p>
        </p:txBody>
      </p:sp>
      <p:sp>
        <p:nvSpPr>
          <p:cNvPr id="142" name="validator-valid-label">
            <a:extLst xmlns:a="http://schemas.openxmlformats.org/drawingml/2006/main">
              <a:ext uri="{FF2B5EF4-FFF2-40B4-BE49-F238E27FC236}">
                <a16:creationId xmlns:a16="http://schemas.microsoft.com/office/drawing/2014/main" id="{653EED6F-642B-457C-A26B-E79EDED7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71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valid</a:t>
            </a:r>
          </a:p>
        </p:txBody>
      </p:sp>
      <p:sp>
        <p:nvSpPr>
          <p:cNvPr id="143" name="repair-limit-label">
            <a:extLst xmlns:a="http://schemas.openxmlformats.org/drawingml/2006/main">
              <a:ext uri="{FF2B5EF4-FFF2-40B4-BE49-F238E27FC236}">
                <a16:creationId xmlns:a16="http://schemas.microsoft.com/office/drawing/2014/main" id="{B6B72078-9F44-4A97-B4A2-AF3F0CE0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7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1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1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R &lt;= 1</a:t>
            </a:r>
          </a:p>
        </p:txBody>
      </p:sp>
      <p:cxnSp>
        <p:nvCxnSpPr>
          <p:cNvPr id="309" name="gleaning-loop-a"/>
          <p:cNvCxnSpPr>
            <a:stCxn xmlns:a="http://schemas.openxmlformats.org/drawingml/2006/main" id="38" idx="0"/>
            <a:endCxn xmlns:a="http://schemas.openxmlformats.org/drawingml/2006/main" id="68" idx="4"/>
          </p:cNvCxnSpPr>
          <p:nvPr/>
        </p:nvCxnSpPr>
        <p:spPr>
          <a:xfrm xmlns:a="http://schemas.openxmlformats.org/drawingml/2006/main" flipV="1">
            <a:off x="3686175" y="952500"/>
            <a:ext cx="28575" cy="114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072B2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10" name="gleaning-loop-b"/>
          <p:cNvCxnSpPr>
            <a:stCxn xmlns:a="http://schemas.openxmlformats.org/drawingml/2006/main" id="68" idx="2"/>
            <a:endCxn xmlns:a="http://schemas.openxmlformats.org/drawingml/2006/main" id="69" idx="6"/>
          </p:cNvCxnSpPr>
          <p:nvPr/>
        </p:nvCxnSpPr>
        <p:spPr>
          <a:xfrm xmlns:a="http://schemas.openxmlformats.org/drawingml/2006/main" flipH="1">
            <a:off x="2400300" y="942975"/>
            <a:ext cx="13049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72B2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11" name="gleaning-loop-c"/>
          <p:cNvCxnSpPr>
            <a:stCxn xmlns:a="http://schemas.openxmlformats.org/drawingml/2006/main" id="69" idx="4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2362200" y="952500"/>
            <a:ext cx="28575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072B2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147" name="constraint-label-1">
            <a:extLst xmlns:a="http://schemas.openxmlformats.org/drawingml/2006/main">
              <a:ext uri="{FF2B5EF4-FFF2-40B4-BE49-F238E27FC236}">
                <a16:creationId xmlns:a16="http://schemas.microsoft.com/office/drawing/2014/main" id="{8569429D-25C5-4C32-B01A-4A072FD9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108585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6668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1664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ontology-constrained</a:t>
            </a:r>
          </a:p>
        </p:txBody>
      </p:sp>
      <p:sp>
        <p:nvSpPr>
          <p:cNvPr id="148" name="constraint-label-2">
            <a:extLst xmlns:a="http://schemas.openxmlformats.org/drawingml/2006/main">
              <a:ext uri="{FF2B5EF4-FFF2-40B4-BE49-F238E27FC236}">
                <a16:creationId xmlns:a16="http://schemas.microsoft.com/office/drawing/2014/main" id="{4EC5E590-87C3-4E09-8AB4-3EBA3465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52625"/>
            <a:ext cx="131445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3E2"/>
          </a:solidFill>
          <a:ln xmlns:a="http://schemas.openxmlformats.org/drawingml/2006/main" w="6668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1664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ontology-constrained</a:t>
            </a:r>
          </a:p>
        </p:txBody>
      </p:sp>
      <p:sp>
        <p:nvSpPr>
          <p:cNvPr id="149" name="constraint-label-3">
            <a:extLst xmlns:a="http://schemas.openxmlformats.org/drawingml/2006/main">
              <a:ext uri="{FF2B5EF4-FFF2-40B4-BE49-F238E27FC236}">
                <a16:creationId xmlns:a16="http://schemas.microsoft.com/office/drawing/2014/main" id="{6E75AED5-0F85-4B26-AEBE-881156B9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742950"/>
            <a:ext cx="131445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7F7F1"/>
          </a:solidFill>
          <a:ln xmlns:a="http://schemas.openxmlformats.org/drawingml/2006/main" w="666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1664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ontology-constrained</a:t>
            </a:r>
          </a:p>
        </p:txBody>
      </p:sp>
      <p:cxnSp>
        <p:nvCxnSpPr>
          <p:cNvPr id="315" name="kg-edge-1"/>
          <p:cNvCxnSpPr>
            <a:stCxn xmlns:a="http://schemas.openxmlformats.org/drawingml/2006/main" id="97" idx="6"/>
            <a:endCxn xmlns:a="http://schemas.openxmlformats.org/drawingml/2006/main" id="98" idx="2"/>
          </p:cNvCxnSpPr>
          <p:nvPr/>
        </p:nvCxnSpPr>
        <p:spPr>
          <a:xfrm xmlns:a="http://schemas.openxmlformats.org/drawingml/2006/main" flipV="1">
            <a:off x="11601450" y="2905125"/>
            <a:ext cx="4000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6" name="kg-edge-2"/>
          <p:cNvCxnSpPr>
            <a:stCxn xmlns:a="http://schemas.openxmlformats.org/drawingml/2006/main" id="97" idx="6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H="1">
            <a:off x="11430000" y="3076575"/>
            <a:ext cx="1714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7" name="kg-edge-3"/>
          <p:cNvCxnSpPr>
            <a:stCxn xmlns:a="http://schemas.openxmlformats.org/drawingml/2006/main" id="97" idx="6"/>
            <a:endCxn xmlns:a="http://schemas.openxmlformats.org/drawingml/2006/main" id="101" idx="2"/>
          </p:cNvCxnSpPr>
          <p:nvPr/>
        </p:nvCxnSpPr>
        <p:spPr>
          <a:xfrm xmlns:a="http://schemas.openxmlformats.org/drawingml/2006/main">
            <a:off x="11601450" y="3076575"/>
            <a:ext cx="20955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8" name="kg-edge-4"/>
          <p:cNvCxnSpPr>
            <a:stCxn xmlns:a="http://schemas.openxmlformats.org/drawingml/2006/main" id="98" idx="6"/>
            <a:endCxn xmlns:a="http://schemas.openxmlformats.org/drawingml/2006/main" id="99" idx="2"/>
          </p:cNvCxnSpPr>
          <p:nvPr/>
        </p:nvCxnSpPr>
        <p:spPr>
          <a:xfrm xmlns:a="http://schemas.openxmlformats.org/drawingml/2006/main">
            <a:off x="12211050" y="2905125"/>
            <a:ext cx="17145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9" name="kg-edge-5"/>
          <p:cNvCxnSpPr>
            <a:stCxn xmlns:a="http://schemas.openxmlformats.org/drawingml/2006/main" id="100" idx="6"/>
            <a:endCxn xmlns:a="http://schemas.openxmlformats.org/drawingml/2006/main" id="101" idx="2"/>
          </p:cNvCxnSpPr>
          <p:nvPr/>
        </p:nvCxnSpPr>
        <p:spPr>
          <a:xfrm xmlns:a="http://schemas.openxmlformats.org/drawingml/2006/main">
            <a:off x="11639550" y="3724275"/>
            <a:ext cx="1714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0" name="kg-edge-6"/>
          <p:cNvCxnSpPr>
            <a:stCxn xmlns:a="http://schemas.openxmlformats.org/drawingml/2006/main" id="101" idx="6"/>
            <a:endCxn xmlns:a="http://schemas.openxmlformats.org/drawingml/2006/main" id="102" idx="2"/>
          </p:cNvCxnSpPr>
          <p:nvPr/>
        </p:nvCxnSpPr>
        <p:spPr>
          <a:xfrm xmlns:a="http://schemas.openxmlformats.org/drawingml/2006/main" flipV="1">
            <a:off x="12020550" y="3857625"/>
            <a:ext cx="17145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1" name="kg-edge-7"/>
          <p:cNvCxnSpPr>
            <a:stCxn xmlns:a="http://schemas.openxmlformats.org/drawingml/2006/main" id="102" idx="6"/>
            <a:endCxn xmlns:a="http://schemas.openxmlformats.org/drawingml/2006/main" id="99" idx="2"/>
          </p:cNvCxnSpPr>
          <p:nvPr/>
        </p:nvCxnSpPr>
        <p:spPr>
          <a:xfrm xmlns:a="http://schemas.openxmlformats.org/drawingml/2006/main" flipH="1" flipV="1">
            <a:off x="12382500" y="3362325"/>
            <a:ext cx="190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2" name="kg-edge-8"/>
          <p:cNvCxnSpPr>
            <a:stCxn xmlns:a="http://schemas.openxmlformats.org/drawingml/2006/main" id="102" idx="6"/>
            <a:endCxn xmlns:a="http://schemas.openxmlformats.org/drawingml/2006/main" id="103" idx="2"/>
          </p:cNvCxnSpPr>
          <p:nvPr/>
        </p:nvCxnSpPr>
        <p:spPr>
          <a:xfrm xmlns:a="http://schemas.openxmlformats.org/drawingml/2006/main">
            <a:off x="12401550" y="3857625"/>
            <a:ext cx="7620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3" name="kg-edge-9"/>
          <p:cNvCxnSpPr>
            <a:stCxn xmlns:a="http://schemas.openxmlformats.org/drawingml/2006/main" id="104" idx="6"/>
            <a:endCxn xmlns:a="http://schemas.openxmlformats.org/drawingml/2006/main" id="101" idx="2"/>
          </p:cNvCxnSpPr>
          <p:nvPr/>
        </p:nvCxnSpPr>
        <p:spPr>
          <a:xfrm xmlns:a="http://schemas.openxmlformats.org/drawingml/2006/main" flipV="1">
            <a:off x="11734800" y="3933825"/>
            <a:ext cx="7620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4" name="kg-edge-10"/>
          <p:cNvCxnSpPr>
            <a:stCxn xmlns:a="http://schemas.openxmlformats.org/drawingml/2006/main" id="101" idx="6"/>
            <a:endCxn xmlns:a="http://schemas.openxmlformats.org/drawingml/2006/main" id="105" idx="2"/>
          </p:cNvCxnSpPr>
          <p:nvPr/>
        </p:nvCxnSpPr>
        <p:spPr>
          <a:xfrm xmlns:a="http://schemas.openxmlformats.org/drawingml/2006/main" flipH="1">
            <a:off x="11944350" y="3933825"/>
            <a:ext cx="7620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5" name="kg-edge-11"/>
          <p:cNvCxnSpPr>
            <a:stCxn xmlns:a="http://schemas.openxmlformats.org/drawingml/2006/main" id="105" idx="6"/>
            <a:endCxn xmlns:a="http://schemas.openxmlformats.org/drawingml/2006/main" id="106" idx="2"/>
          </p:cNvCxnSpPr>
          <p:nvPr/>
        </p:nvCxnSpPr>
        <p:spPr>
          <a:xfrm xmlns:a="http://schemas.openxmlformats.org/drawingml/2006/main" flipV="1">
            <a:off x="12153900" y="4505325"/>
            <a:ext cx="7620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6" name="kg-edge-12"/>
          <p:cNvCxnSpPr>
            <a:stCxn xmlns:a="http://schemas.openxmlformats.org/drawingml/2006/main" id="106" idx="6"/>
            <a:endCxn xmlns:a="http://schemas.openxmlformats.org/drawingml/2006/main" id="102" idx="2"/>
          </p:cNvCxnSpPr>
          <p:nvPr/>
        </p:nvCxnSpPr>
        <p:spPr>
          <a:xfrm xmlns:a="http://schemas.openxmlformats.org/drawingml/2006/main" flipH="1" flipV="1">
            <a:off x="12192000" y="3857625"/>
            <a:ext cx="2476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7" name="kg-edge-13"/>
          <p:cNvCxnSpPr>
            <a:stCxn xmlns:a="http://schemas.openxmlformats.org/drawingml/2006/main" id="106" idx="6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12439650" y="4219575"/>
            <a:ext cx="381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8" name="kg-provenance-case"/>
          <p:cNvCxnSpPr>
            <a:stCxn xmlns:a="http://schemas.openxmlformats.org/drawingml/2006/main" id="95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 flipH="1">
            <a:off x="11439525" y="5143500"/>
            <a:ext cx="48577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2222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29" name="kg-provenance-evidence"/>
          <p:cNvCxnSpPr>
            <a:stCxn xmlns:a="http://schemas.openxmlformats.org/drawingml/2006/main" id="95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11925300" y="5143500"/>
            <a:ext cx="8572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2222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30" name="kg-provenance-votes"/>
          <p:cNvCxnSpPr>
            <a:stCxn xmlns:a="http://schemas.openxmlformats.org/drawingml/2006/main" id="95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11925300" y="5143500"/>
            <a:ext cx="6286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22222"/>
            </a:solidFill>
            <a:prstDash val="dash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73246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2026-08-27T05:25:33.7450000Z</dcterms:created>
  <dcterms:modified xsi:type="dcterms:W3CDTF">2026-08-27T05:25:33.7450000Z</dcterms:modified>
</coreProperties>
</file>