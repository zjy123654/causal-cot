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6f2bbb756c4e4f" /><Relationship Type="http://schemas.openxmlformats.org/officeDocument/2006/relationships/extended-properties" Target="/docProps/app.xml" Id="R67794792736a40d5" /><Relationship Type="http://schemas.openxmlformats.org/officeDocument/2006/relationships/officeDocument" Target="/ppt/presentation.xml" Id="Rabc95cfbde5f4b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1260a65a9046dd"/>
  </p:sldMasterIdLst>
  <p:notesMasterIdLst>
    <p:notesMasterId xmlns:r="http://schemas.openxmlformats.org/officeDocument/2006/relationships" r:id="Rb5d15fd407c34db7"/>
  </p:notesMasterIdLst>
  <p:sldIdLst>
    <p:sldId xmlns:r="http://schemas.openxmlformats.org/officeDocument/2006/relationships" id="256" r:id="R95e2811ca88642fe"/>
  </p:sldIdLst>
  <p:sldSz cx="13716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b219eb3aa14d08" /><Relationship Type="http://schemas.openxmlformats.org/officeDocument/2006/relationships/slideMaster" Target="/ppt/slideMasters/slideMaster1.xml" Id="R791260a65a9046dd" /><Relationship Type="http://schemas.openxmlformats.org/officeDocument/2006/relationships/notesMaster" Target="/ppt/notesMasters/notesMaster1.xml" Id="Rb5d15fd407c34db7" /><Relationship Type="http://schemas.openxmlformats.org/officeDocument/2006/relationships/presProps" Target="/ppt/presProps.xml" Id="R6fd36946efaa4fab" /><Relationship Type="http://schemas.openxmlformats.org/officeDocument/2006/relationships/tableStyles" Target="/ppt/tableStyles.xml" Id="Rc2e95888af6341d7" /><Relationship Type="http://schemas.openxmlformats.org/officeDocument/2006/relationships/slide" Target="/ppt/slides/slide1.xml" Id="R95e2811ca88642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479acd87654c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fdb96b1133486e" /><Relationship Type="http://schemas.openxmlformats.org/officeDocument/2006/relationships/notesMaster" Target="/ppt/notesMasters/notesMaster1.xml" Id="R6b45c4976b7849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User-authored Section 3.4: F:/硕士阶段的论文/投稿EAAI/R1/Data and code/results/methodology/section_3_4_causal_effect_estimation.md</a:t>
            </a:r>
          </a:p>
          <a:p xmlns:a="http://schemas.openxmlformats.org/drawingml/2006/main">
            <a:r>
              <a:t>- Causal-analysis implementation: F:/硕士阶段的论文/投稿EAAI/R1/Data and code/src/causal_analysis/</a:t>
            </a:r>
          </a:p>
          <a:p xmlns:a="http://schemas.openxmlformats.org/drawingml/2006/main">
            <a:r>
              <a:t>- Active parameters: F:/硕士阶段的论文/投稿EAAI/R1/Data and code/configs/settings.yaml</a:t>
            </a:r>
          </a:p>
          <a:p xmlns:a="http://schemas.openxmlformats.org/drawingml/2006/main">
            <a:r>
              <a:t>- Reference composition principles: CCFA Visual Composer paper-mechanism figure guidance; no external figure was copied.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visible elements are native editable PowerPoint shapes, connectors, lines, and live text. The attempted GPT Image 2 concept pass was unavailable because of a network error, so the figure was reconstructed deterministically from the approved visual contract.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8b95c9eeb64d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b56d4bf2be49d4" /><Relationship Type="http://schemas.openxmlformats.org/officeDocument/2006/relationships/slideLayout" Target="/ppt/slideLayouts/slideLayout1.xml" Id="R43818a3ddb944c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818a3ddb944c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cd4831565458e" /><Relationship Type="http://schemas.openxmlformats.org/officeDocument/2006/relationships/notesSlide" Target="/ppt/notesSlides/notesSlide1.xml" Id="Rdb18abb2b5c24f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8" name="panel-a">
            <a:extLst xmlns:a="http://schemas.openxmlformats.org/drawingml/2006/main">
              <a:ext uri="{FF2B5EF4-FFF2-40B4-BE49-F238E27FC236}">
                <a16:creationId xmlns:a16="http://schemas.microsoft.com/office/drawing/2014/main" id="{825A216C-A443-4523-B8BE-5B843517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714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(a)</a:t>
            </a:r>
          </a:p>
        </p:txBody>
      </p:sp>
      <p:sp>
        <p:nvSpPr>
          <p:cNvPr id="2" name="panel-a-title">
            <a:extLst xmlns:a="http://schemas.openxmlformats.org/drawingml/2006/main">
              <a:ext uri="{FF2B5EF4-FFF2-40B4-BE49-F238E27FC236}">
                <a16:creationId xmlns:a16="http://schemas.microsoft.com/office/drawing/2014/main" id="{A7A623CB-0745-4293-81C5-A6C577A2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Causal variable matrix</a:t>
            </a:r>
          </a:p>
        </p:txBody>
      </p:sp>
      <p:sp>
        <p:nvSpPr>
          <p:cNvPr id="3" name="panel-b">
            <a:extLst xmlns:a="http://schemas.openxmlformats.org/drawingml/2006/main">
              <a:ext uri="{FF2B5EF4-FFF2-40B4-BE49-F238E27FC236}">
                <a16:creationId xmlns:a16="http://schemas.microsoft.com/office/drawing/2014/main" id="{F2758C8F-31CC-44D6-A716-80165222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14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(b)</a:t>
            </a:r>
          </a:p>
        </p:txBody>
      </p:sp>
      <p:sp>
        <p:nvSpPr>
          <p:cNvPr id="4" name="panel-b-title">
            <a:extLst xmlns:a="http://schemas.openxmlformats.org/drawingml/2006/main">
              <a:ext uri="{FF2B5EF4-FFF2-40B4-BE49-F238E27FC236}">
                <a16:creationId xmlns:a16="http://schemas.microsoft.com/office/drawing/2014/main" id="{E00B8E4D-E61E-4CD3-BCE5-8B3B1924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71450"/>
            <a:ext cx="4772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24Model prior graph and adjustment</a:t>
            </a:r>
          </a:p>
        </p:txBody>
      </p:sp>
      <p:sp>
        <p:nvSpPr>
          <p:cNvPr id="5" name="panel-c">
            <a:extLst xmlns:a="http://schemas.openxmlformats.org/drawingml/2006/main">
              <a:ext uri="{FF2B5EF4-FFF2-40B4-BE49-F238E27FC236}">
                <a16:creationId xmlns:a16="http://schemas.microsoft.com/office/drawing/2014/main" id="{0F53C789-13AC-4038-BDEE-9151BE50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rPr>
              <a:t>(c)</a:t>
            </a:r>
          </a:p>
        </p:txBody>
      </p:sp>
      <p:sp>
        <p:nvSpPr>
          <p:cNvPr id="6" name="panel-c-title">
            <a:extLst xmlns:a="http://schemas.openxmlformats.org/drawingml/2006/main">
              <a:ext uri="{FF2B5EF4-FFF2-40B4-BE49-F238E27FC236}">
                <a16:creationId xmlns:a16="http://schemas.microsoft.com/office/drawing/2014/main" id="{4A93E7BE-66A0-4DC2-BAF8-B4A0FF90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1450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rPr>
              <a:t>Identification, estimation, and screening</a:t>
            </a:r>
          </a:p>
        </p:txBody>
      </p:sp>
      <p:sp>
        <p:nvSpPr>
          <p:cNvPr id="7" name="separator-a-b">
            <a:extLst xmlns:a="http://schemas.openxmlformats.org/drawingml/2006/main">
              <a:ext uri="{FF2B5EF4-FFF2-40B4-BE49-F238E27FC236}">
                <a16:creationId xmlns:a16="http://schemas.microsoft.com/office/drawing/2014/main" id="{EF8AB0E4-95E4-40C7-89EB-5848262C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2400"/>
            <a:ext cx="0" cy="6534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4D8"/>
            </a:solidFill>
            <a:prstDash val="solid"/>
          </a:ln>
        </p:spPr>
      </p:sp>
      <p:sp>
        <p:nvSpPr>
          <p:cNvPr id="8" name="separator-b-c">
            <a:extLst xmlns:a="http://schemas.openxmlformats.org/drawingml/2006/main">
              <a:ext uri="{FF2B5EF4-FFF2-40B4-BE49-F238E27FC236}">
                <a16:creationId xmlns:a16="http://schemas.microsoft.com/office/drawing/2014/main" id="{1133A558-F0FF-4231-AEEB-3120A44C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2400"/>
            <a:ext cx="0" cy="6534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4D8"/>
            </a:solidFill>
            <a:prstDash val="solid"/>
          </a:ln>
        </p:spPr>
      </p:sp>
      <p:sp>
        <p:nvSpPr>
          <p:cNvPr id="9" name="canonical-hec-kg">
            <a:extLst xmlns:a="http://schemas.openxmlformats.org/drawingml/2006/main">
              <a:ext uri="{FF2B5EF4-FFF2-40B4-BE49-F238E27FC236}">
                <a16:creationId xmlns:a16="http://schemas.microsoft.com/office/drawing/2014/main" id="{68D47DEA-057C-409D-9D9A-BCF21A62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0"/>
            <a:ext cx="1000125" cy="1219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DF7FD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canonical-hec-kg-title">
            <a:extLst xmlns:a="http://schemas.openxmlformats.org/drawingml/2006/main">
              <a:ext uri="{FF2B5EF4-FFF2-40B4-BE49-F238E27FC236}">
                <a16:creationId xmlns:a16="http://schemas.microsoft.com/office/drawing/2014/main" id="{E661D9BE-4FC2-47A4-859E-887710B2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23900"/>
            <a:ext cx="885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2783"/>
          </a:bodyPr>
          <a:lstStyle xmlns:a="http://schemas.openxmlformats.org/drawingml/2006/main"/>
          <a:p xmlns:a="http://schemas.openxmlformats.org/drawingml/2006/main">
            <a:pPr algn="ctr">
              <a:defRPr sz="101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Canonical HEC-KG</a:t>
            </a:r>
          </a:p>
        </p:txBody>
      </p:sp>
      <p:sp>
        <p:nvSpPr>
          <p:cNvPr id="11" name="input-kg-n1">
            <a:extLst xmlns:a="http://schemas.openxmlformats.org/drawingml/2006/main">
              <a:ext uri="{FF2B5EF4-FFF2-40B4-BE49-F238E27FC236}">
                <a16:creationId xmlns:a16="http://schemas.microsoft.com/office/drawing/2014/main" id="{B7A4609B-E65B-48C2-807C-A3952FFD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049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12" name="input-kg-n2">
            <a:extLst xmlns:a="http://schemas.openxmlformats.org/drawingml/2006/main">
              <a:ext uri="{FF2B5EF4-FFF2-40B4-BE49-F238E27FC236}">
                <a16:creationId xmlns:a16="http://schemas.microsoft.com/office/drawing/2014/main" id="{FFD27F7B-F9C7-4AB7-87AD-5875F1E7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0477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5A7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13" name="input-kg-n3">
            <a:extLst xmlns:a="http://schemas.openxmlformats.org/drawingml/2006/main">
              <a:ext uri="{FF2B5EF4-FFF2-40B4-BE49-F238E27FC236}">
                <a16:creationId xmlns:a16="http://schemas.microsoft.com/office/drawing/2014/main" id="{A829C583-A332-4473-9C07-52A869EF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430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9EF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14" name="input-kg-n4">
            <a:extLst xmlns:a="http://schemas.openxmlformats.org/drawingml/2006/main">
              <a:ext uri="{FF2B5EF4-FFF2-40B4-BE49-F238E27FC236}">
                <a16:creationId xmlns:a16="http://schemas.microsoft.com/office/drawing/2014/main" id="{C8DEFC39-DAF2-43DA-B051-098D9035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5240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5A7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15" name="input-kg-n5">
            <a:extLst xmlns:a="http://schemas.openxmlformats.org/drawingml/2006/main">
              <a:ext uri="{FF2B5EF4-FFF2-40B4-BE49-F238E27FC236}">
                <a16:creationId xmlns:a16="http://schemas.microsoft.com/office/drawing/2014/main" id="{892B061D-0007-4029-B044-70C13D6B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6097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FE9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16" name="anonymized-cases">
            <a:extLst xmlns:a="http://schemas.openxmlformats.org/drawingml/2006/main">
              <a:ext uri="{FF2B5EF4-FFF2-40B4-BE49-F238E27FC236}">
                <a16:creationId xmlns:a16="http://schemas.microsoft.com/office/drawing/2014/main" id="{A410EDB2-1360-4103-B903-1299F965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095500"/>
            <a:ext cx="1000125" cy="1219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anonymized-cases-title">
            <a:extLst xmlns:a="http://schemas.openxmlformats.org/drawingml/2006/main">
              <a:ext uri="{FF2B5EF4-FFF2-40B4-BE49-F238E27FC236}">
                <a16:creationId xmlns:a16="http://schemas.microsoft.com/office/drawing/2014/main" id="{1D192C7C-0A11-4ECF-8172-94124DEF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152650"/>
            <a:ext cx="923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4806"/>
          </a:bodyPr>
          <a:lstStyle xmlns:a="http://schemas.openxmlformats.org/drawingml/2006/main"/>
          <a:p xmlns:a="http://schemas.openxmlformats.org/drawingml/2006/main">
            <a:pPr algn="ctr">
              <a:defRPr sz="101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Anonymized cases</a:t>
            </a:r>
          </a:p>
        </p:txBody>
      </p:sp>
      <p:sp>
        <p:nvSpPr>
          <p:cNvPr id="18" name="case-page-1">
            <a:extLst xmlns:a="http://schemas.openxmlformats.org/drawingml/2006/main">
              <a:ext uri="{FF2B5EF4-FFF2-40B4-BE49-F238E27FC236}">
                <a16:creationId xmlns:a16="http://schemas.microsoft.com/office/drawing/2014/main" id="{60197E8A-94F0-4F6E-B58D-AD47CEC9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505075"/>
            <a:ext cx="5143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A8A95"/>
            </a:solidFill>
            <a:prstDash val="solid"/>
          </a:ln>
        </p:spPr>
      </p:sp>
      <p:sp>
        <p:nvSpPr>
          <p:cNvPr id="19" name="case-page-0-line-0">
            <a:extLst xmlns:a="http://schemas.openxmlformats.org/drawingml/2006/main">
              <a:ext uri="{FF2B5EF4-FFF2-40B4-BE49-F238E27FC236}">
                <a16:creationId xmlns:a16="http://schemas.microsoft.com/office/drawing/2014/main" id="{6257C2C7-8BEC-4F1C-914E-566519AD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62890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A8A95"/>
            </a:solidFill>
            <a:prstDash val="solid"/>
          </a:ln>
        </p:spPr>
      </p:sp>
      <p:sp>
        <p:nvSpPr>
          <p:cNvPr id="20" name="case-page-0-line-1">
            <a:extLst xmlns:a="http://schemas.openxmlformats.org/drawingml/2006/main">
              <a:ext uri="{FF2B5EF4-FFF2-40B4-BE49-F238E27FC236}">
                <a16:creationId xmlns:a16="http://schemas.microsoft.com/office/drawing/2014/main" id="{921A1BC1-554E-4DE9-AD2A-A760F0AB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7241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A8A95"/>
            </a:solidFill>
            <a:prstDash val="solid"/>
          </a:ln>
        </p:spPr>
      </p:sp>
      <p:sp>
        <p:nvSpPr>
          <p:cNvPr id="21" name="case-page-0-line-2">
            <a:extLst xmlns:a="http://schemas.openxmlformats.org/drawingml/2006/main">
              <a:ext uri="{FF2B5EF4-FFF2-40B4-BE49-F238E27FC236}">
                <a16:creationId xmlns:a16="http://schemas.microsoft.com/office/drawing/2014/main" id="{0457D43E-EB1E-452A-9C02-54513EEE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8194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A8A95"/>
            </a:solidFill>
            <a:prstDash val="solid"/>
          </a:ln>
        </p:spPr>
      </p:sp>
      <p:sp>
        <p:nvSpPr>
          <p:cNvPr id="22" name="case-page-2">
            <a:extLst xmlns:a="http://schemas.openxmlformats.org/drawingml/2006/main">
              <a:ext uri="{FF2B5EF4-FFF2-40B4-BE49-F238E27FC236}">
                <a16:creationId xmlns:a16="http://schemas.microsoft.com/office/drawing/2014/main" id="{216CD926-038D-4ECB-B018-D0DD6AAF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43175"/>
            <a:ext cx="5143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A8A95"/>
            </a:solidFill>
            <a:prstDash val="solid"/>
          </a:ln>
        </p:spPr>
      </p:sp>
      <p:sp>
        <p:nvSpPr>
          <p:cNvPr id="23" name="case-page-1-line-0">
            <a:extLst xmlns:a="http://schemas.openxmlformats.org/drawingml/2006/main">
              <a:ext uri="{FF2B5EF4-FFF2-40B4-BE49-F238E27FC236}">
                <a16:creationId xmlns:a16="http://schemas.microsoft.com/office/drawing/2014/main" id="{DB3E5805-B0C0-437A-B10C-BBBB0978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66700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A8A95"/>
            </a:solidFill>
            <a:prstDash val="solid"/>
          </a:ln>
        </p:spPr>
      </p:sp>
      <p:sp>
        <p:nvSpPr>
          <p:cNvPr id="24" name="case-page-1-line-1">
            <a:extLst xmlns:a="http://schemas.openxmlformats.org/drawingml/2006/main">
              <a:ext uri="{FF2B5EF4-FFF2-40B4-BE49-F238E27FC236}">
                <a16:creationId xmlns:a16="http://schemas.microsoft.com/office/drawing/2014/main" id="{EB2D4D23-E26E-4098-949F-A69E993C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762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A8A95"/>
            </a:solidFill>
            <a:prstDash val="solid"/>
          </a:ln>
        </p:spPr>
      </p:sp>
      <p:sp>
        <p:nvSpPr>
          <p:cNvPr id="25" name="case-page-1-line-2">
            <a:extLst xmlns:a="http://schemas.openxmlformats.org/drawingml/2006/main">
              <a:ext uri="{FF2B5EF4-FFF2-40B4-BE49-F238E27FC236}">
                <a16:creationId xmlns:a16="http://schemas.microsoft.com/office/drawing/2014/main" id="{6565BB5A-0413-4530-9BC6-F38B49CB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8575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A8A95"/>
            </a:solidFill>
            <a:prstDash val="solid"/>
          </a:ln>
        </p:spPr>
      </p:sp>
      <p:sp>
        <p:nvSpPr>
          <p:cNvPr id="26" name="case-page-3">
            <a:extLst xmlns:a="http://schemas.openxmlformats.org/drawingml/2006/main">
              <a:ext uri="{FF2B5EF4-FFF2-40B4-BE49-F238E27FC236}">
                <a16:creationId xmlns:a16="http://schemas.microsoft.com/office/drawing/2014/main" id="{893154C9-EE8B-404E-9487-AD57F79B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81275"/>
            <a:ext cx="5143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A8A95"/>
            </a:solidFill>
            <a:prstDash val="solid"/>
          </a:ln>
        </p:spPr>
      </p:sp>
      <p:sp>
        <p:nvSpPr>
          <p:cNvPr id="27" name="case-page-2-line-0">
            <a:extLst xmlns:a="http://schemas.openxmlformats.org/drawingml/2006/main">
              <a:ext uri="{FF2B5EF4-FFF2-40B4-BE49-F238E27FC236}">
                <a16:creationId xmlns:a16="http://schemas.microsoft.com/office/drawing/2014/main" id="{D92CB8A7-8EB2-4AC7-A14B-8CEEB514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0510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A8A95"/>
            </a:solidFill>
            <a:prstDash val="solid"/>
          </a:ln>
        </p:spPr>
      </p:sp>
      <p:sp>
        <p:nvSpPr>
          <p:cNvPr id="28" name="case-page-2-line-1">
            <a:extLst xmlns:a="http://schemas.openxmlformats.org/drawingml/2006/main">
              <a:ext uri="{FF2B5EF4-FFF2-40B4-BE49-F238E27FC236}">
                <a16:creationId xmlns:a16="http://schemas.microsoft.com/office/drawing/2014/main" id="{310D7DC5-FFD3-47D9-A559-7E8480C6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003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A8A95"/>
            </a:solidFill>
            <a:prstDash val="solid"/>
          </a:ln>
        </p:spPr>
      </p:sp>
      <p:sp>
        <p:nvSpPr>
          <p:cNvPr id="29" name="case-page-2-line-2">
            <a:extLst xmlns:a="http://schemas.openxmlformats.org/drawingml/2006/main">
              <a:ext uri="{FF2B5EF4-FFF2-40B4-BE49-F238E27FC236}">
                <a16:creationId xmlns:a16="http://schemas.microsoft.com/office/drawing/2014/main" id="{DA8EEC55-E216-41A2-A6A2-965D09F7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956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A8A95"/>
            </a:solidFill>
            <a:prstDash val="solid"/>
          </a:ln>
        </p:spPr>
      </p:sp>
      <p:sp>
        <p:nvSpPr>
          <p:cNvPr id="30" name="case-page-4">
            <a:extLst xmlns:a="http://schemas.openxmlformats.org/drawingml/2006/main">
              <a:ext uri="{FF2B5EF4-FFF2-40B4-BE49-F238E27FC236}">
                <a16:creationId xmlns:a16="http://schemas.microsoft.com/office/drawing/2014/main" id="{8ACA5D04-AF10-4E87-87DC-0E05DF53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19375"/>
            <a:ext cx="5143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A8A95"/>
            </a:solidFill>
            <a:prstDash val="solid"/>
          </a:ln>
        </p:spPr>
      </p:sp>
      <p:sp>
        <p:nvSpPr>
          <p:cNvPr id="31" name="case-page-3-line-0">
            <a:extLst xmlns:a="http://schemas.openxmlformats.org/drawingml/2006/main">
              <a:ext uri="{FF2B5EF4-FFF2-40B4-BE49-F238E27FC236}">
                <a16:creationId xmlns:a16="http://schemas.microsoft.com/office/drawing/2014/main" id="{9EBEABC9-4534-4B5E-844A-AE7359CB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74320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A8A95"/>
            </a:solidFill>
            <a:prstDash val="solid"/>
          </a:ln>
        </p:spPr>
      </p:sp>
      <p:sp>
        <p:nvSpPr>
          <p:cNvPr id="32" name="case-page-3-line-1">
            <a:extLst xmlns:a="http://schemas.openxmlformats.org/drawingml/2006/main">
              <a:ext uri="{FF2B5EF4-FFF2-40B4-BE49-F238E27FC236}">
                <a16:creationId xmlns:a16="http://schemas.microsoft.com/office/drawing/2014/main" id="{AD913CE3-E976-437C-91C6-B16CD097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8384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A8A95"/>
            </a:solidFill>
            <a:prstDash val="solid"/>
          </a:ln>
        </p:spPr>
      </p:sp>
      <p:sp>
        <p:nvSpPr>
          <p:cNvPr id="33" name="case-page-3-line-2">
            <a:extLst xmlns:a="http://schemas.openxmlformats.org/drawingml/2006/main">
              <a:ext uri="{FF2B5EF4-FFF2-40B4-BE49-F238E27FC236}">
                <a16:creationId xmlns:a16="http://schemas.microsoft.com/office/drawing/2014/main" id="{1C9562B4-167C-4CD7-BD33-D4A65927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9337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A8A95"/>
            </a:solidFill>
            <a:prstDash val="solid"/>
          </a:ln>
        </p:spPr>
      </p:sp>
      <p:sp>
        <p:nvSpPr>
          <p:cNvPr id="34" name="case-provenance-mapping">
            <a:extLst xmlns:a="http://schemas.openxmlformats.org/drawingml/2006/main">
              <a:ext uri="{FF2B5EF4-FFF2-40B4-BE49-F238E27FC236}">
                <a16:creationId xmlns:a16="http://schemas.microsoft.com/office/drawing/2014/main" id="{296517E0-C36C-4840-AF0E-5C8D9EF7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238250"/>
            <a:ext cx="9715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72B2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Case provenance</a:t>
            </a:r>
          </a:p>
          <a:p xmlns:a="http://schemas.openxmlformats.org/drawingml/2006/main">
            <a:pPr algn="ctr">
              <a:defRPr sz="1125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mapping</a:t>
            </a:r>
          </a:p>
        </p:txBody>
      </p:sp>
      <p:sp>
        <p:nvSpPr>
          <p:cNvPr id="35" name="causal-matrix-frame">
            <a:extLst xmlns:a="http://schemas.openxmlformats.org/drawingml/2006/main">
              <a:ext uri="{FF2B5EF4-FFF2-40B4-BE49-F238E27FC236}">
                <a16:creationId xmlns:a16="http://schemas.microsoft.com/office/drawing/2014/main" id="{85E366FD-3917-497D-B98A-DD5A3E6D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723900"/>
            <a:ext cx="904875" cy="19240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DF7FD"/>
          </a:solidFill>
          <a:ln xmlns:a="http://schemas.openxmlformats.org/drawingml/2006/main" w="11430">
            <a:solidFill>
              <a:srgbClr val="0072B2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6" name="causal-matrix-title">
            <a:extLst xmlns:a="http://schemas.openxmlformats.org/drawingml/2006/main">
              <a:ext uri="{FF2B5EF4-FFF2-40B4-BE49-F238E27FC236}">
                <a16:creationId xmlns:a16="http://schemas.microsoft.com/office/drawing/2014/main" id="{0D0FBF07-6CF7-420F-B7F6-C7BDCECD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800100"/>
            <a:ext cx="790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6996"/>
          </a:bodyPr>
          <a:lstStyle xmlns:a="http://schemas.openxmlformats.org/drawingml/2006/main"/>
          <a:p xmlns:a="http://schemas.openxmlformats.org/drawingml/2006/main">
            <a:pPr algn="ctr">
              <a:defRPr sz="1088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Causal variable</a:t>
            </a:r>
          </a:p>
          <a:p xmlns:a="http://schemas.openxmlformats.org/drawingml/2006/main">
            <a:pPr algn="ctr">
              <a:defRPr sz="1088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matrix X</a:t>
            </a:r>
          </a:p>
        </p:txBody>
      </p:sp>
      <p:sp>
        <p:nvSpPr>
          <p:cNvPr id="37" name="matrix-r0-c0">
            <a:extLst xmlns:a="http://schemas.openxmlformats.org/drawingml/2006/main">
              <a:ext uri="{FF2B5EF4-FFF2-40B4-BE49-F238E27FC236}">
                <a16:creationId xmlns:a16="http://schemas.microsoft.com/office/drawing/2014/main" id="{8167005B-334D-440D-B31B-17BCAE28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295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0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38" name="matrix-r0-c1">
            <a:extLst xmlns:a="http://schemas.openxmlformats.org/drawingml/2006/main">
              <a:ext uri="{FF2B5EF4-FFF2-40B4-BE49-F238E27FC236}">
                <a16:creationId xmlns:a16="http://schemas.microsoft.com/office/drawing/2014/main" id="{93C6612B-D3A2-4B3C-8D0B-00C38E9A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295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39" name="matrix-r0-c2">
            <a:extLst xmlns:a="http://schemas.openxmlformats.org/drawingml/2006/main">
              <a:ext uri="{FF2B5EF4-FFF2-40B4-BE49-F238E27FC236}">
                <a16:creationId xmlns:a16="http://schemas.microsoft.com/office/drawing/2014/main" id="{36194B10-A2F6-4DB6-9BB7-0F4F5BDB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295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40" name="matrix-r0-c3">
            <a:extLst xmlns:a="http://schemas.openxmlformats.org/drawingml/2006/main">
              <a:ext uri="{FF2B5EF4-FFF2-40B4-BE49-F238E27FC236}">
                <a16:creationId xmlns:a16="http://schemas.microsoft.com/office/drawing/2014/main" id="{3F6CD1C6-101D-4059-9C30-DB6E3CA4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295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0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41" name="matrix-r0-c4">
            <a:extLst xmlns:a="http://schemas.openxmlformats.org/drawingml/2006/main">
              <a:ext uri="{FF2B5EF4-FFF2-40B4-BE49-F238E27FC236}">
                <a16:creationId xmlns:a16="http://schemas.microsoft.com/office/drawing/2014/main" id="{2F32B988-7777-44EC-AA68-D875C874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95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42" name="matrix-r0-c5">
            <a:extLst xmlns:a="http://schemas.openxmlformats.org/drawingml/2006/main">
              <a:ext uri="{FF2B5EF4-FFF2-40B4-BE49-F238E27FC236}">
                <a16:creationId xmlns:a16="http://schemas.microsoft.com/office/drawing/2014/main" id="{9310E564-1FC7-4C33-9A38-7B0E5C68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295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0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43" name="matrix-r1-c0">
            <a:extLst xmlns:a="http://schemas.openxmlformats.org/drawingml/2006/main">
              <a:ext uri="{FF2B5EF4-FFF2-40B4-BE49-F238E27FC236}">
                <a16:creationId xmlns:a16="http://schemas.microsoft.com/office/drawing/2014/main" id="{2359BBC7-7B05-4417-9B2B-4376BDC8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409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44" name="matrix-r1-c1">
            <a:extLst xmlns:a="http://schemas.openxmlformats.org/drawingml/2006/main">
              <a:ext uri="{FF2B5EF4-FFF2-40B4-BE49-F238E27FC236}">
                <a16:creationId xmlns:a16="http://schemas.microsoft.com/office/drawing/2014/main" id="{E7CF867A-C3FE-440C-A16B-50FC7186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09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0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45" name="matrix-r1-c2">
            <a:extLst xmlns:a="http://schemas.openxmlformats.org/drawingml/2006/main">
              <a:ext uri="{FF2B5EF4-FFF2-40B4-BE49-F238E27FC236}">
                <a16:creationId xmlns:a16="http://schemas.microsoft.com/office/drawing/2014/main" id="{1ED892E1-7C1F-4B5C-9570-66499BF3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409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46" name="matrix-r1-c3">
            <a:extLst xmlns:a="http://schemas.openxmlformats.org/drawingml/2006/main">
              <a:ext uri="{FF2B5EF4-FFF2-40B4-BE49-F238E27FC236}">
                <a16:creationId xmlns:a16="http://schemas.microsoft.com/office/drawing/2014/main" id="{7CFA986F-530D-46D8-887D-78C32001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409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47" name="matrix-r1-c4">
            <a:extLst xmlns:a="http://schemas.openxmlformats.org/drawingml/2006/main">
              <a:ext uri="{FF2B5EF4-FFF2-40B4-BE49-F238E27FC236}">
                <a16:creationId xmlns:a16="http://schemas.microsoft.com/office/drawing/2014/main" id="{6D5689CD-1DC7-4A8F-8D72-81E97C0E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409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0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48" name="matrix-r1-c5">
            <a:extLst xmlns:a="http://schemas.openxmlformats.org/drawingml/2006/main">
              <a:ext uri="{FF2B5EF4-FFF2-40B4-BE49-F238E27FC236}">
                <a16:creationId xmlns:a16="http://schemas.microsoft.com/office/drawing/2014/main" id="{7E97EF6C-EBF4-4798-92E4-4DC5ABA5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409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49" name="matrix-r2-c0">
            <a:extLst xmlns:a="http://schemas.openxmlformats.org/drawingml/2006/main">
              <a:ext uri="{FF2B5EF4-FFF2-40B4-BE49-F238E27FC236}">
                <a16:creationId xmlns:a16="http://schemas.microsoft.com/office/drawing/2014/main" id="{A7780D2D-FAD5-4D8A-99B8-BACFF352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524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0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50" name="matrix-r2-c1">
            <a:extLst xmlns:a="http://schemas.openxmlformats.org/drawingml/2006/main">
              <a:ext uri="{FF2B5EF4-FFF2-40B4-BE49-F238E27FC236}">
                <a16:creationId xmlns:a16="http://schemas.microsoft.com/office/drawing/2014/main" id="{45F40CD9-EE26-4E01-A602-8F664B4E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524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0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51" name="matrix-r2-c2">
            <a:extLst xmlns:a="http://schemas.openxmlformats.org/drawingml/2006/main">
              <a:ext uri="{FF2B5EF4-FFF2-40B4-BE49-F238E27FC236}">
                <a16:creationId xmlns:a16="http://schemas.microsoft.com/office/drawing/2014/main" id="{4D4B4F2D-F1C2-449D-9940-70E44585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524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52" name="matrix-r2-c3">
            <a:extLst xmlns:a="http://schemas.openxmlformats.org/drawingml/2006/main">
              <a:ext uri="{FF2B5EF4-FFF2-40B4-BE49-F238E27FC236}">
                <a16:creationId xmlns:a16="http://schemas.microsoft.com/office/drawing/2014/main" id="{09218FB3-4E0A-48FF-B60C-6A0FD7F4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524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53" name="matrix-r2-c4">
            <a:extLst xmlns:a="http://schemas.openxmlformats.org/drawingml/2006/main">
              <a:ext uri="{FF2B5EF4-FFF2-40B4-BE49-F238E27FC236}">
                <a16:creationId xmlns:a16="http://schemas.microsoft.com/office/drawing/2014/main" id="{4BDE2FD9-C235-430B-BA5B-C88D27D3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24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54" name="matrix-r2-c5">
            <a:extLst xmlns:a="http://schemas.openxmlformats.org/drawingml/2006/main">
              <a:ext uri="{FF2B5EF4-FFF2-40B4-BE49-F238E27FC236}">
                <a16:creationId xmlns:a16="http://schemas.microsoft.com/office/drawing/2014/main" id="{4635D8D9-C68D-47B2-BCAD-EC0D1189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24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0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55" name="matrix-r3-c0">
            <a:extLst xmlns:a="http://schemas.openxmlformats.org/drawingml/2006/main">
              <a:ext uri="{FF2B5EF4-FFF2-40B4-BE49-F238E27FC236}">
                <a16:creationId xmlns:a16="http://schemas.microsoft.com/office/drawing/2014/main" id="{853711BC-5BEE-48C1-B850-35AF02DE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38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56" name="matrix-r3-c1">
            <a:extLst xmlns:a="http://schemas.openxmlformats.org/drawingml/2006/main">
              <a:ext uri="{FF2B5EF4-FFF2-40B4-BE49-F238E27FC236}">
                <a16:creationId xmlns:a16="http://schemas.microsoft.com/office/drawing/2014/main" id="{5C78F0B2-95CE-45F9-A523-0A3E85BE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638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57" name="matrix-r3-c2">
            <a:extLst xmlns:a="http://schemas.openxmlformats.org/drawingml/2006/main">
              <a:ext uri="{FF2B5EF4-FFF2-40B4-BE49-F238E27FC236}">
                <a16:creationId xmlns:a16="http://schemas.microsoft.com/office/drawing/2014/main" id="{141E4E5A-4380-44FF-8786-207F0246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638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58" name="matrix-r3-c3">
            <a:extLst xmlns:a="http://schemas.openxmlformats.org/drawingml/2006/main">
              <a:ext uri="{FF2B5EF4-FFF2-40B4-BE49-F238E27FC236}">
                <a16:creationId xmlns:a16="http://schemas.microsoft.com/office/drawing/2014/main" id="{5D824558-5FFA-4404-A448-8A1DA825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638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59" name="matrix-r3-c4">
            <a:extLst xmlns:a="http://schemas.openxmlformats.org/drawingml/2006/main">
              <a:ext uri="{FF2B5EF4-FFF2-40B4-BE49-F238E27FC236}">
                <a16:creationId xmlns:a16="http://schemas.microsoft.com/office/drawing/2014/main" id="{B2520863-7049-4D93-88B1-B73462A0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638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60" name="matrix-r3-c5">
            <a:extLst xmlns:a="http://schemas.openxmlformats.org/drawingml/2006/main">
              <a:ext uri="{FF2B5EF4-FFF2-40B4-BE49-F238E27FC236}">
                <a16:creationId xmlns:a16="http://schemas.microsoft.com/office/drawing/2014/main" id="{F69CFF55-DCE9-48C6-88AB-E323BD4C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38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61" name="matrix-r4-c0">
            <a:extLst xmlns:a="http://schemas.openxmlformats.org/drawingml/2006/main">
              <a:ext uri="{FF2B5EF4-FFF2-40B4-BE49-F238E27FC236}">
                <a16:creationId xmlns:a16="http://schemas.microsoft.com/office/drawing/2014/main" id="{5CFA1FC9-788F-475C-86C9-93578912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752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62" name="matrix-r4-c1">
            <a:extLst xmlns:a="http://schemas.openxmlformats.org/drawingml/2006/main">
              <a:ext uri="{FF2B5EF4-FFF2-40B4-BE49-F238E27FC236}">
                <a16:creationId xmlns:a16="http://schemas.microsoft.com/office/drawing/2014/main" id="{AAAD3251-8954-45D0-90DB-C714FF67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752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63" name="matrix-r4-c2">
            <a:extLst xmlns:a="http://schemas.openxmlformats.org/drawingml/2006/main">
              <a:ext uri="{FF2B5EF4-FFF2-40B4-BE49-F238E27FC236}">
                <a16:creationId xmlns:a16="http://schemas.microsoft.com/office/drawing/2014/main" id="{91FFD371-0559-443E-BD2A-E498D439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752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64" name="matrix-r4-c3">
            <a:extLst xmlns:a="http://schemas.openxmlformats.org/drawingml/2006/main">
              <a:ext uri="{FF2B5EF4-FFF2-40B4-BE49-F238E27FC236}">
                <a16:creationId xmlns:a16="http://schemas.microsoft.com/office/drawing/2014/main" id="{4FF4FD44-4CEB-4CF1-9AA0-CF495FFD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752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0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65" name="matrix-r4-c4">
            <a:extLst xmlns:a="http://schemas.openxmlformats.org/drawingml/2006/main">
              <a:ext uri="{FF2B5EF4-FFF2-40B4-BE49-F238E27FC236}">
                <a16:creationId xmlns:a16="http://schemas.microsoft.com/office/drawing/2014/main" id="{2250AC90-3845-4E28-BAA4-91FA1732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52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0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66" name="matrix-r4-c5">
            <a:extLst xmlns:a="http://schemas.openxmlformats.org/drawingml/2006/main">
              <a:ext uri="{FF2B5EF4-FFF2-40B4-BE49-F238E27FC236}">
                <a16:creationId xmlns:a16="http://schemas.microsoft.com/office/drawing/2014/main" id="{FBF40F44-5C11-41C0-9E0C-4EC5A5BA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52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67" name="matrix-r5-c0">
            <a:extLst xmlns:a="http://schemas.openxmlformats.org/drawingml/2006/main">
              <a:ext uri="{FF2B5EF4-FFF2-40B4-BE49-F238E27FC236}">
                <a16:creationId xmlns:a16="http://schemas.microsoft.com/office/drawing/2014/main" id="{4D561B34-255D-438A-A7CF-FE2DC932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866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0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68" name="matrix-r5-c1">
            <a:extLst xmlns:a="http://schemas.openxmlformats.org/drawingml/2006/main">
              <a:ext uri="{FF2B5EF4-FFF2-40B4-BE49-F238E27FC236}">
                <a16:creationId xmlns:a16="http://schemas.microsoft.com/office/drawing/2014/main" id="{50DFF82C-4375-4B32-8B90-C17AB89B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866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69" name="matrix-r5-c2">
            <a:extLst xmlns:a="http://schemas.openxmlformats.org/drawingml/2006/main">
              <a:ext uri="{FF2B5EF4-FFF2-40B4-BE49-F238E27FC236}">
                <a16:creationId xmlns:a16="http://schemas.microsoft.com/office/drawing/2014/main" id="{CF8F6D6A-3623-42A5-B70D-1B2470F8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66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70" name="matrix-r5-c3">
            <a:extLst xmlns:a="http://schemas.openxmlformats.org/drawingml/2006/main">
              <a:ext uri="{FF2B5EF4-FFF2-40B4-BE49-F238E27FC236}">
                <a16:creationId xmlns:a16="http://schemas.microsoft.com/office/drawing/2014/main" id="{F3D29E32-7E4F-4A5C-A480-038E6503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0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71" name="matrix-r5-c4">
            <a:extLst xmlns:a="http://schemas.openxmlformats.org/drawingml/2006/main">
              <a:ext uri="{FF2B5EF4-FFF2-40B4-BE49-F238E27FC236}">
                <a16:creationId xmlns:a16="http://schemas.microsoft.com/office/drawing/2014/main" id="{98FD7045-8239-46A4-BA95-936133E3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66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72" name="matrix-r5-c5">
            <a:extLst xmlns:a="http://schemas.openxmlformats.org/drawingml/2006/main">
              <a:ext uri="{FF2B5EF4-FFF2-40B4-BE49-F238E27FC236}">
                <a16:creationId xmlns:a16="http://schemas.microsoft.com/office/drawing/2014/main" id="{0A9D1897-A760-4272-9F47-3E6F071D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866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0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73" name="matrix-r6-c0">
            <a:extLst xmlns:a="http://schemas.openxmlformats.org/drawingml/2006/main">
              <a:ext uri="{FF2B5EF4-FFF2-40B4-BE49-F238E27FC236}">
                <a16:creationId xmlns:a16="http://schemas.microsoft.com/office/drawing/2014/main" id="{621B38EF-6E5F-49CA-B288-E171FA73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81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74" name="matrix-r6-c1">
            <a:extLst xmlns:a="http://schemas.openxmlformats.org/drawingml/2006/main">
              <a:ext uri="{FF2B5EF4-FFF2-40B4-BE49-F238E27FC236}">
                <a16:creationId xmlns:a16="http://schemas.microsoft.com/office/drawing/2014/main" id="{93B9A583-FF81-491F-8572-6B0D69BD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981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0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75" name="matrix-r6-c2">
            <a:extLst xmlns:a="http://schemas.openxmlformats.org/drawingml/2006/main">
              <a:ext uri="{FF2B5EF4-FFF2-40B4-BE49-F238E27FC236}">
                <a16:creationId xmlns:a16="http://schemas.microsoft.com/office/drawing/2014/main" id="{1DCA5685-C52A-46C4-A73A-46F8F4E0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81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76" name="matrix-r6-c3">
            <a:extLst xmlns:a="http://schemas.openxmlformats.org/drawingml/2006/main">
              <a:ext uri="{FF2B5EF4-FFF2-40B4-BE49-F238E27FC236}">
                <a16:creationId xmlns:a16="http://schemas.microsoft.com/office/drawing/2014/main" id="{D72DC46A-8970-4D09-8BFD-F9C1D495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81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77" name="matrix-r6-c4">
            <a:extLst xmlns:a="http://schemas.openxmlformats.org/drawingml/2006/main">
              <a:ext uri="{FF2B5EF4-FFF2-40B4-BE49-F238E27FC236}">
                <a16:creationId xmlns:a16="http://schemas.microsoft.com/office/drawing/2014/main" id="{2F32D59D-9666-4293-93EC-ACAEEAC0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81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0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78" name="matrix-r6-c5">
            <a:extLst xmlns:a="http://schemas.openxmlformats.org/drawingml/2006/main">
              <a:ext uri="{FF2B5EF4-FFF2-40B4-BE49-F238E27FC236}">
                <a16:creationId xmlns:a16="http://schemas.microsoft.com/office/drawing/2014/main" id="{943A5B2B-310D-400A-8950-5ABBF541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981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79" name="matrix-dimension">
            <a:extLst xmlns:a="http://schemas.openxmlformats.org/drawingml/2006/main">
              <a:ext uri="{FF2B5EF4-FFF2-40B4-BE49-F238E27FC236}">
                <a16:creationId xmlns:a16="http://schemas.microsoft.com/office/drawing/2014/main" id="{89E25FBC-86FB-4E14-BC44-B2AF4ED1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526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N × K</a:t>
            </a:r>
          </a:p>
        </p:txBody>
      </p:sp>
      <p:sp>
        <p:nvSpPr>
          <p:cNvPr id="80" name="variable-map">
            <a:extLst xmlns:a="http://schemas.openxmlformats.org/drawingml/2006/main">
              <a:ext uri="{FF2B5EF4-FFF2-40B4-BE49-F238E27FC236}">
                <a16:creationId xmlns:a16="http://schemas.microsoft.com/office/drawing/2014/main" id="{9E505D34-4269-4EC0-9D58-A2BD4A76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343150"/>
            <a:ext cx="800100" cy="2381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0072B2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7009"/>
          </a:bodyPr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Variable map φ</a:t>
            </a:r>
          </a:p>
        </p:txBody>
      </p:sp>
      <p:sp>
        <p:nvSpPr>
          <p:cNvPr id="81" name="entity-level-features">
            <a:extLst xmlns:a="http://schemas.openxmlformats.org/drawingml/2006/main">
              <a:ext uri="{FF2B5EF4-FFF2-40B4-BE49-F238E27FC236}">
                <a16:creationId xmlns:a16="http://schemas.microsoft.com/office/drawing/2014/main" id="{80ACE19F-4531-4BC0-8EF7-F8F6D14D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43150"/>
            <a:ext cx="100965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0072B2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4467"/>
          </a:bodyPr>
          <a:lstStyle xmlns:a="http://schemas.openxmlformats.org/drawingml/2006/main"/>
          <a:p xmlns:a="http://schemas.openxmlformats.org/drawingml/2006/main">
            <a:pPr algn="ctr">
              <a:defRPr sz="101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Entity-level features</a:t>
            </a:r>
          </a:p>
          <a:p xmlns:a="http://schemas.openxmlformats.org/drawingml/2006/main">
            <a:pPr algn="ctr">
              <a:defRPr sz="101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xᵢₖ ∈ {0,1}</a:t>
            </a:r>
          </a:p>
        </p:txBody>
      </p:sp>
      <p:sp>
        <p:nvSpPr>
          <p:cNvPr id="82" name="layer-indicators-counts">
            <a:extLst xmlns:a="http://schemas.openxmlformats.org/drawingml/2006/main">
              <a:ext uri="{FF2B5EF4-FFF2-40B4-BE49-F238E27FC236}">
                <a16:creationId xmlns:a16="http://schemas.microsoft.com/office/drawing/2014/main" id="{0C8117F5-F1DA-4D66-9115-7CF93726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09900"/>
            <a:ext cx="10096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0072B2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6806"/>
          </a:bodyPr>
          <a:lstStyle xmlns:a="http://schemas.openxmlformats.org/drawingml/2006/main"/>
          <a:p xmlns:a="http://schemas.openxmlformats.org/drawingml/2006/main">
            <a:pPr algn="ctr">
              <a:defRPr sz="101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Layer indicators Lᵢℓ</a:t>
            </a:r>
          </a:p>
          <a:p xmlns:a="http://schemas.openxmlformats.org/drawingml/2006/main">
            <a:pPr algn="ctr">
              <a:defRPr sz="101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Counts Cᵢℓ</a:t>
            </a:r>
          </a:p>
        </p:txBody>
      </p:sp>
      <p:sp>
        <p:nvSpPr>
          <p:cNvPr id="83" name="severe-consequence-y">
            <a:extLst xmlns:a="http://schemas.openxmlformats.org/drawingml/2006/main">
              <a:ext uri="{FF2B5EF4-FFF2-40B4-BE49-F238E27FC236}">
                <a16:creationId xmlns:a16="http://schemas.microsoft.com/office/drawing/2014/main" id="{4EC9E2F3-A035-431F-8117-7FA97281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33800"/>
            <a:ext cx="10096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0072B2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1844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Severe consequence Y</a:t>
            </a:r>
          </a:p>
          <a:p xmlns:a="http://schemas.openxmlformats.org/drawingml/2006/main">
            <a:pPr algn="ctr">
              <a:defRPr sz="975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lexicon + KG evidence</a:t>
            </a:r>
          </a:p>
        </p:txBody>
      </p:sp>
      <p:sp>
        <p:nvSpPr>
          <p:cNvPr id="84" name="accident-type-note">
            <a:extLst xmlns:a="http://schemas.openxmlformats.org/drawingml/2006/main">
              <a:ext uri="{FF2B5EF4-FFF2-40B4-BE49-F238E27FC236}">
                <a16:creationId xmlns:a16="http://schemas.microsoft.com/office/drawing/2014/main" id="{5C13899A-BB96-4CF8-B17A-E4E342CF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971800"/>
            <a:ext cx="83820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8573">
            <a:solidFill>
              <a:srgbClr val="666666"/>
            </a:solidFill>
            <a:prstDash val="dash"/>
          </a:ln>
        </p:spPr>
        <p:txBody>
          <a:bodyPr xmlns:a="http://schemas.openxmlformats.org/drawingml/2006/main" wrap="square" lIns="38100" tIns="38100" rIns="38100" bIns="38100" anchor="ctr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AccidentType</a:t>
            </a:r>
          </a:p>
          <a:p xmlns:a="http://schemas.openxmlformats.org/drawingml/2006/main">
            <a:pPr algn="ctr">
              <a:defRPr sz="900" b="1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matrix feature only</a:t>
            </a:r>
          </a:p>
        </p:txBody>
      </p:sp>
      <p:sp>
        <p:nvSpPr>
          <p:cNvPr id="85" name="excluded-adjustment-label">
            <a:extLst xmlns:a="http://schemas.openxmlformats.org/drawingml/2006/main">
              <a:ext uri="{FF2B5EF4-FFF2-40B4-BE49-F238E27FC236}">
                <a16:creationId xmlns:a16="http://schemas.microsoft.com/office/drawing/2014/main" id="{9D286BB1-2E65-4B83-89EF-E6D6864F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50520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3383"/>
          </a:bodyPr>
          <a:lstStyle xmlns:a="http://schemas.openxmlformats.org/drawingml/2006/main"/>
          <a:p xmlns:a="http://schemas.openxmlformats.org/drawingml/2006/main">
            <a:pPr algn="ctr">
              <a:defRPr sz="788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8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excluded from adjustment</a:t>
            </a:r>
          </a:p>
        </p:txBody>
      </p:sp>
      <p:sp>
        <p:nvSpPr>
          <p:cNvPr id="86" name="matrix-summary">
            <a:extLst xmlns:a="http://schemas.openxmlformats.org/drawingml/2006/main">
              <a:ext uri="{FF2B5EF4-FFF2-40B4-BE49-F238E27FC236}">
                <a16:creationId xmlns:a16="http://schemas.microsoft.com/office/drawing/2014/main" id="{ABB4B014-6E02-4BBA-AA2A-B3D76D50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262890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EDF7FD"/>
          </a:solidFill>
          <a:ln xmlns:a="http://schemas.openxmlformats.org/drawingml/2006/main" w="9525">
            <a:solidFill>
              <a:srgbClr val="0072B2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Case-level observational data</a:t>
            </a:r>
          </a:p>
          <a:p xmlns:a="http://schemas.openxmlformats.org/drawingml/2006/main">
            <a:pPr algn="ctr">
              <a:defRPr sz="1125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provenance preserved</a:t>
            </a:r>
          </a:p>
        </p:txBody>
      </p:sp>
      <p:sp>
        <p:nvSpPr>
          <p:cNvPr id="87" name="estimand-scope">
            <a:extLst xmlns:a="http://schemas.openxmlformats.org/drawingml/2006/main">
              <a:ext uri="{FF2B5EF4-FFF2-40B4-BE49-F238E27FC236}">
                <a16:creationId xmlns:a16="http://schemas.microsoft.com/office/drawing/2014/main" id="{F04E0AFA-1D8D-48CB-9EE2-DA3EB089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26289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0072B2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3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Target: severity among recorded accidents</a:t>
            </a:r>
          </a:p>
          <a:p xmlns:a="http://schemas.openxmlformats.org/drawingml/2006/main">
            <a:pPr algn="ctr">
              <a:defRPr sz="1013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3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not accident occurrence</a:t>
            </a:r>
          </a:p>
        </p:txBody>
      </p:sp>
      <p:sp>
        <p:nvSpPr>
          <p:cNvPr id="88" name="prior-dag-frame">
            <a:extLst xmlns:a="http://schemas.openxmlformats.org/drawingml/2006/main">
              <a:ext uri="{FF2B5EF4-FFF2-40B4-BE49-F238E27FC236}">
                <a16:creationId xmlns:a16="http://schemas.microsoft.com/office/drawing/2014/main" id="{DC6AB3A8-9D68-40C9-B0EA-E13F0DC6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28650"/>
            <a:ext cx="4762500" cy="2819400"/>
          </a:xfrm>
          <a:prstGeom xmlns:a="http://schemas.openxmlformats.org/drawingml/2006/main" prst="roundRect">
            <a:avLst>
              <a:gd name="adj" fmla="val 2027"/>
            </a:avLst>
          </a:prstGeom>
          <a:solidFill xmlns:a="http://schemas.openxmlformats.org/drawingml/2006/main">
            <a:srgbClr val="EDF8F4"/>
          </a:solidFill>
          <a:ln xmlns:a="http://schemas.openxmlformats.org/drawingml/2006/main" w="10478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9" name="prior-dag-title">
            <a:extLst xmlns:a="http://schemas.openxmlformats.org/drawingml/2006/main">
              <a:ext uri="{FF2B5EF4-FFF2-40B4-BE49-F238E27FC236}">
                <a16:creationId xmlns:a16="http://schemas.microsoft.com/office/drawing/2014/main" id="{44D4C6B6-28C6-4420-B080-1E296776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85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Prior causal graph G₂₄</a:t>
            </a:r>
          </a:p>
        </p:txBody>
      </p:sp>
      <p:sp>
        <p:nvSpPr>
          <p:cNvPr id="90" name="dag-scd">
            <a:extLst xmlns:a="http://schemas.openxmlformats.org/drawingml/2006/main">
              <a:ext uri="{FF2B5EF4-FFF2-40B4-BE49-F238E27FC236}">
                <a16:creationId xmlns:a16="http://schemas.microsoft.com/office/drawing/2014/main" id="{9BC0A0DF-DF37-4690-B8B1-E63E6B5F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123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E2D4"/>
          </a:solidFill>
          <a:ln xmlns:a="http://schemas.openxmlformats.org/drawingml/2006/main" w="9525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SCD</a:t>
            </a:r>
          </a:p>
        </p:txBody>
      </p:sp>
      <p:sp>
        <p:nvSpPr>
          <p:cNvPr id="91" name="dag-smd">
            <a:extLst xmlns:a="http://schemas.openxmlformats.org/drawingml/2006/main">
              <a:ext uri="{FF2B5EF4-FFF2-40B4-BE49-F238E27FC236}">
                <a16:creationId xmlns:a16="http://schemas.microsoft.com/office/drawing/2014/main" id="{C34420C3-AE24-449E-8A71-A25776FD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123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E2D4"/>
          </a:solidFill>
          <a:ln xmlns:a="http://schemas.openxmlformats.org/drawingml/2006/main" w="9525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SMD</a:t>
            </a:r>
          </a:p>
        </p:txBody>
      </p:sp>
      <p:sp>
        <p:nvSpPr>
          <p:cNvPr id="92" name="dag-scap">
            <a:extLst xmlns:a="http://schemas.openxmlformats.org/drawingml/2006/main">
              <a:ext uri="{FF2B5EF4-FFF2-40B4-BE49-F238E27FC236}">
                <a16:creationId xmlns:a16="http://schemas.microsoft.com/office/drawing/2014/main" id="{09FD20D4-C2BD-4177-9ACE-23FD1C0A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123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9EF"/>
          </a:solidFill>
          <a:ln xmlns:a="http://schemas.openxmlformats.org/drawingml/2006/main" w="9525">
            <a:solidFill>
              <a:srgbClr val="7B6BA8"/>
            </a:solidFill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SCap</a:t>
            </a:r>
          </a:p>
        </p:txBody>
      </p:sp>
      <p:sp>
        <p:nvSpPr>
          <p:cNvPr id="93" name="dag-ua">
            <a:extLst xmlns:a="http://schemas.openxmlformats.org/drawingml/2006/main">
              <a:ext uri="{FF2B5EF4-FFF2-40B4-BE49-F238E27FC236}">
                <a16:creationId xmlns:a16="http://schemas.microsoft.com/office/drawing/2014/main" id="{078CB3EA-6ADE-404F-A459-AB03D9FD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971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5A7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UA</a:t>
            </a:r>
          </a:p>
        </p:txBody>
      </p:sp>
      <p:sp>
        <p:nvSpPr>
          <p:cNvPr id="94" name="dag-uos">
            <a:extLst xmlns:a="http://schemas.openxmlformats.org/drawingml/2006/main">
              <a:ext uri="{FF2B5EF4-FFF2-40B4-BE49-F238E27FC236}">
                <a16:creationId xmlns:a16="http://schemas.microsoft.com/office/drawing/2014/main" id="{42285D94-A9D5-4196-91CD-85B1AC21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14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5A7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UOS</a:t>
            </a:r>
          </a:p>
        </p:txBody>
      </p:sp>
      <p:sp>
        <p:nvSpPr>
          <p:cNvPr id="95" name="dag-y">
            <a:extLst xmlns:a="http://schemas.openxmlformats.org/drawingml/2006/main">
              <a:ext uri="{FF2B5EF4-FFF2-40B4-BE49-F238E27FC236}">
                <a16:creationId xmlns:a16="http://schemas.microsoft.com/office/drawing/2014/main" id="{E64376CF-A142-4958-9265-ED850375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33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BBD7"/>
          </a:solidFill>
          <a:ln xmlns:a="http://schemas.openxmlformats.org/drawingml/2006/main" w="9525">
            <a:solidFill>
              <a:srgbClr val="CC79A7"/>
            </a:solidFill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Y</a:t>
            </a:r>
          </a:p>
        </p:txBody>
      </p:sp>
      <p:sp>
        <p:nvSpPr>
          <p:cNvPr id="96" name="dag-act">
            <a:extLst xmlns:a="http://schemas.openxmlformats.org/drawingml/2006/main">
              <a:ext uri="{FF2B5EF4-FFF2-40B4-BE49-F238E27FC236}">
                <a16:creationId xmlns:a16="http://schemas.microsoft.com/office/drawing/2014/main" id="{87559237-25FB-473F-B80A-009CCDF6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DDF2"/>
          </a:solidFill>
          <a:ln xmlns:a="http://schemas.openxmlformats.org/drawingml/2006/main" w="9525">
            <a:solidFill>
              <a:srgbClr val="0072B2"/>
            </a:solidFill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Act</a:t>
            </a:r>
          </a:p>
        </p:txBody>
      </p:sp>
      <p:sp>
        <p:nvSpPr>
          <p:cNvPr id="97" name="dag-env">
            <a:extLst xmlns:a="http://schemas.openxmlformats.org/drawingml/2006/main">
              <a:ext uri="{FF2B5EF4-FFF2-40B4-BE49-F238E27FC236}">
                <a16:creationId xmlns:a16="http://schemas.microsoft.com/office/drawing/2014/main" id="{167ADC9B-0605-4237-8992-2BBBE18D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76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DDF2"/>
          </a:solidFill>
          <a:ln xmlns:a="http://schemas.openxmlformats.org/drawingml/2006/main" w="9525">
            <a:solidFill>
              <a:srgbClr val="0072B2"/>
            </a:solidFill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Env</a:t>
            </a:r>
          </a:p>
        </p:txBody>
      </p:sp>
      <p:sp>
        <p:nvSpPr>
          <p:cNvPr id="98" name="dag-atype">
            <a:extLst xmlns:a="http://schemas.openxmlformats.org/drawingml/2006/main">
              <a:ext uri="{FF2B5EF4-FFF2-40B4-BE49-F238E27FC236}">
                <a16:creationId xmlns:a16="http://schemas.microsoft.com/office/drawing/2014/main" id="{98A2B387-448C-40C9-9706-42EA5A5C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908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  <a:prstDash val="dash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Accident</a:t>
            </a:r>
          </a:p>
          <a:p xmlns:a="http://schemas.openxmlformats.org/drawingml/2006/main">
            <a:pPr algn="ctr">
              <a:defRPr sz="825" b="1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Type</a:t>
            </a:r>
          </a:p>
        </p:txBody>
      </p:sp>
      <p:sp>
        <p:nvSpPr>
          <p:cNvPr id="99" name="legend-org-dot">
            <a:extLst xmlns:a="http://schemas.openxmlformats.org/drawingml/2006/main">
              <a:ext uri="{FF2B5EF4-FFF2-40B4-BE49-F238E27FC236}">
                <a16:creationId xmlns:a16="http://schemas.microsoft.com/office/drawing/2014/main" id="{266749B2-27CF-48F9-9243-6EE4B54D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051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E2D4"/>
          </a:solidFill>
          <a:ln xmlns:a="http://schemas.openxmlformats.org/drawingml/2006/main" w="9525">
            <a:solidFill>
              <a:srgbClr val="009E73"/>
            </a:solidFill>
            <a:prstDash val="solid"/>
          </a:ln>
        </p:spPr>
      </p:sp>
      <p:sp>
        <p:nvSpPr>
          <p:cNvPr id="100" name="legend-org">
            <a:extLst xmlns:a="http://schemas.openxmlformats.org/drawingml/2006/main">
              <a:ext uri="{FF2B5EF4-FFF2-40B4-BE49-F238E27FC236}">
                <a16:creationId xmlns:a16="http://schemas.microsoft.com/office/drawing/2014/main" id="{CF3F47A0-A0E6-4B53-8B5E-4CCCA0E8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670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8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Organizational</a:t>
            </a:r>
          </a:p>
        </p:txBody>
      </p:sp>
      <p:sp>
        <p:nvSpPr>
          <p:cNvPr id="101" name="legend-cap-dot">
            <a:extLst xmlns:a="http://schemas.openxmlformats.org/drawingml/2006/main">
              <a:ext uri="{FF2B5EF4-FFF2-40B4-BE49-F238E27FC236}">
                <a16:creationId xmlns:a16="http://schemas.microsoft.com/office/drawing/2014/main" id="{B794231F-084C-4CC1-8760-B03F33D7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051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9EF"/>
          </a:solidFill>
          <a:ln xmlns:a="http://schemas.openxmlformats.org/drawingml/2006/main" w="9525">
            <a:solidFill>
              <a:srgbClr val="7B6BA8"/>
            </a:solidFill>
            <a:prstDash val="solid"/>
          </a:ln>
        </p:spPr>
      </p:sp>
      <p:sp>
        <p:nvSpPr>
          <p:cNvPr id="102" name="legend-cap">
            <a:extLst xmlns:a="http://schemas.openxmlformats.org/drawingml/2006/main">
              <a:ext uri="{FF2B5EF4-FFF2-40B4-BE49-F238E27FC236}">
                <a16:creationId xmlns:a16="http://schemas.microsoft.com/office/drawing/2014/main" id="{394A7259-2F7F-4D64-98DF-E41467E9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670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8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Capability</a:t>
            </a:r>
          </a:p>
        </p:txBody>
      </p:sp>
      <p:sp>
        <p:nvSpPr>
          <p:cNvPr id="103" name="legend-direct-dot">
            <a:extLst xmlns:a="http://schemas.openxmlformats.org/drawingml/2006/main">
              <a:ext uri="{FF2B5EF4-FFF2-40B4-BE49-F238E27FC236}">
                <a16:creationId xmlns:a16="http://schemas.microsoft.com/office/drawing/2014/main" id="{5F042793-B44C-4BF5-B88D-0A0CBA8B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1051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5A7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04" name="legend-direct">
            <a:extLst xmlns:a="http://schemas.openxmlformats.org/drawingml/2006/main">
              <a:ext uri="{FF2B5EF4-FFF2-40B4-BE49-F238E27FC236}">
                <a16:creationId xmlns:a16="http://schemas.microsoft.com/office/drawing/2014/main" id="{75F62861-A49C-4541-A358-D897FAD0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670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8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Direct cause</a:t>
            </a:r>
          </a:p>
        </p:txBody>
      </p:sp>
      <p:sp>
        <p:nvSpPr>
          <p:cNvPr id="105" name="legend-context-dot">
            <a:extLst xmlns:a="http://schemas.openxmlformats.org/drawingml/2006/main">
              <a:ext uri="{FF2B5EF4-FFF2-40B4-BE49-F238E27FC236}">
                <a16:creationId xmlns:a16="http://schemas.microsoft.com/office/drawing/2014/main" id="{EB25B6C2-A40E-4521-9B60-C9922B50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51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DDF2"/>
          </a:solidFill>
          <a:ln xmlns:a="http://schemas.openxmlformats.org/drawingml/2006/main" w="9525">
            <a:solidFill>
              <a:srgbClr val="0072B2"/>
            </a:solidFill>
            <a:prstDash val="solid"/>
          </a:ln>
        </p:spPr>
      </p:sp>
      <p:sp>
        <p:nvSpPr>
          <p:cNvPr id="106" name="legend-context">
            <a:extLst xmlns:a="http://schemas.openxmlformats.org/drawingml/2006/main">
              <a:ext uri="{FF2B5EF4-FFF2-40B4-BE49-F238E27FC236}">
                <a16:creationId xmlns:a16="http://schemas.microsoft.com/office/drawing/2014/main" id="{FDD77313-5F5C-47DF-B9CB-F8E89BFC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670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8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Context</a:t>
            </a:r>
          </a:p>
        </p:txBody>
      </p:sp>
      <p:sp>
        <p:nvSpPr>
          <p:cNvPr id="107" name="legend-outcome-dot">
            <a:extLst xmlns:a="http://schemas.openxmlformats.org/drawingml/2006/main">
              <a:ext uri="{FF2B5EF4-FFF2-40B4-BE49-F238E27FC236}">
                <a16:creationId xmlns:a16="http://schemas.microsoft.com/office/drawing/2014/main" id="{E2F79101-1E12-4CE9-8BA4-418E71BF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051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BBD7"/>
          </a:solidFill>
          <a:ln xmlns:a="http://schemas.openxmlformats.org/drawingml/2006/main" w="9525">
            <a:solidFill>
              <a:srgbClr val="CC79A7"/>
            </a:solidFill>
            <a:prstDash val="solid"/>
          </a:ln>
        </p:spPr>
      </p:sp>
      <p:sp>
        <p:nvSpPr>
          <p:cNvPr id="108" name="legend-outcome">
            <a:extLst xmlns:a="http://schemas.openxmlformats.org/drawingml/2006/main">
              <a:ext uri="{FF2B5EF4-FFF2-40B4-BE49-F238E27FC236}">
                <a16:creationId xmlns:a16="http://schemas.microsoft.com/office/drawing/2014/main" id="{56C9B13C-9997-40F0-89AF-5F6F2C43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67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8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Outcome</a:t>
            </a:r>
          </a:p>
        </p:txBody>
      </p:sp>
      <p:sp>
        <p:nvSpPr>
          <p:cNvPr id="109" name="candidate-treatments">
            <a:extLst xmlns:a="http://schemas.openxmlformats.org/drawingml/2006/main">
              <a:ext uri="{FF2B5EF4-FFF2-40B4-BE49-F238E27FC236}">
                <a16:creationId xmlns:a16="http://schemas.microsoft.com/office/drawing/2014/main" id="{9C038352-6D1D-45C7-B87A-026B832F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86200"/>
            <a:ext cx="1276350" cy="68580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Candidate treatments</a:t>
            </a:r>
          </a:p>
          <a:p xmlns:a="http://schemas.openxmlformats.org/drawingml/2006/main">
            <a:pPr algn="ctr">
              <a:defRPr sz="1125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SMD · UA · UOS</a:t>
            </a:r>
          </a:p>
        </p:txBody>
      </p:sp>
      <p:sp>
        <p:nvSpPr>
          <p:cNvPr id="110" name="support-overlap-filters">
            <a:extLst xmlns:a="http://schemas.openxmlformats.org/drawingml/2006/main">
              <a:ext uri="{FF2B5EF4-FFF2-40B4-BE49-F238E27FC236}">
                <a16:creationId xmlns:a16="http://schemas.microsoft.com/office/drawing/2014/main" id="{63756A07-C5F6-4A98-9CCD-BD5465F6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52850"/>
            <a:ext cx="1409700" cy="971550"/>
          </a:xfrm>
          <a:prstGeom xmlns:a="http://schemas.openxmlformats.org/drawingml/2006/main" prst="roundRect">
            <a:avLst>
              <a:gd name="adj" fmla="val 4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9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Support &amp; overlap</a:t>
            </a:r>
          </a:p>
          <a:p xmlns:a="http://schemas.openxmlformats.org/drawingml/2006/main">
            <a:pPr algn="ctr">
              <a:defRPr sz="99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9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sₘᵢₙ = 20 each arm</a:t>
            </a:r>
          </a:p>
          <a:p xmlns:a="http://schemas.openxmlformats.org/drawingml/2006/main">
            <a:pPr algn="ctr">
              <a:defRPr sz="99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9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non-empty 2×2 cells</a:t>
            </a:r>
          </a:p>
          <a:p xmlns:a="http://schemas.openxmlformats.org/drawingml/2006/main">
            <a:pPr algn="ctr">
              <a:defRPr sz="99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9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top k = 20</a:t>
            </a:r>
          </a:p>
        </p:txBody>
      </p:sp>
      <p:sp>
        <p:nvSpPr>
          <p:cNvPr id="111" name="treatment-graph-frame">
            <a:extLst xmlns:a="http://schemas.openxmlformats.org/drawingml/2006/main">
              <a:ext uri="{FF2B5EF4-FFF2-40B4-BE49-F238E27FC236}">
                <a16:creationId xmlns:a16="http://schemas.microsoft.com/office/drawing/2014/main" id="{A23B205F-18DE-4534-8EC3-44FAE677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14750"/>
            <a:ext cx="1600200" cy="1409700"/>
          </a:xfrm>
          <a:prstGeom xmlns:a="http://schemas.openxmlformats.org/drawingml/2006/main" prst="roundRect">
            <a:avLst>
              <a:gd name="adj" fmla="val 3378"/>
            </a:avLst>
          </a:prstGeom>
          <a:solidFill xmlns:a="http://schemas.openxmlformats.org/drawingml/2006/main">
            <a:srgbClr val="EDF8F4"/>
          </a:solidFill>
          <a:ln xmlns:a="http://schemas.openxmlformats.org/drawingml/2006/main" w="11430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2" name="treatment-graph-title">
            <a:extLst xmlns:a="http://schemas.openxmlformats.org/drawingml/2006/main">
              <a:ext uri="{FF2B5EF4-FFF2-40B4-BE49-F238E27FC236}">
                <a16:creationId xmlns:a16="http://schemas.microsoft.com/office/drawing/2014/main" id="{B81AA73B-1CC6-4C26-8082-A4F4E2B9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77190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2428"/>
          </a:bodyPr>
          <a:lstStyle xmlns:a="http://schemas.openxmlformats.org/drawingml/2006/main"/>
          <a:p xmlns:a="http://schemas.openxmlformats.org/drawingml/2006/main">
            <a:pPr algn="ctr">
              <a:defRPr sz="1088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Treatment-specific graph Gₜ</a:t>
            </a:r>
          </a:p>
        </p:txBody>
      </p:sp>
      <p:sp>
        <p:nvSpPr>
          <p:cNvPr id="113" name="gt-z1">
            <a:extLst xmlns:a="http://schemas.openxmlformats.org/drawingml/2006/main">
              <a:ext uri="{FF2B5EF4-FFF2-40B4-BE49-F238E27FC236}">
                <a16:creationId xmlns:a16="http://schemas.microsoft.com/office/drawing/2014/main" id="{8CD0B564-5F96-42B3-93CD-BBF4AC94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71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DDF2"/>
          </a:solidFill>
          <a:ln xmlns:a="http://schemas.openxmlformats.org/drawingml/2006/main" w="9525">
            <a:solidFill>
              <a:srgbClr val="0072B2"/>
            </a:solidFill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Z₁</a:t>
            </a:r>
          </a:p>
        </p:txBody>
      </p:sp>
      <p:sp>
        <p:nvSpPr>
          <p:cNvPr id="114" name="gt-z2">
            <a:extLst xmlns:a="http://schemas.openxmlformats.org/drawingml/2006/main">
              <a:ext uri="{FF2B5EF4-FFF2-40B4-BE49-F238E27FC236}">
                <a16:creationId xmlns:a16="http://schemas.microsoft.com/office/drawing/2014/main" id="{944D5C11-264B-4993-A39B-50919EA7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29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DDF2"/>
          </a:solidFill>
          <a:ln xmlns:a="http://schemas.openxmlformats.org/drawingml/2006/main" w="9525">
            <a:solidFill>
              <a:srgbClr val="0072B2"/>
            </a:solidFill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Z₂</a:t>
            </a:r>
          </a:p>
        </p:txBody>
      </p:sp>
      <p:sp>
        <p:nvSpPr>
          <p:cNvPr id="115" name="gt-t">
            <a:extLst xmlns:a="http://schemas.openxmlformats.org/drawingml/2006/main">
              <a:ext uri="{FF2B5EF4-FFF2-40B4-BE49-F238E27FC236}">
                <a16:creationId xmlns:a16="http://schemas.microsoft.com/office/drawing/2014/main" id="{92937E97-095C-4C8E-B179-7023DE8C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286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5A7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16" name="gt-y">
            <a:extLst xmlns:a="http://schemas.openxmlformats.org/drawingml/2006/main">
              <a:ext uri="{FF2B5EF4-FFF2-40B4-BE49-F238E27FC236}">
                <a16:creationId xmlns:a16="http://schemas.microsoft.com/office/drawing/2014/main" id="{BB3F4A08-8833-4101-853E-1CB6B187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86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BBD7"/>
          </a:solidFill>
          <a:ln xmlns:a="http://schemas.openxmlformats.org/drawingml/2006/main" w="9525">
            <a:solidFill>
              <a:srgbClr val="CC79A7"/>
            </a:solidFill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Y</a:t>
            </a:r>
          </a:p>
        </p:txBody>
      </p:sp>
      <p:sp>
        <p:nvSpPr>
          <p:cNvPr id="117" name="z-set-label">
            <a:extLst xmlns:a="http://schemas.openxmlformats.org/drawingml/2006/main">
              <a:ext uri="{FF2B5EF4-FFF2-40B4-BE49-F238E27FC236}">
                <a16:creationId xmlns:a16="http://schemas.microsoft.com/office/drawing/2014/main" id="{E8BE3975-09CC-47B3-A83D-B83D7B0F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149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57937"/>
          </a:bodyPr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Zₜ</a:t>
            </a:r>
          </a:p>
        </p:txBody>
      </p:sp>
      <p:sp>
        <p:nvSpPr>
          <p:cNvPr id="118" name="constraint-upstream">
            <a:extLst xmlns:a="http://schemas.openxmlformats.org/drawingml/2006/main">
              <a:ext uri="{FF2B5EF4-FFF2-40B4-BE49-F238E27FC236}">
                <a16:creationId xmlns:a16="http://schemas.microsoft.com/office/drawing/2014/main" id="{2025DF61-CD0C-415B-B4B4-EDF8D211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19700"/>
            <a:ext cx="14668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Upstream + context only</a:t>
            </a:r>
          </a:p>
        </p:txBody>
      </p:sp>
      <p:sp>
        <p:nvSpPr>
          <p:cNvPr id="119" name="constraint-exclusions">
            <a:extLst xmlns:a="http://schemas.openxmlformats.org/drawingml/2006/main">
              <a:ext uri="{FF2B5EF4-FFF2-40B4-BE49-F238E27FC236}">
                <a16:creationId xmlns:a16="http://schemas.microsoft.com/office/drawing/2014/main" id="{50742336-0549-48FE-8C7D-E02E31FE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219700"/>
            <a:ext cx="186690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Same layer / descendants excluded</a:t>
            </a:r>
          </a:p>
        </p:txBody>
      </p:sp>
      <p:sp>
        <p:nvSpPr>
          <p:cNvPr id="120" name="constraint-max-z">
            <a:extLst xmlns:a="http://schemas.openxmlformats.org/drawingml/2006/main">
              <a:ext uri="{FF2B5EF4-FFF2-40B4-BE49-F238E27FC236}">
                <a16:creationId xmlns:a16="http://schemas.microsoft.com/office/drawing/2014/main" id="{D6226DE0-3128-4036-82F4-A2E3AAB5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19700"/>
            <a:ext cx="95250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8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|Zₜ| ≤ 12</a:t>
            </a:r>
          </a:p>
        </p:txBody>
      </p:sp>
      <p:sp>
        <p:nvSpPr>
          <p:cNvPr id="121" name="theory-driven-note">
            <a:extLst xmlns:a="http://schemas.openxmlformats.org/drawingml/2006/main">
              <a:ext uri="{FF2B5EF4-FFF2-40B4-BE49-F238E27FC236}">
                <a16:creationId xmlns:a16="http://schemas.microsoft.com/office/drawing/2014/main" id="{F0199A1A-84F9-41A6-B0DD-70E36F8D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791200"/>
            <a:ext cx="2952750" cy="51435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EDF8F4"/>
          </a:solidFill>
          <a:ln xmlns:a="http://schemas.openxmlformats.org/drawingml/2006/main" w="8573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Theory-driven direction</a:t>
            </a:r>
          </a:p>
          <a:p xmlns:a="http://schemas.openxmlformats.org/drawingml/2006/main">
            <a:pPr algn="ctr">
              <a:defRPr sz="105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No structure discovery</a:t>
            </a:r>
          </a:p>
        </p:txBody>
      </p:sp>
      <p:sp>
        <p:nvSpPr>
          <p:cNvPr id="122" name="dowhy-model">
            <a:extLst xmlns:a="http://schemas.openxmlformats.org/drawingml/2006/main">
              <a:ext uri="{FF2B5EF4-FFF2-40B4-BE49-F238E27FC236}">
                <a16:creationId xmlns:a16="http://schemas.microsoft.com/office/drawing/2014/main" id="{DB476FDC-48DE-4D64-AB8E-AAC86A39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800100"/>
            <a:ext cx="10287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11430">
            <a:solidFill>
              <a:srgbClr val="D55E00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rPr>
              <a:t>DoWhy</a:t>
            </a:r>
          </a:p>
          <a:p xmlns:a="http://schemas.openxmlformats.org/drawingml/2006/main">
            <a:pPr algn="ctr">
              <a:defRPr sz="1125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rPr>
              <a:t>CausalModel</a:t>
            </a:r>
          </a:p>
        </p:txBody>
      </p:sp>
      <p:sp>
        <p:nvSpPr>
          <p:cNvPr id="123" name="backdoor-identify">
            <a:extLst xmlns:a="http://schemas.openxmlformats.org/drawingml/2006/main">
              <a:ext uri="{FF2B5EF4-FFF2-40B4-BE49-F238E27FC236}">
                <a16:creationId xmlns:a16="http://schemas.microsoft.com/office/drawing/2014/main" id="{37F0E5E7-0F9C-4B58-95AC-1C32F6E3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00100"/>
            <a:ext cx="10287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11430">
            <a:solidFill>
              <a:srgbClr val="D55E00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rPr>
              <a:t>Backdoor</a:t>
            </a:r>
          </a:p>
          <a:p xmlns:a="http://schemas.openxmlformats.org/drawingml/2006/main">
            <a:pPr algn="ctr">
              <a:defRPr sz="1125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rPr>
              <a:t>identify</a:t>
            </a:r>
          </a:p>
        </p:txBody>
      </p:sp>
      <p:sp>
        <p:nvSpPr>
          <p:cNvPr id="124" name="ols-estimate">
            <a:extLst xmlns:a="http://schemas.openxmlformats.org/drawingml/2006/main">
              <a:ext uri="{FF2B5EF4-FFF2-40B4-BE49-F238E27FC236}">
                <a16:creationId xmlns:a16="http://schemas.microsoft.com/office/drawing/2014/main" id="{63E23E61-3B39-491C-80F5-8F935679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800100"/>
            <a:ext cx="10287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11430">
            <a:solidFill>
              <a:srgbClr val="D55E00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rPr>
              <a:t>OLS estimate</a:t>
            </a:r>
          </a:p>
          <a:p xmlns:a="http://schemas.openxmlformats.org/drawingml/2006/main">
            <a:pPr algn="ctr">
              <a:defRPr sz="1125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rPr>
              <a:t>τ̂ₜ = β̂ₜ</a:t>
            </a:r>
          </a:p>
        </p:txBody>
      </p:sp>
      <p:sp>
        <p:nvSpPr>
          <p:cNvPr id="125" name="bootstrap">
            <a:extLst xmlns:a="http://schemas.openxmlformats.org/drawingml/2006/main">
              <a:ext uri="{FF2B5EF4-FFF2-40B4-BE49-F238E27FC236}">
                <a16:creationId xmlns:a16="http://schemas.microsoft.com/office/drawing/2014/main" id="{857EA0B3-DB0F-4227-86A3-C45C9F48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800100"/>
            <a:ext cx="8763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11430">
            <a:solidFill>
              <a:srgbClr val="D55E00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rPr>
              <a:t>Bootstrap</a:t>
            </a:r>
          </a:p>
          <a:p xmlns:a="http://schemas.openxmlformats.org/drawingml/2006/main">
            <a:pPr algn="ctr">
              <a:defRPr sz="1125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rPr>
              <a:t>B = 500</a:t>
            </a:r>
          </a:p>
        </p:txBody>
      </p:sp>
      <p:sp>
        <p:nvSpPr>
          <p:cNvPr id="126" name="identification-assumptions">
            <a:extLst xmlns:a="http://schemas.openxmlformats.org/drawingml/2006/main">
              <a:ext uri="{FF2B5EF4-FFF2-40B4-BE49-F238E27FC236}">
                <a16:creationId xmlns:a16="http://schemas.microsoft.com/office/drawing/2014/main" id="{31AA5530-7E23-4563-91C0-95DCA3B1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52600"/>
            <a:ext cx="1981200" cy="742950"/>
          </a:xfrm>
          <a:prstGeom xmlns:a="http://schemas.openxmlformats.org/drawingml/2006/main" prst="roundRect">
            <a:avLst>
              <a:gd name="adj" fmla="val 64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E69F00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9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Identification assumptions</a:t>
            </a:r>
          </a:p>
          <a:p xmlns:a="http://schemas.openxmlformats.org/drawingml/2006/main">
            <a:pPr algn="ctr">
              <a:defRPr sz="99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9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consistency · positivity</a:t>
            </a:r>
          </a:p>
          <a:p xmlns:a="http://schemas.openxmlformats.org/drawingml/2006/main">
            <a:pPr algn="ctr">
              <a:defRPr sz="99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9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conditional exchangeability</a:t>
            </a:r>
          </a:p>
        </p:txBody>
      </p:sp>
      <p:sp>
        <p:nvSpPr>
          <p:cNvPr id="127" name="bootstrap-uncertainty">
            <a:extLst xmlns:a="http://schemas.openxmlformats.org/drawingml/2006/main">
              <a:ext uri="{FF2B5EF4-FFF2-40B4-BE49-F238E27FC236}">
                <a16:creationId xmlns:a16="http://schemas.microsoft.com/office/drawing/2014/main" id="{8BB4BEDB-624B-4B3F-A28F-64B52547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1752600"/>
            <a:ext cx="1695450" cy="742950"/>
          </a:xfrm>
          <a:prstGeom xmlns:a="http://schemas.openxmlformats.org/drawingml/2006/main" prst="roundRect">
            <a:avLst>
              <a:gd name="adj" fmla="val 64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E69F00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9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Percentile 95% CI</a:t>
            </a:r>
          </a:p>
          <a:p xmlns:a="http://schemas.openxmlformats.org/drawingml/2006/main">
            <a:pPr algn="ctr">
              <a:defRPr sz="99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9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bootstrap SE · p diagnostic</a:t>
            </a:r>
          </a:p>
        </p:txBody>
      </p:sp>
      <p:sp>
        <p:nvSpPr>
          <p:cNvPr id="128" name="refutation-title">
            <a:extLst xmlns:a="http://schemas.openxmlformats.org/drawingml/2006/main">
              <a:ext uri="{FF2B5EF4-FFF2-40B4-BE49-F238E27FC236}">
                <a16:creationId xmlns:a16="http://schemas.microsoft.com/office/drawing/2014/main" id="{44E3FFF5-C4F6-4CAD-A2D5-A66B7FB2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956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CC79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CC79A7"/>
                </a:solidFill>
                <a:latin typeface="Times New Roman"/>
                <a:ea typeface="Times New Roman"/>
                <a:cs typeface="Times New Roman"/>
              </a:rPr>
              <a:t>Refutation diagnostics</a:t>
            </a:r>
          </a:p>
        </p:txBody>
      </p:sp>
      <p:sp>
        <p:nvSpPr>
          <p:cNvPr id="129" name="random-common-cause">
            <a:extLst xmlns:a="http://schemas.openxmlformats.org/drawingml/2006/main">
              <a:ext uri="{FF2B5EF4-FFF2-40B4-BE49-F238E27FC236}">
                <a16:creationId xmlns:a16="http://schemas.microsoft.com/office/drawing/2014/main" id="{C2BFB174-F8AF-4D60-BCBF-E524F855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57550"/>
            <a:ext cx="1657350" cy="51435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BF0F6"/>
          </a:solidFill>
          <a:ln xmlns:a="http://schemas.openxmlformats.org/drawingml/2006/main" w="10478">
            <a:solidFill>
              <a:srgbClr val="CC79A7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1" i="0">
                <a:solidFill>
                  <a:srgbClr val="CC79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 b="1" i="0">
                <a:solidFill>
                  <a:srgbClr val="CC79A7"/>
                </a:solidFill>
                <a:latin typeface="Times New Roman"/>
                <a:ea typeface="Times New Roman"/>
                <a:cs typeface="Times New Roman"/>
              </a:rPr>
              <a:t>Random common cause</a:t>
            </a:r>
          </a:p>
        </p:txBody>
      </p:sp>
      <p:sp>
        <p:nvSpPr>
          <p:cNvPr id="130" name="placebo-treatment">
            <a:extLst xmlns:a="http://schemas.openxmlformats.org/drawingml/2006/main">
              <a:ext uri="{FF2B5EF4-FFF2-40B4-BE49-F238E27FC236}">
                <a16:creationId xmlns:a16="http://schemas.microsoft.com/office/drawing/2014/main" id="{ADF16A1C-B918-4766-83E6-975B2D3D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257550"/>
            <a:ext cx="1657350" cy="51435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BF0F6"/>
          </a:solidFill>
          <a:ln xmlns:a="http://schemas.openxmlformats.org/drawingml/2006/main" w="10478">
            <a:solidFill>
              <a:srgbClr val="CC79A7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1" i="0">
                <a:solidFill>
                  <a:srgbClr val="CC79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 b="1" i="0">
                <a:solidFill>
                  <a:srgbClr val="CC79A7"/>
                </a:solidFill>
                <a:latin typeface="Times New Roman"/>
                <a:ea typeface="Times New Roman"/>
                <a:cs typeface="Times New Roman"/>
              </a:rPr>
              <a:t>Placebo treatment</a:t>
            </a:r>
          </a:p>
        </p:txBody>
      </p:sp>
      <p:sp>
        <p:nvSpPr>
          <p:cNvPr id="131" name="effect-record">
            <a:extLst xmlns:a="http://schemas.openxmlformats.org/drawingml/2006/main">
              <a:ext uri="{FF2B5EF4-FFF2-40B4-BE49-F238E27FC236}">
                <a16:creationId xmlns:a16="http://schemas.microsoft.com/office/drawing/2014/main" id="{E404721B-8CDD-4F13-A359-128D97E6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337185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11430">
            <a:solidFill>
              <a:srgbClr val="222222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2" name="effect-record-title">
            <a:extLst xmlns:a="http://schemas.openxmlformats.org/drawingml/2006/main">
              <a:ext uri="{FF2B5EF4-FFF2-40B4-BE49-F238E27FC236}">
                <a16:creationId xmlns:a16="http://schemas.microsoft.com/office/drawing/2014/main" id="{83C7EE79-151A-40C4-8694-2CBD7A23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438650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Effect record</a:t>
            </a:r>
          </a:p>
        </p:txBody>
      </p:sp>
      <p:sp>
        <p:nvSpPr>
          <p:cNvPr id="133" name="output-ate">
            <a:extLst xmlns:a="http://schemas.openxmlformats.org/drawingml/2006/main">
              <a:ext uri="{FF2B5EF4-FFF2-40B4-BE49-F238E27FC236}">
                <a16:creationId xmlns:a16="http://schemas.microsoft.com/office/drawing/2014/main" id="{DD254713-2B1D-4738-854A-28030A43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876800"/>
            <a:ext cx="523875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7620">
            <a:solidFill>
              <a:srgbClr val="E69F00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3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rPr>
              <a:t>ATE</a:t>
            </a:r>
          </a:p>
        </p:txBody>
      </p:sp>
      <p:sp>
        <p:nvSpPr>
          <p:cNvPr id="134" name="output-ci">
            <a:extLst xmlns:a="http://schemas.openxmlformats.org/drawingml/2006/main">
              <a:ext uri="{FF2B5EF4-FFF2-40B4-BE49-F238E27FC236}">
                <a16:creationId xmlns:a16="http://schemas.microsoft.com/office/drawing/2014/main" id="{5FE0881D-9C51-4226-BEEF-9231B839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876800"/>
            <a:ext cx="66675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7620">
            <a:solidFill>
              <a:srgbClr val="E69F00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3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rPr>
              <a:t>95% CI</a:t>
            </a:r>
          </a:p>
        </p:txBody>
      </p:sp>
      <p:sp>
        <p:nvSpPr>
          <p:cNvPr id="135" name="output-rd">
            <a:extLst xmlns:a="http://schemas.openxmlformats.org/drawingml/2006/main">
              <a:ext uri="{FF2B5EF4-FFF2-40B4-BE49-F238E27FC236}">
                <a16:creationId xmlns:a16="http://schemas.microsoft.com/office/drawing/2014/main" id="{F7059D35-85BC-4772-A85C-1F666645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4876800"/>
            <a:ext cx="904875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EC5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23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3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Unadjusted RD</a:t>
            </a:r>
          </a:p>
        </p:txBody>
      </p:sp>
      <p:sp>
        <p:nvSpPr>
          <p:cNvPr id="136" name="output-review">
            <a:extLst xmlns:a="http://schemas.openxmlformats.org/drawingml/2006/main">
              <a:ext uri="{FF2B5EF4-FFF2-40B4-BE49-F238E27FC236}">
                <a16:creationId xmlns:a16="http://schemas.microsoft.com/office/drawing/2014/main" id="{806E40A4-0002-4F92-9662-22CE9C8B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1525" y="4876800"/>
            <a:ext cx="76200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BF0F6"/>
          </a:solidFill>
          <a:ln xmlns:a="http://schemas.openxmlformats.org/drawingml/2006/main" w="7620">
            <a:solidFill>
              <a:srgbClr val="CC79A7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 b="1" i="0">
                <a:solidFill>
                  <a:srgbClr val="CC79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5" b="1" i="0">
                <a:solidFill>
                  <a:srgbClr val="CC79A7"/>
                </a:solidFill>
                <a:latin typeface="Times New Roman"/>
                <a:ea typeface="Times New Roman"/>
                <a:cs typeface="Times New Roman"/>
              </a:rPr>
              <a:t>needs_review</a:t>
            </a:r>
          </a:p>
        </p:txBody>
      </p:sp>
      <p:sp>
        <p:nvSpPr>
          <p:cNvPr id="137" name="output-provenance">
            <a:extLst xmlns:a="http://schemas.openxmlformats.org/drawingml/2006/main">
              <a:ext uri="{FF2B5EF4-FFF2-40B4-BE49-F238E27FC236}">
                <a16:creationId xmlns:a16="http://schemas.microsoft.com/office/drawing/2014/main" id="{B99B1156-344F-4CC6-93C5-BF14BA26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257800"/>
            <a:ext cx="3028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estimand · Zₜ · group risks · refuter records</a:t>
            </a:r>
          </a:p>
        </p:txBody>
      </p:sp>
      <p:sp>
        <p:nvSpPr>
          <p:cNvPr id="138" name="quality-gate">
            <a:extLst xmlns:a="http://schemas.openxmlformats.org/drawingml/2006/main">
              <a:ext uri="{FF2B5EF4-FFF2-40B4-BE49-F238E27FC236}">
                <a16:creationId xmlns:a16="http://schemas.microsoft.com/office/drawing/2014/main" id="{933E431D-85D9-4B8E-8A74-A8814D42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943600"/>
            <a:ext cx="272415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79A7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CC79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CC79A7"/>
                </a:solidFill>
                <a:latin typeface="Times New Roman"/>
                <a:ea typeface="Times New Roman"/>
                <a:cs typeface="Times New Roman"/>
              </a:rPr>
              <a:t>Quality gate</a:t>
            </a:r>
          </a:p>
          <a:p xmlns:a="http://schemas.openxmlformats.org/drawingml/2006/main">
            <a:pPr algn="ctr">
              <a:defRPr sz="1050" b="1" i="0">
                <a:solidFill>
                  <a:srgbClr val="CC79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CC79A7"/>
                </a:solidFill>
                <a:latin typeface="Times New Roman"/>
                <a:ea typeface="Times New Roman"/>
                <a:cs typeface="Times New Roman"/>
              </a:rPr>
              <a:t>usable estimate or review flag</a:t>
            </a:r>
          </a:p>
        </p:txBody>
      </p:sp>
      <p:cxnSp>
        <p:nvCxnSpPr>
          <p:cNvPr id="326" name="input-kg-edge-1"/>
          <p:cNvCxnSpPr>
            <a:stCxn xmlns:a="http://schemas.openxmlformats.org/drawingml/2006/main" id="11" idx="6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447675" y="1119188"/>
            <a:ext cx="228600" cy="5715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0072B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27" name="input-kg-edge-2"/>
          <p:cNvCxnSpPr>
            <a:stCxn xmlns:a="http://schemas.openxmlformats.org/drawingml/2006/main" id="12" idx="5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98226" y="1169701"/>
            <a:ext cx="137097" cy="194247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0072B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28" name="input-kg-edge-3"/>
          <p:cNvCxnSpPr>
            <a:stCxn xmlns:a="http://schemas.openxmlformats.org/drawingml/2006/main" id="11" idx="4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376238" y="1247775"/>
            <a:ext cx="66675" cy="276225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0072B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29" name="input-kg-edge-4"/>
          <p:cNvCxnSpPr>
            <a:stCxn xmlns:a="http://schemas.openxmlformats.org/drawingml/2006/main" id="14" idx="6"/>
            <a:endCxn xmlns:a="http://schemas.openxmlformats.org/drawingml/2006/main" id="15" idx="2"/>
          </p:cNvCxnSpPr>
          <p:nvPr/>
        </p:nvCxnSpPr>
        <p:spPr>
          <a:xfrm xmlns:a="http://schemas.openxmlformats.org/drawingml/2006/main">
            <a:off x="514350" y="1595438"/>
            <a:ext cx="219075" cy="85725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0072B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30" name="input-kg-edge-5"/>
          <p:cNvCxnSpPr>
            <a:stCxn xmlns:a="http://schemas.openxmlformats.org/drawingml/2006/main" id="15" idx="7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V="1">
            <a:off x="855376" y="1464976"/>
            <a:ext cx="79947" cy="165672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0072B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31" name="kg-to-provenance"/>
          <p:cNvCxnSpPr>
            <a:stCxn xmlns:a="http://schemas.openxmlformats.org/drawingml/2006/main" id="9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1171575" y="1276350"/>
            <a:ext cx="209550" cy="3238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0072B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32" name="cases-to-provenance"/>
          <p:cNvCxnSpPr>
            <a:stCxn xmlns:a="http://schemas.openxmlformats.org/drawingml/2006/main" id="16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 flipV="1">
            <a:off x="1171575" y="1600200"/>
            <a:ext cx="209550" cy="1104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0072B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33" name="provenance-to-matrix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2352675" y="1600200"/>
            <a:ext cx="142875" cy="8572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0072B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34" name="entity-to-matrix"/>
          <p:cNvCxnSpPr>
            <a:stCxn xmlns:a="http://schemas.openxmlformats.org/drawingml/2006/main" id="81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 flipV="1">
            <a:off x="2390775" y="1685925"/>
            <a:ext cx="104775" cy="904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0072B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35" name="layer-to-matrix"/>
          <p:cNvCxnSpPr>
            <a:stCxn xmlns:a="http://schemas.openxmlformats.org/drawingml/2006/main" id="82" idx="3"/>
            <a:endCxn xmlns:a="http://schemas.openxmlformats.org/drawingml/2006/main" id="35" idx="2"/>
          </p:cNvCxnSpPr>
          <p:nvPr/>
        </p:nvCxnSpPr>
        <p:spPr>
          <a:xfrm xmlns:a="http://schemas.openxmlformats.org/drawingml/2006/main" flipV="1">
            <a:off x="2390775" y="2647950"/>
            <a:ext cx="557213" cy="638175"/>
          </a:xfrm>
          <a:prstGeom xmlns:a="http://schemas.openxmlformats.org/drawingml/2006/main" prst="bentConnector2">
            <a:avLst/>
          </a:prstGeom>
          <a:ln xmlns:a="http://schemas.openxmlformats.org/drawingml/2006/main" w="13335">
            <a:solidFill>
              <a:srgbClr val="0072B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36" name="severe-to-matrix"/>
          <p:cNvCxnSpPr>
            <a:stCxn xmlns:a="http://schemas.openxmlformats.org/drawingml/2006/main" id="83" idx="3"/>
            <a:endCxn xmlns:a="http://schemas.openxmlformats.org/drawingml/2006/main" id="35" idx="2"/>
          </p:cNvCxnSpPr>
          <p:nvPr/>
        </p:nvCxnSpPr>
        <p:spPr>
          <a:xfrm xmlns:a="http://schemas.openxmlformats.org/drawingml/2006/main" flipV="1">
            <a:off x="2390775" y="2647950"/>
            <a:ext cx="557213" cy="1381125"/>
          </a:xfrm>
          <a:prstGeom xmlns:a="http://schemas.openxmlformats.org/drawingml/2006/main" prst="bentConnector2">
            <a:avLst/>
          </a:prstGeom>
          <a:ln xmlns:a="http://schemas.openxmlformats.org/drawingml/2006/main" w="13335">
            <a:solidFill>
              <a:srgbClr val="0072B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37" name="matrix-to-summary"/>
          <p:cNvCxnSpPr>
            <a:stCxn xmlns:a="http://schemas.openxmlformats.org/drawingml/2006/main" id="35" idx="2"/>
            <a:endCxn xmlns:a="http://schemas.openxmlformats.org/drawingml/2006/main" id="86" idx="0"/>
          </p:cNvCxnSpPr>
          <p:nvPr/>
        </p:nvCxnSpPr>
        <p:spPr>
          <a:xfrm xmlns:a="http://schemas.openxmlformats.org/drawingml/2006/main" flipH="1">
            <a:off x="1771650" y="2647950"/>
            <a:ext cx="1176338" cy="21145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3335">
            <a:solidFill>
              <a:srgbClr val="0072B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38" name="dag-scd-smd"/>
          <p:cNvCxnSpPr>
            <a:stCxn xmlns:a="http://schemas.openxmlformats.org/drawingml/2006/main" id="90" idx="6"/>
            <a:endCxn xmlns:a="http://schemas.openxmlformats.org/drawingml/2006/main" id="91" idx="2"/>
          </p:cNvCxnSpPr>
          <p:nvPr/>
        </p:nvCxnSpPr>
        <p:spPr>
          <a:xfrm xmlns:a="http://schemas.openxmlformats.org/drawingml/2006/main">
            <a:off x="4495800" y="13525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09E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39" name="dag-smd-scap"/>
          <p:cNvCxnSpPr>
            <a:stCxn xmlns:a="http://schemas.openxmlformats.org/drawingml/2006/main" id="91" idx="6"/>
            <a:endCxn xmlns:a="http://schemas.openxmlformats.org/drawingml/2006/main" id="92" idx="2"/>
          </p:cNvCxnSpPr>
          <p:nvPr/>
        </p:nvCxnSpPr>
        <p:spPr>
          <a:xfrm xmlns:a="http://schemas.openxmlformats.org/drawingml/2006/main">
            <a:off x="5314950" y="13525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09E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40" name="dag-scap-ua"/>
          <p:cNvCxnSpPr>
            <a:stCxn xmlns:a="http://schemas.openxmlformats.org/drawingml/2006/main" id="92" idx="6"/>
            <a:endCxn xmlns:a="http://schemas.openxmlformats.org/drawingml/2006/main" id="93" idx="2"/>
          </p:cNvCxnSpPr>
          <p:nvPr/>
        </p:nvCxnSpPr>
        <p:spPr>
          <a:xfrm xmlns:a="http://schemas.openxmlformats.org/drawingml/2006/main" flipV="1">
            <a:off x="6134100" y="1200150"/>
            <a:ext cx="36195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09E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41" name="dag-smd-uos"/>
          <p:cNvCxnSpPr>
            <a:stCxn xmlns:a="http://schemas.openxmlformats.org/drawingml/2006/main" id="91" idx="4"/>
            <a:endCxn xmlns:a="http://schemas.openxmlformats.org/drawingml/2006/main" id="94" idx="2"/>
          </p:cNvCxnSpPr>
          <p:nvPr/>
        </p:nvCxnSpPr>
        <p:spPr>
          <a:xfrm xmlns:a="http://schemas.openxmlformats.org/drawingml/2006/main">
            <a:off x="5086350" y="1581150"/>
            <a:ext cx="1409700" cy="36195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3335">
            <a:solidFill>
              <a:srgbClr val="009E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42" name="dag-ua-y"/>
          <p:cNvCxnSpPr>
            <a:stCxn xmlns:a="http://schemas.openxmlformats.org/drawingml/2006/main" id="93" idx="6"/>
            <a:endCxn xmlns:a="http://schemas.openxmlformats.org/drawingml/2006/main" id="95" idx="2"/>
          </p:cNvCxnSpPr>
          <p:nvPr/>
        </p:nvCxnSpPr>
        <p:spPr>
          <a:xfrm xmlns:a="http://schemas.openxmlformats.org/drawingml/2006/main">
            <a:off x="6953250" y="1200150"/>
            <a:ext cx="57150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09E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43" name="dag-uos-y"/>
          <p:cNvCxnSpPr>
            <a:stCxn xmlns:a="http://schemas.openxmlformats.org/drawingml/2006/main" id="94" idx="6"/>
            <a:endCxn xmlns:a="http://schemas.openxmlformats.org/drawingml/2006/main" id="95" idx="2"/>
          </p:cNvCxnSpPr>
          <p:nvPr/>
        </p:nvCxnSpPr>
        <p:spPr>
          <a:xfrm xmlns:a="http://schemas.openxmlformats.org/drawingml/2006/main" flipV="1">
            <a:off x="6953250" y="1609725"/>
            <a:ext cx="57150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09E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44" name="dag-act-ua"/>
          <p:cNvCxnSpPr>
            <a:stCxn xmlns:a="http://schemas.openxmlformats.org/drawingml/2006/main" id="96" idx="0"/>
            <a:endCxn xmlns:a="http://schemas.openxmlformats.org/drawingml/2006/main" id="93" idx="4"/>
          </p:cNvCxnSpPr>
          <p:nvPr/>
        </p:nvCxnSpPr>
        <p:spPr>
          <a:xfrm xmlns:a="http://schemas.openxmlformats.org/drawingml/2006/main" flipV="1">
            <a:off x="4981575" y="1428750"/>
            <a:ext cx="1743075" cy="1047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3335">
            <a:solidFill>
              <a:srgbClr val="0072B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45" name="dag-act-uos"/>
          <p:cNvCxnSpPr>
            <a:stCxn xmlns:a="http://schemas.openxmlformats.org/drawingml/2006/main" id="96" idx="0"/>
            <a:endCxn xmlns:a="http://schemas.openxmlformats.org/drawingml/2006/main" id="94" idx="4"/>
          </p:cNvCxnSpPr>
          <p:nvPr/>
        </p:nvCxnSpPr>
        <p:spPr>
          <a:xfrm xmlns:a="http://schemas.openxmlformats.org/drawingml/2006/main" flipV="1">
            <a:off x="4981575" y="2171700"/>
            <a:ext cx="1743075" cy="304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3335">
            <a:solidFill>
              <a:srgbClr val="0072B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46" name="dag-env-uos"/>
          <p:cNvCxnSpPr>
            <a:stCxn xmlns:a="http://schemas.openxmlformats.org/drawingml/2006/main" id="97" idx="0"/>
            <a:endCxn xmlns:a="http://schemas.openxmlformats.org/drawingml/2006/main" id="94" idx="4"/>
          </p:cNvCxnSpPr>
          <p:nvPr/>
        </p:nvCxnSpPr>
        <p:spPr>
          <a:xfrm xmlns:a="http://schemas.openxmlformats.org/drawingml/2006/main" flipV="1">
            <a:off x="5838825" y="2171700"/>
            <a:ext cx="885825" cy="304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3335">
            <a:solidFill>
              <a:srgbClr val="0072B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47" name="dag-env-y"/>
          <p:cNvCxnSpPr>
            <a:stCxn xmlns:a="http://schemas.openxmlformats.org/drawingml/2006/main" id="97" idx="6"/>
            <a:endCxn xmlns:a="http://schemas.openxmlformats.org/drawingml/2006/main" id="95" idx="4"/>
          </p:cNvCxnSpPr>
          <p:nvPr/>
        </p:nvCxnSpPr>
        <p:spPr>
          <a:xfrm xmlns:a="http://schemas.openxmlformats.org/drawingml/2006/main" flipV="1">
            <a:off x="6057900" y="1885950"/>
            <a:ext cx="1743075" cy="809625"/>
          </a:xfrm>
          <a:prstGeom xmlns:a="http://schemas.openxmlformats.org/drawingml/2006/main" prst="bentConnector2">
            <a:avLst/>
          </a:prstGeom>
          <a:ln xmlns:a="http://schemas.openxmlformats.org/drawingml/2006/main" w="13335">
            <a:solidFill>
              <a:srgbClr val="0072B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48" name="dag-atype-y"/>
          <p:cNvCxnSpPr>
            <a:stCxn xmlns:a="http://schemas.openxmlformats.org/drawingml/2006/main" id="98" idx="0"/>
            <a:endCxn xmlns:a="http://schemas.openxmlformats.org/drawingml/2006/main" id="95" idx="4"/>
          </p:cNvCxnSpPr>
          <p:nvPr/>
        </p:nvCxnSpPr>
        <p:spPr>
          <a:xfrm xmlns:a="http://schemas.openxmlformats.org/drawingml/2006/main" flipV="1">
            <a:off x="7591425" y="1885950"/>
            <a:ext cx="209550" cy="704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3335">
            <a:solidFill>
              <a:srgbClr val="666666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349" name="matrix-to-candidates"/>
          <p:cNvCxnSpPr>
            <a:stCxn xmlns:a="http://schemas.openxmlformats.org/drawingml/2006/main" id="86" idx="3"/>
            <a:endCxn xmlns:a="http://schemas.openxmlformats.org/drawingml/2006/main" id="109" idx="1"/>
          </p:cNvCxnSpPr>
          <p:nvPr/>
        </p:nvCxnSpPr>
        <p:spPr>
          <a:xfrm xmlns:a="http://schemas.openxmlformats.org/drawingml/2006/main" flipV="1">
            <a:off x="3086100" y="4229100"/>
            <a:ext cx="666750" cy="838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22222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50" name="candidate-to-filters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5029200" y="4229100"/>
            <a:ext cx="2095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9E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51" name="filters-to-treatment-graph"/>
          <p:cNvCxnSpPr>
            <a:stCxn xmlns:a="http://schemas.openxmlformats.org/drawingml/2006/main" id="110" idx="3"/>
            <a:endCxn xmlns:a="http://schemas.openxmlformats.org/drawingml/2006/main" id="111" idx="1"/>
          </p:cNvCxnSpPr>
          <p:nvPr/>
        </p:nvCxnSpPr>
        <p:spPr>
          <a:xfrm xmlns:a="http://schemas.openxmlformats.org/drawingml/2006/main">
            <a:off x="6648450" y="4238625"/>
            <a:ext cx="26670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9E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52" name="dag-to-treatment-graph"/>
          <p:cNvCxnSpPr>
            <a:stCxn xmlns:a="http://schemas.openxmlformats.org/drawingml/2006/main" id="88" idx="2"/>
            <a:endCxn xmlns:a="http://schemas.openxmlformats.org/drawingml/2006/main" id="111" idx="0"/>
          </p:cNvCxnSpPr>
          <p:nvPr/>
        </p:nvCxnSpPr>
        <p:spPr>
          <a:xfrm xmlns:a="http://schemas.openxmlformats.org/drawingml/2006/main">
            <a:off x="6134100" y="3448050"/>
            <a:ext cx="1581150" cy="266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009E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53" name="gt-z1-t"/>
          <p:cNvCxnSpPr>
            <a:stCxn xmlns:a="http://schemas.openxmlformats.org/drawingml/2006/main" id="113" idx="6"/>
            <a:endCxn xmlns:a="http://schemas.openxmlformats.org/drawingml/2006/main" id="115" idx="2"/>
          </p:cNvCxnSpPr>
          <p:nvPr/>
        </p:nvCxnSpPr>
        <p:spPr>
          <a:xfrm xmlns:a="http://schemas.openxmlformats.org/drawingml/2006/main">
            <a:off x="7391400" y="4333875"/>
            <a:ext cx="28575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072B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54" name="gt-z1-y"/>
          <p:cNvCxnSpPr>
            <a:stCxn xmlns:a="http://schemas.openxmlformats.org/drawingml/2006/main" id="113" idx="6"/>
            <a:endCxn xmlns:a="http://schemas.openxmlformats.org/drawingml/2006/main" id="116" idx="0"/>
          </p:cNvCxnSpPr>
          <p:nvPr/>
        </p:nvCxnSpPr>
        <p:spPr>
          <a:xfrm xmlns:a="http://schemas.openxmlformats.org/drawingml/2006/main" flipV="1">
            <a:off x="7391400" y="4286250"/>
            <a:ext cx="942975" cy="47625"/>
          </a:xfrm>
          <a:prstGeom xmlns:a="http://schemas.openxmlformats.org/drawingml/2006/main" prst="bentConnector2">
            <a:avLst/>
          </a:prstGeom>
          <a:ln xmlns:a="http://schemas.openxmlformats.org/drawingml/2006/main" w="13335">
            <a:solidFill>
              <a:srgbClr val="0072B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55" name="gt-z2-t"/>
          <p:cNvCxnSpPr>
            <a:stCxn xmlns:a="http://schemas.openxmlformats.org/drawingml/2006/main" id="114" idx="6"/>
            <a:endCxn xmlns:a="http://schemas.openxmlformats.org/drawingml/2006/main" id="115" idx="2"/>
          </p:cNvCxnSpPr>
          <p:nvPr/>
        </p:nvCxnSpPr>
        <p:spPr>
          <a:xfrm xmlns:a="http://schemas.openxmlformats.org/drawingml/2006/main" flipV="1">
            <a:off x="7391400" y="4486275"/>
            <a:ext cx="28575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072B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56" name="gt-z2-y"/>
          <p:cNvCxnSpPr>
            <a:stCxn xmlns:a="http://schemas.openxmlformats.org/drawingml/2006/main" id="114" idx="6"/>
            <a:endCxn xmlns:a="http://schemas.openxmlformats.org/drawingml/2006/main" id="116" idx="4"/>
          </p:cNvCxnSpPr>
          <p:nvPr/>
        </p:nvCxnSpPr>
        <p:spPr>
          <a:xfrm xmlns:a="http://schemas.openxmlformats.org/drawingml/2006/main" flipV="1">
            <a:off x="7391400" y="4686300"/>
            <a:ext cx="942975" cy="104775"/>
          </a:xfrm>
          <a:prstGeom xmlns:a="http://schemas.openxmlformats.org/drawingml/2006/main" prst="bentConnector2">
            <a:avLst/>
          </a:prstGeom>
          <a:ln xmlns:a="http://schemas.openxmlformats.org/drawingml/2006/main" w="13335">
            <a:solidFill>
              <a:srgbClr val="0072B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57" name="gt-t-y"/>
          <p:cNvCxnSpPr>
            <a:stCxn xmlns:a="http://schemas.openxmlformats.org/drawingml/2006/main" id="115" idx="6"/>
            <a:endCxn xmlns:a="http://schemas.openxmlformats.org/drawingml/2006/main" id="116" idx="2"/>
          </p:cNvCxnSpPr>
          <p:nvPr/>
        </p:nvCxnSpPr>
        <p:spPr>
          <a:xfrm xmlns:a="http://schemas.openxmlformats.org/drawingml/2006/main">
            <a:off x="8077200" y="4486275"/>
            <a:ext cx="571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D55E0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58" name="gt-to-model"/>
          <p:cNvCxnSpPr>
            <a:stCxn xmlns:a="http://schemas.openxmlformats.org/drawingml/2006/main" id="111" idx="3"/>
            <a:endCxn xmlns:a="http://schemas.openxmlformats.org/drawingml/2006/main" id="122" idx="1"/>
          </p:cNvCxnSpPr>
          <p:nvPr/>
        </p:nvCxnSpPr>
        <p:spPr>
          <a:xfrm xmlns:a="http://schemas.openxmlformats.org/drawingml/2006/main" flipV="1">
            <a:off x="8515350" y="1095375"/>
            <a:ext cx="514350" cy="33242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22222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59" name="model-to-identify"/>
          <p:cNvCxnSpPr>
            <a:stCxn xmlns:a="http://schemas.openxmlformats.org/drawingml/2006/main" id="122" idx="3"/>
            <a:endCxn xmlns:a="http://schemas.openxmlformats.org/drawingml/2006/main" id="123" idx="1"/>
          </p:cNvCxnSpPr>
          <p:nvPr/>
        </p:nvCxnSpPr>
        <p:spPr>
          <a:xfrm xmlns:a="http://schemas.openxmlformats.org/drawingml/2006/main">
            <a:off x="10058400" y="10953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55E0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60" name="identify-to-estimate"/>
          <p:cNvCxnSpPr>
            <a:stCxn xmlns:a="http://schemas.openxmlformats.org/drawingml/2006/main" id="123" idx="3"/>
            <a:endCxn xmlns:a="http://schemas.openxmlformats.org/drawingml/2006/main" id="124" idx="1"/>
          </p:cNvCxnSpPr>
          <p:nvPr/>
        </p:nvCxnSpPr>
        <p:spPr>
          <a:xfrm xmlns:a="http://schemas.openxmlformats.org/drawingml/2006/main">
            <a:off x="11315700" y="10953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55E0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61" name="estimate-to-bootstrap"/>
          <p:cNvCxnSpPr>
            <a:stCxn xmlns:a="http://schemas.openxmlformats.org/drawingml/2006/main" id="124" idx="3"/>
            <a:endCxn xmlns:a="http://schemas.openxmlformats.org/drawingml/2006/main" id="125" idx="1"/>
          </p:cNvCxnSpPr>
          <p:nvPr/>
        </p:nvCxnSpPr>
        <p:spPr>
          <a:xfrm xmlns:a="http://schemas.openxmlformats.org/drawingml/2006/main">
            <a:off x="12573000" y="1095375"/>
            <a:ext cx="762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55E0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62" name="identify-to-assumptions"/>
          <p:cNvCxnSpPr>
            <a:stCxn xmlns:a="http://schemas.openxmlformats.org/drawingml/2006/main" id="123" idx="2"/>
            <a:endCxn xmlns:a="http://schemas.openxmlformats.org/drawingml/2006/main" id="126" idx="0"/>
          </p:cNvCxnSpPr>
          <p:nvPr/>
        </p:nvCxnSpPr>
        <p:spPr>
          <a:xfrm xmlns:a="http://schemas.openxmlformats.org/drawingml/2006/main" flipH="1">
            <a:off x="10534650" y="1390650"/>
            <a:ext cx="26670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E69F00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363" name="bootstrap-to-uncertainty"/>
          <p:cNvCxnSpPr>
            <a:stCxn xmlns:a="http://schemas.openxmlformats.org/drawingml/2006/main" id="125" idx="2"/>
            <a:endCxn xmlns:a="http://schemas.openxmlformats.org/drawingml/2006/main" id="127" idx="0"/>
          </p:cNvCxnSpPr>
          <p:nvPr/>
        </p:nvCxnSpPr>
        <p:spPr>
          <a:xfrm xmlns:a="http://schemas.openxmlformats.org/drawingml/2006/main" flipH="1">
            <a:off x="12563475" y="1390650"/>
            <a:ext cx="523875" cy="361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3335">
            <a:solidFill>
              <a:srgbClr val="E69F00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364" name="estimate-to-random"/>
          <p:cNvCxnSpPr>
            <a:stCxn xmlns:a="http://schemas.openxmlformats.org/drawingml/2006/main" id="124" idx="2"/>
            <a:endCxn xmlns:a="http://schemas.openxmlformats.org/drawingml/2006/main" id="129" idx="0"/>
          </p:cNvCxnSpPr>
          <p:nvPr/>
        </p:nvCxnSpPr>
        <p:spPr>
          <a:xfrm xmlns:a="http://schemas.openxmlformats.org/drawingml/2006/main" flipH="1">
            <a:off x="10353675" y="1390650"/>
            <a:ext cx="1704975" cy="1866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3335">
            <a:solidFill>
              <a:srgbClr val="CC79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65" name="estimate-to-placebo"/>
          <p:cNvCxnSpPr>
            <a:stCxn xmlns:a="http://schemas.openxmlformats.org/drawingml/2006/main" id="124" idx="2"/>
            <a:endCxn xmlns:a="http://schemas.openxmlformats.org/drawingml/2006/main" id="130" idx="0"/>
          </p:cNvCxnSpPr>
          <p:nvPr/>
        </p:nvCxnSpPr>
        <p:spPr>
          <a:xfrm xmlns:a="http://schemas.openxmlformats.org/drawingml/2006/main">
            <a:off x="12058650" y="1390650"/>
            <a:ext cx="1466850" cy="1866900"/>
          </a:xfrm>
          <a:prstGeom xmlns:a="http://schemas.openxmlformats.org/drawingml/2006/main" prst="bentConnector4">
            <a:avLst/>
          </a:prstGeom>
          <a:ln xmlns:a="http://schemas.openxmlformats.org/drawingml/2006/main" w="13335">
            <a:solidFill>
              <a:srgbClr val="CC79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66" name="random-to-effect"/>
          <p:cNvCxnSpPr>
            <a:stCxn xmlns:a="http://schemas.openxmlformats.org/drawingml/2006/main" id="129" idx="2"/>
            <a:endCxn xmlns:a="http://schemas.openxmlformats.org/drawingml/2006/main" id="131" idx="0"/>
          </p:cNvCxnSpPr>
          <p:nvPr/>
        </p:nvCxnSpPr>
        <p:spPr>
          <a:xfrm xmlns:a="http://schemas.openxmlformats.org/drawingml/2006/main">
            <a:off x="10353675" y="3771900"/>
            <a:ext cx="1028700" cy="571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3335">
            <a:solidFill>
              <a:srgbClr val="CC79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67" name="placebo-to-effect"/>
          <p:cNvCxnSpPr>
            <a:stCxn xmlns:a="http://schemas.openxmlformats.org/drawingml/2006/main" id="130" idx="2"/>
            <a:endCxn xmlns:a="http://schemas.openxmlformats.org/drawingml/2006/main" id="131" idx="0"/>
          </p:cNvCxnSpPr>
          <p:nvPr/>
        </p:nvCxnSpPr>
        <p:spPr>
          <a:xfrm xmlns:a="http://schemas.openxmlformats.org/drawingml/2006/main" flipH="1">
            <a:off x="11382375" y="3771900"/>
            <a:ext cx="1047750" cy="571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3335">
            <a:solidFill>
              <a:srgbClr val="CC79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68" name="effect-to-quality"/>
          <p:cNvCxnSpPr>
            <a:stCxn xmlns:a="http://schemas.openxmlformats.org/drawingml/2006/main" id="131" idx="2"/>
            <a:endCxn xmlns:a="http://schemas.openxmlformats.org/drawingml/2006/main" id="138" idx="0"/>
          </p:cNvCxnSpPr>
          <p:nvPr/>
        </p:nvCxnSpPr>
        <p:spPr>
          <a:xfrm xmlns:a="http://schemas.openxmlformats.org/drawingml/2006/main">
            <a:off x="11382375" y="5543550"/>
            <a:ext cx="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C79A7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82" name="loop-top">
            <a:extLst xmlns:a="http://schemas.openxmlformats.org/drawingml/2006/main">
              <a:ext uri="{FF2B5EF4-FFF2-40B4-BE49-F238E27FC236}">
                <a16:creationId xmlns:a16="http://schemas.microsoft.com/office/drawing/2014/main" id="{B8A47C50-1F11-4C79-82FF-96F73608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6000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3" name="loop-bottom">
            <a:extLst xmlns:a="http://schemas.openxmlformats.org/drawingml/2006/main">
              <a:ext uri="{FF2B5EF4-FFF2-40B4-BE49-F238E27FC236}">
                <a16:creationId xmlns:a16="http://schemas.microsoft.com/office/drawing/2014/main" id="{D1AC1DDC-AC68-4C21-A2B8-302BD7D8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57340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1" name="loop-quality-bottom"/>
          <p:cNvCxnSpPr>
            <a:stCxn xmlns:a="http://schemas.openxmlformats.org/drawingml/2006/main" id="138" idx="3"/>
            <a:endCxn xmlns:a="http://schemas.openxmlformats.org/drawingml/2006/main" id="183" idx="2"/>
          </p:cNvCxnSpPr>
          <p:nvPr/>
        </p:nvCxnSpPr>
        <p:spPr>
          <a:xfrm xmlns:a="http://schemas.openxmlformats.org/drawingml/2006/main" flipV="1">
            <a:off x="12744450" y="5743575"/>
            <a:ext cx="800100" cy="4476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666666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372" name="loop-bottom-top"/>
          <p:cNvCxnSpPr>
            <a:stCxn xmlns:a="http://schemas.openxmlformats.org/drawingml/2006/main" id="183" idx="0"/>
            <a:endCxn xmlns:a="http://schemas.openxmlformats.org/drawingml/2006/main" id="182" idx="4"/>
          </p:cNvCxnSpPr>
          <p:nvPr/>
        </p:nvCxnSpPr>
        <p:spPr>
          <a:xfrm xmlns:a="http://schemas.openxmlformats.org/drawingml/2006/main" flipV="1">
            <a:off x="13554075" y="619125"/>
            <a:ext cx="0" cy="511492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66666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373" name="loop-top-model"/>
          <p:cNvCxnSpPr>
            <a:stCxn xmlns:a="http://schemas.openxmlformats.org/drawingml/2006/main" id="182" idx="2"/>
            <a:endCxn xmlns:a="http://schemas.openxmlformats.org/drawingml/2006/main" id="122" idx="0"/>
          </p:cNvCxnSpPr>
          <p:nvPr/>
        </p:nvCxnSpPr>
        <p:spPr>
          <a:xfrm xmlns:a="http://schemas.openxmlformats.org/drawingml/2006/main" flipH="1">
            <a:off x="9544050" y="571500"/>
            <a:ext cx="4000500" cy="228600"/>
          </a:xfrm>
          <a:prstGeom xmlns:a="http://schemas.openxmlformats.org/drawingml/2006/main" prst="bentConnector4">
            <a:avLst/>
          </a:prstGeom>
          <a:ln xmlns:a="http://schemas.openxmlformats.org/drawingml/2006/main" w="13335">
            <a:solidFill>
              <a:srgbClr val="666666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187" name="next-treatment-label">
            <a:extLst xmlns:a="http://schemas.openxmlformats.org/drawingml/2006/main">
              <a:ext uri="{FF2B5EF4-FFF2-40B4-BE49-F238E27FC236}">
                <a16:creationId xmlns:a16="http://schemas.microsoft.com/office/drawing/2014/main" id="{6462F09B-9BDC-4C0B-B528-9AA0C0CD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5638800"/>
            <a:ext cx="5334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5477"/>
          </a:bodyPr>
          <a:lstStyle xmlns:a="http://schemas.openxmlformats.org/drawingml/2006/main"/>
          <a:p xmlns:a="http://schemas.openxmlformats.org/drawingml/2006/main">
            <a:pPr algn="ctr">
              <a:defRPr sz="938" b="1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8" b="1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next T</a:t>
            </a:r>
          </a:p>
        </p:txBody>
      </p:sp>
    </p:spTree>
    <p:extLst>
      <p:ext uri="{BB962C8B-B14F-4D97-AF65-F5344CB8AC3E}">
        <p14:creationId xmlns:p14="http://schemas.microsoft.com/office/powerpoint/2010/main" val="3662745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2026-08-27T06:58:33.1330000Z</dcterms:created>
  <dcterms:modified xsi:type="dcterms:W3CDTF">2026-08-27T06:58:33.1330000Z</dcterms:modified>
</coreProperties>
</file>