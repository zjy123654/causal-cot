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f37c291ffb445d" /><Relationship Type="http://schemas.openxmlformats.org/officeDocument/2006/relationships/extended-properties" Target="/docProps/app.xml" Id="R7ea19936414c49d4" /><Relationship Type="http://schemas.openxmlformats.org/officeDocument/2006/relationships/officeDocument" Target="/ppt/presentation.xml" Id="R61be2a3f4ab34d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21dab322ab4bb5"/>
  </p:sldMasterIdLst>
  <p:notesMasterIdLst>
    <p:notesMasterId xmlns:r="http://schemas.openxmlformats.org/officeDocument/2006/relationships" r:id="R03a00c3d36fc4e72"/>
  </p:notesMasterIdLst>
  <p:sldIdLst>
    <p:sldId xmlns:r="http://schemas.openxmlformats.org/officeDocument/2006/relationships" id="256" r:id="Rf8ff7b6af5844873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acee7d0a2544af" /><Relationship Type="http://schemas.openxmlformats.org/officeDocument/2006/relationships/slideMaster" Target="/ppt/slideMasters/slideMaster1.xml" Id="R2f21dab322ab4bb5" /><Relationship Type="http://schemas.openxmlformats.org/officeDocument/2006/relationships/notesMaster" Target="/ppt/notesMasters/notesMaster1.xml" Id="R03a00c3d36fc4e72" /><Relationship Type="http://schemas.openxmlformats.org/officeDocument/2006/relationships/presProps" Target="/ppt/presProps.xml" Id="Ra4877c75d35a4706" /><Relationship Type="http://schemas.openxmlformats.org/officeDocument/2006/relationships/tableStyles" Target="/ppt/tableStyles.xml" Id="R50a6861fe3444900" /><Relationship Type="http://schemas.openxmlformats.org/officeDocument/2006/relationships/slide" Target="/ppt/slides/slide1.xml" Id="Rf8ff7b6af58448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492af160df45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8de98c19f44e83" /><Relationship Type="http://schemas.openxmlformats.org/officeDocument/2006/relationships/notesMaster" Target="/ppt/notesMasters/notesMaster1.xml" Id="Rd38650df52f343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Methodology Sections 3.1-3.4: C:/Users/11517/.codex/attachments/0f89d3db-3c1b-4289-a8c2-6ee3f3958946/pasted-text.txt</a:t>
            </a:r>
          </a:p>
          <a:p xmlns:a="http://schemas.openxmlformats.org/drawingml/2006/main">
            <a:r>
              <a:t>- Detailed Section 3.3: F:/硕士阶段的论文/投稿EAAI/R1/Data and code/results/methodology/section_3_3_and_appendix_B.md</a:t>
            </a:r>
          </a:p>
          <a:p xmlns:a="http://schemas.openxmlformats.org/drawingml/2006/main">
            <a:r>
              <a:t>- Detailed Section 3.4: F:/硕士阶段的论文/投稿EAAI/R1/Data and code/results/methodology/section_3_4_causal_effect_estimation.md</a:t>
            </a:r>
          </a:p>
          <a:p xmlns:a="http://schemas.openxmlformats.org/drawingml/2006/main">
            <a:r>
              <a:t>- Project implementation: F:/硕士阶段的论文/投稿EAAI/R1/Data and code/src/</a:t>
            </a:r>
          </a:p>
          <a:p xmlns:a="http://schemas.openxmlformats.org/drawingml/2006/main">
            <a:r>
              <a:t>- User-supplied reference framework image: C:/Users/11517/AppData/Local/Temp/codex-clipboard-fe3cbba4-a54f-4e72-bc4d-a9f488d49acf.png</a:t>
            </a:r>
          </a:p>
          <a:p xmlns:a="http://schemas.openxmlformats.org/drawingml/2006/main">
            <a:r>
              <a:t>- GPT Image 2 concept draft: C:/Users/11517/.codex/generated_images/019f9239-3941-72c0-bded-8b9f46eef6ee/exec-c1c67308-d17a-42c5-b726-adf032a6380a.png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reference figure informed only the three-column and horizontal-band composition. All scientific content and topology were reconstructed from Sections 3.1-3.4. All visible elements in this PPTX are native editable PowerPoint shapes, connectors, and live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32e0f23bd45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708d41bd7946b5" /><Relationship Type="http://schemas.openxmlformats.org/officeDocument/2006/relationships/slideLayout" Target="/ppt/slideLayouts/slideLayout1.xml" Id="R379ddc0acf7448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9ddc0acf7448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0021219724d61" /><Relationship Type="http://schemas.openxmlformats.org/officeDocument/2006/relationships/notesSlide" Target="/ppt/notesSlides/notesSlide1.xml" Id="Rbfccbc39c43e4c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header-research-step">
            <a:extLst xmlns:a="http://schemas.openxmlformats.org/drawingml/2006/main">
              <a:ext uri="{FF2B5EF4-FFF2-40B4-BE49-F238E27FC236}">
                <a16:creationId xmlns:a16="http://schemas.microsoft.com/office/drawing/2014/main" id="{264B8FC2-50F5-4B17-B6BB-97C15A2D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26860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Research step</a:t>
            </a:r>
          </a:p>
        </p:txBody>
      </p:sp>
      <p:sp>
        <p:nvSpPr>
          <p:cNvPr id="2" name="header-content">
            <a:extLst xmlns:a="http://schemas.openxmlformats.org/drawingml/2006/main">
              <a:ext uri="{FF2B5EF4-FFF2-40B4-BE49-F238E27FC236}">
                <a16:creationId xmlns:a16="http://schemas.microsoft.com/office/drawing/2014/main" id="{C52F1C9F-818E-40C5-890A-71BDFC22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4300"/>
            <a:ext cx="285750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CEFF1"/>
          </a:solidFill>
          <a:ln xmlns:a="http://schemas.openxmlformats.org/drawingml/2006/main" w="1143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Content</a:t>
            </a:r>
          </a:p>
        </p:txBody>
      </p:sp>
      <p:sp>
        <p:nvSpPr>
          <p:cNvPr id="3" name="header-implementation">
            <a:extLst xmlns:a="http://schemas.openxmlformats.org/drawingml/2006/main">
              <a:ext uri="{FF2B5EF4-FFF2-40B4-BE49-F238E27FC236}">
                <a16:creationId xmlns:a16="http://schemas.microsoft.com/office/drawing/2014/main" id="{78B3BB93-5F33-4C39-8185-0F7333F6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14300"/>
            <a:ext cx="82486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Specific implementation method</a:t>
            </a:r>
          </a:p>
        </p:txBody>
      </p:sp>
      <p:sp>
        <p:nvSpPr>
          <p:cNvPr id="4" name="band-31">
            <a:extLst xmlns:a="http://schemas.openxmlformats.org/drawingml/2006/main">
              <a:ext uri="{FF2B5EF4-FFF2-40B4-BE49-F238E27FC236}">
                <a16:creationId xmlns:a16="http://schemas.microsoft.com/office/drawing/2014/main" id="{54771D26-82B1-41F9-B280-919F1F7D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838200"/>
            <a:ext cx="14439900" cy="13906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72B2"/>
            </a:solidFill>
            <a:prstDash val="dash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band-32">
            <a:extLst xmlns:a="http://schemas.openxmlformats.org/drawingml/2006/main">
              <a:ext uri="{FF2B5EF4-FFF2-40B4-BE49-F238E27FC236}">
                <a16:creationId xmlns:a16="http://schemas.microsoft.com/office/drawing/2014/main" id="{FA69DF45-FC90-410E-9749-CCE2890F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324100"/>
            <a:ext cx="144399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9E73"/>
            </a:solidFill>
            <a:prstDash val="dash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and-33">
            <a:extLst xmlns:a="http://schemas.openxmlformats.org/drawingml/2006/main">
              <a:ext uri="{FF2B5EF4-FFF2-40B4-BE49-F238E27FC236}">
                <a16:creationId xmlns:a16="http://schemas.microsoft.com/office/drawing/2014/main" id="{EC2D55E0-4110-427E-AFFA-FA1C575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33850"/>
            <a:ext cx="14439900" cy="1619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55E00"/>
            </a:solidFill>
            <a:prstDash val="dash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band-34">
            <a:extLst xmlns:a="http://schemas.openxmlformats.org/drawingml/2006/main">
              <a:ext uri="{FF2B5EF4-FFF2-40B4-BE49-F238E27FC236}">
                <a16:creationId xmlns:a16="http://schemas.microsoft.com/office/drawing/2014/main" id="{A739EEAF-F3B6-4C2F-99CD-40BD9F49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848350"/>
            <a:ext cx="14439900" cy="22098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C79A7"/>
            </a:solidFill>
            <a:prstDash val="dash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stage-31">
            <a:extLst xmlns:a="http://schemas.openxmlformats.org/drawingml/2006/main">
              <a:ext uri="{FF2B5EF4-FFF2-40B4-BE49-F238E27FC236}">
                <a16:creationId xmlns:a16="http://schemas.microsoft.com/office/drawing/2014/main" id="{63C66F8E-164F-47DC-B7FD-C7ABC1AD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09650"/>
            <a:ext cx="2667000" cy="1047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EF7FC"/>
          </a:solidFill>
          <a:ln xmlns:a="http://schemas.openxmlformats.org/drawingml/2006/main" w="13335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3.1 Collection and</a:t>
            </a:r>
          </a:p>
          <a:p xmlns:a="http://schemas.openxmlformats.org/drawingml/2006/main">
            <a:pPr algn="ctr">
              <a:defRPr sz="15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preprocessing</a:t>
            </a:r>
          </a:p>
        </p:txBody>
      </p:sp>
      <p:sp>
        <p:nvSpPr>
          <p:cNvPr id="9" name="stage-32">
            <a:extLst xmlns:a="http://schemas.openxmlformats.org/drawingml/2006/main">
              <a:ext uri="{FF2B5EF4-FFF2-40B4-BE49-F238E27FC236}">
                <a16:creationId xmlns:a16="http://schemas.microsoft.com/office/drawing/2014/main" id="{CFB92B5B-4C38-4379-8F1F-2B50FBE9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495550"/>
            <a:ext cx="2667000" cy="13716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333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3.2 24Model ontology</a:t>
            </a:r>
          </a:p>
          <a:p xmlns:a="http://schemas.openxmlformats.org/drawingml/2006/main">
            <a:pPr algn="ctr">
              <a:defRPr sz="15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development</a:t>
            </a:r>
          </a:p>
        </p:txBody>
      </p:sp>
      <p:sp>
        <p:nvSpPr>
          <p:cNvPr id="10" name="stage-33">
            <a:extLst xmlns:a="http://schemas.openxmlformats.org/drawingml/2006/main">
              <a:ext uri="{FF2B5EF4-FFF2-40B4-BE49-F238E27FC236}">
                <a16:creationId xmlns:a16="http://schemas.microsoft.com/office/drawing/2014/main" id="{6CF988A4-1E1F-4DD0-9AB9-734DC0F6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05300"/>
            <a:ext cx="2667000" cy="1276350"/>
          </a:xfrm>
          <a:prstGeom xmlns:a="http://schemas.openxmlformats.org/drawingml/2006/main" prst="roundRect">
            <a:avLst>
              <a:gd name="adj" fmla="val 3731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3335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3.3 Question-guided</a:t>
            </a:r>
          </a:p>
          <a:p xmlns:a="http://schemas.openxmlformats.org/drawingml/2006/main">
            <a:pPr algn="ctr">
              <a:defRPr sz="15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HEC-KG construction</a:t>
            </a:r>
          </a:p>
        </p:txBody>
      </p:sp>
      <p:sp>
        <p:nvSpPr>
          <p:cNvPr id="11" name="stage-34">
            <a:extLst xmlns:a="http://schemas.openxmlformats.org/drawingml/2006/main">
              <a:ext uri="{FF2B5EF4-FFF2-40B4-BE49-F238E27FC236}">
                <a16:creationId xmlns:a16="http://schemas.microsoft.com/office/drawing/2014/main" id="{A1E1784B-1C24-4FEF-A888-8A36F2F3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019800"/>
            <a:ext cx="2667000" cy="1866900"/>
          </a:xfrm>
          <a:prstGeom xmlns:a="http://schemas.openxmlformats.org/drawingml/2006/main" prst="roundRect">
            <a:avLst>
              <a:gd name="adj" fmla="val 2551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3335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3.4 Causal-effect</a:t>
            </a:r>
          </a:p>
          <a:p xmlns:a="http://schemas.openxmlformats.org/drawingml/2006/main">
            <a:pPr algn="ctr">
              <a:defRPr sz="1500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estimation</a:t>
            </a:r>
          </a:p>
        </p:txBody>
      </p:sp>
      <p:sp>
        <p:nvSpPr>
          <p:cNvPr id="12" name="content-31">
            <a:extLst xmlns:a="http://schemas.openxmlformats.org/drawingml/2006/main">
              <a:ext uri="{FF2B5EF4-FFF2-40B4-BE49-F238E27FC236}">
                <a16:creationId xmlns:a16="http://schemas.microsoft.com/office/drawing/2014/main" id="{E74C9391-955E-4C0B-A611-F27E7585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09650"/>
            <a:ext cx="2857500" cy="1047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EF7FC"/>
          </a:solidFill>
          <a:ln xmlns:a="http://schemas.openxmlformats.org/drawingml/2006/main" w="10954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Multi-source collection</a:t>
            </a:r>
          </a:p>
          <a:p xmlns:a="http://schemas.openxmlformats.org/drawingml/2006/main">
            <a:pPr algn="l">
              <a:def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Cleaning and segmentation</a:t>
            </a:r>
          </a:p>
          <a:p xmlns:a="http://schemas.openxmlformats.org/drawingml/2006/main">
            <a:pPr algn="l">
              <a:def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Irreversible anonymization</a:t>
            </a:r>
          </a:p>
        </p:txBody>
      </p:sp>
      <p:sp>
        <p:nvSpPr>
          <p:cNvPr id="13" name="content-32">
            <a:extLst xmlns:a="http://schemas.openxmlformats.org/drawingml/2006/main">
              <a:ext uri="{FF2B5EF4-FFF2-40B4-BE49-F238E27FC236}">
                <a16:creationId xmlns:a16="http://schemas.microsoft.com/office/drawing/2014/main" id="{11F569FB-692F-4150-B673-84D42638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95550"/>
            <a:ext cx="2857500" cy="13716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0954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Upper-level causal framework</a:t>
            </a:r>
          </a:p>
          <a:p xmlns:a="http://schemas.openxmlformats.org/drawingml/2006/main">
            <a:pPr algn="l">
              <a:def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HEC domain extension</a:t>
            </a:r>
          </a:p>
          <a:p xmlns:a="http://schemas.openxmlformats.org/drawingml/2006/main">
            <a:pPr algn="l">
              <a:def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Ontology constraints</a:t>
            </a:r>
          </a:p>
        </p:txBody>
      </p:sp>
      <p:sp>
        <p:nvSpPr>
          <p:cNvPr id="14" name="content-33">
            <a:extLst xmlns:a="http://schemas.openxmlformats.org/drawingml/2006/main">
              <a:ext uri="{FF2B5EF4-FFF2-40B4-BE49-F238E27FC236}">
                <a16:creationId xmlns:a16="http://schemas.microsoft.com/office/drawing/2014/main" id="{D2B72E23-439B-4D55-BD1F-7DD4D74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2857500" cy="1276350"/>
          </a:xfrm>
          <a:prstGeom xmlns:a="http://schemas.openxmlformats.org/drawingml/2006/main" prst="roundRect">
            <a:avLst>
              <a:gd name="adj" fmla="val 3731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0954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Entity identification</a:t>
            </a:r>
          </a:p>
          <a:p xmlns:a="http://schemas.openxmlformats.org/drawingml/2006/main">
            <a:pPr algn="l">
              <a:def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Relation reasoning</a:t>
            </a:r>
          </a:p>
          <a:p xmlns:a="http://schemas.openxmlformats.org/drawingml/2006/main">
            <a:pPr algn="l">
              <a:def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Verification and knowledge fusion</a:t>
            </a:r>
          </a:p>
        </p:txBody>
      </p:sp>
      <p:sp>
        <p:nvSpPr>
          <p:cNvPr id="15" name="content-34">
            <a:extLst xmlns:a="http://schemas.openxmlformats.org/drawingml/2006/main">
              <a:ext uri="{FF2B5EF4-FFF2-40B4-BE49-F238E27FC236}">
                <a16:creationId xmlns:a16="http://schemas.microsoft.com/office/drawing/2014/main" id="{5BDBC42D-52A3-4AF4-9588-67C0C2A6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19800"/>
            <a:ext cx="2857500" cy="1866900"/>
          </a:xfrm>
          <a:prstGeom xmlns:a="http://schemas.openxmlformats.org/drawingml/2006/main" prst="roundRect">
            <a:avLst>
              <a:gd name="adj" fmla="val 2551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954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Causal variable matrix</a:t>
            </a:r>
          </a:p>
          <a:p xmlns:a="http://schemas.openxmlformats.org/drawingml/2006/main">
            <a:pPr algn="l">
              <a:def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Prior causal graph</a:t>
            </a:r>
          </a:p>
          <a:p xmlns:a="http://schemas.openxmlformats.org/drawingml/2006/main">
            <a:pPr algn="l">
              <a:def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Identification, estimation, and refutation</a:t>
            </a:r>
          </a:p>
        </p:txBody>
      </p:sp>
      <p:sp>
        <p:nvSpPr>
          <p:cNvPr id="16" name="arrow-31-a">
            <a:extLst xmlns:a="http://schemas.openxmlformats.org/drawingml/2006/main">
              <a:ext uri="{FF2B5EF4-FFF2-40B4-BE49-F238E27FC236}">
                <a16:creationId xmlns:a16="http://schemas.microsoft.com/office/drawing/2014/main" id="{5E3DFEE5-40EA-4B9E-82FE-3DE97841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71600"/>
            <a:ext cx="209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arrow-31-b">
            <a:extLst xmlns:a="http://schemas.openxmlformats.org/drawingml/2006/main">
              <a:ext uri="{FF2B5EF4-FFF2-40B4-BE49-F238E27FC236}">
                <a16:creationId xmlns:a16="http://schemas.microsoft.com/office/drawing/2014/main" id="{6DA0164F-A5D8-422B-B001-F5C8B13B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71600"/>
            <a:ext cx="209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arrow-32-a">
            <a:extLst xmlns:a="http://schemas.openxmlformats.org/drawingml/2006/main">
              <a:ext uri="{FF2B5EF4-FFF2-40B4-BE49-F238E27FC236}">
                <a16:creationId xmlns:a16="http://schemas.microsoft.com/office/drawing/2014/main" id="{FB19FE17-FFBC-41BA-A9C7-1B4F9CB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19425"/>
            <a:ext cx="209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arrow-32-b">
            <a:extLst xmlns:a="http://schemas.openxmlformats.org/drawingml/2006/main">
              <a:ext uri="{FF2B5EF4-FFF2-40B4-BE49-F238E27FC236}">
                <a16:creationId xmlns:a16="http://schemas.microsoft.com/office/drawing/2014/main" id="{F401E4B7-6FD8-4588-B546-CC817BCC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19425"/>
            <a:ext cx="209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arrow-33-a">
            <a:extLst xmlns:a="http://schemas.openxmlformats.org/drawingml/2006/main">
              <a:ext uri="{FF2B5EF4-FFF2-40B4-BE49-F238E27FC236}">
                <a16:creationId xmlns:a16="http://schemas.microsoft.com/office/drawing/2014/main" id="{F514B683-FBD2-43D5-9840-C1C6E2E3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81550"/>
            <a:ext cx="209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arrow-33-b">
            <a:extLst xmlns:a="http://schemas.openxmlformats.org/drawingml/2006/main">
              <a:ext uri="{FF2B5EF4-FFF2-40B4-BE49-F238E27FC236}">
                <a16:creationId xmlns:a16="http://schemas.microsoft.com/office/drawing/2014/main" id="{6721E450-2ADB-447E-B8B3-E4B83496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1550"/>
            <a:ext cx="209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arrow-34-a">
            <a:extLst xmlns:a="http://schemas.openxmlformats.org/drawingml/2006/main">
              <a:ext uri="{FF2B5EF4-FFF2-40B4-BE49-F238E27FC236}">
                <a16:creationId xmlns:a16="http://schemas.microsoft.com/office/drawing/2014/main" id="{17408688-6904-4788-9C3A-439B2BCD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791325"/>
            <a:ext cx="209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arrow-34-b">
            <a:extLst xmlns:a="http://schemas.openxmlformats.org/drawingml/2006/main">
              <a:ext uri="{FF2B5EF4-FFF2-40B4-BE49-F238E27FC236}">
                <a16:creationId xmlns:a16="http://schemas.microsoft.com/office/drawing/2014/main" id="{68D63B60-D947-44AD-8CDC-D03AA474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91325"/>
            <a:ext cx="209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row31-1">
            <a:extLst xmlns:a="http://schemas.openxmlformats.org/drawingml/2006/main">
              <a:ext uri="{FF2B5EF4-FFF2-40B4-BE49-F238E27FC236}">
                <a16:creationId xmlns:a16="http://schemas.microsoft.com/office/drawing/2014/main" id="{4AED66F5-A1DA-4970-A8B9-C4D2B3D7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38250"/>
            <a:ext cx="18097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EF7FC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Safehoo + MEM +</a:t>
            </a:r>
          </a:p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case compilation</a:t>
            </a:r>
          </a:p>
        </p:txBody>
      </p:sp>
      <p:sp>
        <p:nvSpPr>
          <p:cNvPr id="25" name="row31-2">
            <a:extLst xmlns:a="http://schemas.openxmlformats.org/drawingml/2006/main">
              <a:ext uri="{FF2B5EF4-FFF2-40B4-BE49-F238E27FC236}">
                <a16:creationId xmlns:a16="http://schemas.microsoft.com/office/drawing/2014/main" id="{1AD6987F-0EAE-4C25-9FDE-C8C7D858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38250"/>
            <a:ext cx="1524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EF7FC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Keyword retrieval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and screening</a:t>
            </a:r>
          </a:p>
        </p:txBody>
      </p:sp>
      <p:sp>
        <p:nvSpPr>
          <p:cNvPr id="26" name="row31-3">
            <a:extLst xmlns:a="http://schemas.openxmlformats.org/drawingml/2006/main">
              <a:ext uri="{FF2B5EF4-FFF2-40B4-BE49-F238E27FC236}">
                <a16:creationId xmlns:a16="http://schemas.microsoft.com/office/drawing/2014/main" id="{BBFEA9E1-9D08-4413-AB23-7C51ED97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238250"/>
            <a:ext cx="1524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EF7FC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Case segmentation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and normalization</a:t>
            </a:r>
          </a:p>
        </p:txBody>
      </p:sp>
      <p:sp>
        <p:nvSpPr>
          <p:cNvPr id="27" name="row31-4">
            <a:extLst xmlns:a="http://schemas.openxmlformats.org/drawingml/2006/main">
              <a:ext uri="{FF2B5EF4-FFF2-40B4-BE49-F238E27FC236}">
                <a16:creationId xmlns:a16="http://schemas.microsoft.com/office/drawing/2014/main" id="{3B6C32E1-A5F2-47AD-8FE9-6777B1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238250"/>
            <a:ext cx="14287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EF7FC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Privacy-preserving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replacement</a:t>
            </a:r>
          </a:p>
        </p:txBody>
      </p:sp>
      <p:sp>
        <p:nvSpPr>
          <p:cNvPr id="28" name="row31-5">
            <a:extLst xmlns:a="http://schemas.openxmlformats.org/drawingml/2006/main">
              <a:ext uri="{FF2B5EF4-FFF2-40B4-BE49-F238E27FC236}">
                <a16:creationId xmlns:a16="http://schemas.microsoft.com/office/drawing/2014/main" id="{450D8795-9FCD-4532-9075-186CF428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238250"/>
            <a:ext cx="11620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B9DDF2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9890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456 anonymized</a:t>
            </a:r>
          </a:p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HEC cases</a:t>
            </a:r>
          </a:p>
        </p:txBody>
      </p:sp>
      <p:cxnSp>
        <p:nvCxnSpPr>
          <p:cNvPr id="142" name="row31-edge-1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096250" y="15335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3" name="row31-edge-2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753600" y="15335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4" name="row31-edge-3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1410950" y="15335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5" name="row31-edge-4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2973050" y="15335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3" name="row32-top-1">
            <a:extLst xmlns:a="http://schemas.openxmlformats.org/drawingml/2006/main">
              <a:ext uri="{FF2B5EF4-FFF2-40B4-BE49-F238E27FC236}">
                <a16:creationId xmlns:a16="http://schemas.microsoft.com/office/drawing/2014/main" id="{618556B5-8481-42EB-A906-F3C53326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15240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24Model v6 +</a:t>
            </a:r>
          </a:p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HEC knowledge</a:t>
            </a:r>
          </a:p>
        </p:txBody>
      </p:sp>
      <p:sp>
        <p:nvSpPr>
          <p:cNvPr id="34" name="row32-top-2">
            <a:extLst xmlns:a="http://schemas.openxmlformats.org/drawingml/2006/main">
              <a:ext uri="{FF2B5EF4-FFF2-40B4-BE49-F238E27FC236}">
                <a16:creationId xmlns:a16="http://schemas.microsoft.com/office/drawing/2014/main" id="{C4B2EBE4-8D6F-4AFD-A281-CBF9D978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95550"/>
            <a:ext cx="14287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Top-down concept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construction</a:t>
            </a:r>
          </a:p>
        </p:txBody>
      </p:sp>
      <p:sp>
        <p:nvSpPr>
          <p:cNvPr id="35" name="row32-top-3">
            <a:extLst xmlns:a="http://schemas.openxmlformats.org/drawingml/2006/main">
              <a:ext uri="{FF2B5EF4-FFF2-40B4-BE49-F238E27FC236}">
                <a16:creationId xmlns:a16="http://schemas.microsoft.com/office/drawing/2014/main" id="{0AA65D4A-A7D4-499E-8D7B-E009289A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95550"/>
            <a:ext cx="14287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Entity and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relation types</a:t>
            </a:r>
          </a:p>
        </p:txBody>
      </p:sp>
      <p:sp>
        <p:nvSpPr>
          <p:cNvPr id="36" name="row32-top-4">
            <a:extLst xmlns:a="http://schemas.openxmlformats.org/drawingml/2006/main">
              <a:ext uri="{FF2B5EF4-FFF2-40B4-BE49-F238E27FC236}">
                <a16:creationId xmlns:a16="http://schemas.microsoft.com/office/drawing/2014/main" id="{57708E08-EABA-407F-8601-183DCB6E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495550"/>
            <a:ext cx="15240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Direction, domain,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and range constraints</a:t>
            </a:r>
          </a:p>
        </p:txBody>
      </p:sp>
      <p:sp>
        <p:nvSpPr>
          <p:cNvPr id="37" name="row32-top-5">
            <a:extLst xmlns:a="http://schemas.openxmlformats.org/drawingml/2006/main">
              <a:ext uri="{FF2B5EF4-FFF2-40B4-BE49-F238E27FC236}">
                <a16:creationId xmlns:a16="http://schemas.microsoft.com/office/drawing/2014/main" id="{E9DEE5E6-3FCC-4B59-8AC8-F3864D19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2495550"/>
            <a:ext cx="15430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B8E2D4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HEC accident</a:t>
            </a:r>
          </a:p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ontology</a:t>
            </a:r>
          </a:p>
        </p:txBody>
      </p:sp>
      <p:cxnSp>
        <p:nvCxnSpPr>
          <p:cNvPr id="151" name="row32-top-edge-1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810500" y="27527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2" name="row32-top-edge-2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372600" y="27527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3" name="row32-top-edge-3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0934700" y="27527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4" name="row32-top-edge-4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2592050" y="27527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2" name="row32-causal-1">
            <a:extLst xmlns:a="http://schemas.openxmlformats.org/drawingml/2006/main">
              <a:ext uri="{FF2B5EF4-FFF2-40B4-BE49-F238E27FC236}">
                <a16:creationId xmlns:a16="http://schemas.microsoft.com/office/drawing/2014/main" id="{CEA90B9D-E002-4D9F-A5C6-0EF94355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11430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Safety culture</a:t>
            </a:r>
          </a:p>
        </p:txBody>
      </p:sp>
      <p:sp>
        <p:nvSpPr>
          <p:cNvPr id="43" name="row32-causal-2">
            <a:extLst xmlns:a="http://schemas.openxmlformats.org/drawingml/2006/main">
              <a:ext uri="{FF2B5EF4-FFF2-40B4-BE49-F238E27FC236}">
                <a16:creationId xmlns:a16="http://schemas.microsoft.com/office/drawing/2014/main" id="{4C69387E-C594-4F5C-92D6-BE9EE129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00400"/>
            <a:ext cx="123825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88862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Safety</a:t>
            </a:r>
          </a:p>
          <a:p xmlns:a="http://schemas.openxmlformats.org/drawingml/2006/main">
            <a:pPr algn="ctr">
              <a:def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management</a:t>
            </a:r>
          </a:p>
        </p:txBody>
      </p:sp>
      <p:sp>
        <p:nvSpPr>
          <p:cNvPr id="44" name="row32-causal-3">
            <a:extLst xmlns:a="http://schemas.openxmlformats.org/drawingml/2006/main">
              <a:ext uri="{FF2B5EF4-FFF2-40B4-BE49-F238E27FC236}">
                <a16:creationId xmlns:a16="http://schemas.microsoft.com/office/drawing/2014/main" id="{605F26F8-EF4C-4152-8E85-0B6843DA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0400"/>
            <a:ext cx="11430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3F0F8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88862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Safety</a:t>
            </a:r>
          </a:p>
          <a:p xmlns:a="http://schemas.openxmlformats.org/drawingml/2006/main">
            <a:pPr algn="ctr">
              <a:def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capability</a:t>
            </a:r>
          </a:p>
        </p:txBody>
      </p:sp>
      <p:sp>
        <p:nvSpPr>
          <p:cNvPr id="45" name="row32-causal-4">
            <a:extLst xmlns:a="http://schemas.openxmlformats.org/drawingml/2006/main">
              <a:ext uri="{FF2B5EF4-FFF2-40B4-BE49-F238E27FC236}">
                <a16:creationId xmlns:a16="http://schemas.microsoft.com/office/drawing/2014/main" id="{11554BEA-5A3E-4ED6-805D-1797D3C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0400"/>
            <a:ext cx="16002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88862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Unsafe action /</a:t>
            </a:r>
          </a:p>
          <a:p xmlns:a="http://schemas.openxmlformats.org/drawingml/2006/main">
            <a:pPr algn="ctr">
              <a:def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unsafe object state</a:t>
            </a:r>
          </a:p>
        </p:txBody>
      </p:sp>
      <p:sp>
        <p:nvSpPr>
          <p:cNvPr id="46" name="row32-causal-5">
            <a:extLst xmlns:a="http://schemas.openxmlformats.org/drawingml/2006/main">
              <a:ext uri="{FF2B5EF4-FFF2-40B4-BE49-F238E27FC236}">
                <a16:creationId xmlns:a16="http://schemas.microsoft.com/office/drawing/2014/main" id="{B86EC62C-AB78-4A2F-8D36-D2561F3C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200400"/>
            <a:ext cx="10668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88862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Accident</a:t>
            </a:r>
          </a:p>
          <a:p xmlns:a="http://schemas.openxmlformats.org/drawingml/2006/main">
            <a:pPr algn="ctr">
              <a:def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process</a:t>
            </a:r>
          </a:p>
        </p:txBody>
      </p:sp>
      <p:sp>
        <p:nvSpPr>
          <p:cNvPr id="47" name="row32-causal-6">
            <a:extLst xmlns:a="http://schemas.openxmlformats.org/drawingml/2006/main">
              <a:ext uri="{FF2B5EF4-FFF2-40B4-BE49-F238E27FC236}">
                <a16:creationId xmlns:a16="http://schemas.microsoft.com/office/drawing/2014/main" id="{F84F24C5-1A00-4563-95DD-C6BA8009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00400"/>
            <a:ext cx="12192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Consequence</a:t>
            </a:r>
          </a:p>
        </p:txBody>
      </p:sp>
      <p:cxnSp>
        <p:nvCxnSpPr>
          <p:cNvPr id="161" name="row32-causal-edge-1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7429500" y="34194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2" name="row32-causal-edge-2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782050" y="34194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3" name="row32-causal-edge-3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10039350" y="34194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4" name="row32-causal-edge-4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1753850" y="34194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5" name="row32-causal-edge-5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2934950" y="34194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preventive-measure">
            <a:extLst xmlns:a="http://schemas.openxmlformats.org/drawingml/2006/main">
              <a:ext uri="{FF2B5EF4-FFF2-40B4-BE49-F238E27FC236}">
                <a16:creationId xmlns:a16="http://schemas.microsoft.com/office/drawing/2014/main" id="{DBEBE2BE-D60A-4BCF-96F3-6537D16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705225"/>
            <a:ext cx="2076450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9E73"/>
            </a:solidFill>
            <a:prstDash val="dash"/>
          </a:ln>
        </p:spPr>
        <p:txBody>
          <a:bodyPr xmlns:a="http://schemas.openxmlformats.org/drawingml/2006/main" wrap="square" lIns="47625" tIns="47625" rIns="47625" bIns="47625" anchor="ctr">
            <a:normAutofit fontScale="78172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Preventive measure</a:t>
            </a:r>
          </a:p>
        </p:txBody>
      </p:sp>
      <p:cxnSp>
        <p:nvCxnSpPr>
          <p:cNvPr id="167" name="preventive-to-management"/>
          <p:cNvCxnSpPr>
            <a:stCxn xmlns:a="http://schemas.openxmlformats.org/drawingml/2006/main" id="53" idx="0"/>
            <a:endCxn xmlns:a="http://schemas.openxmlformats.org/drawingml/2006/main" id="43" idx="2"/>
          </p:cNvCxnSpPr>
          <p:nvPr/>
        </p:nvCxnSpPr>
        <p:spPr>
          <a:xfrm xmlns:a="http://schemas.openxmlformats.org/drawingml/2006/main" flipH="1" flipV="1">
            <a:off x="8162925" y="3638550"/>
            <a:ext cx="2238375" cy="66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009E7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68" name="preventive-to-direct"/>
          <p:cNvCxnSpPr>
            <a:stCxn xmlns:a="http://schemas.openxmlformats.org/drawingml/2006/main" id="53" idx="0"/>
            <a:endCxn xmlns:a="http://schemas.openxmlformats.org/drawingml/2006/main" id="45" idx="2"/>
          </p:cNvCxnSpPr>
          <p:nvPr/>
        </p:nvCxnSpPr>
        <p:spPr>
          <a:xfrm xmlns:a="http://schemas.openxmlformats.org/drawingml/2006/main" flipV="1">
            <a:off x="10401300" y="3638550"/>
            <a:ext cx="552450" cy="66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009E73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56" name="group-entity-identification">
            <a:extLst xmlns:a="http://schemas.openxmlformats.org/drawingml/2006/main">
              <a:ext uri="{FF2B5EF4-FFF2-40B4-BE49-F238E27FC236}">
                <a16:creationId xmlns:a16="http://schemas.microsoft.com/office/drawing/2014/main" id="{F6E6856F-5355-44C9-843A-EEC401F2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24955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0954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group-relation-reasoning">
            <a:extLst xmlns:a="http://schemas.openxmlformats.org/drawingml/2006/main">
              <a:ext uri="{FF2B5EF4-FFF2-40B4-BE49-F238E27FC236}">
                <a16:creationId xmlns:a16="http://schemas.microsoft.com/office/drawing/2014/main" id="{8B944838-704F-49F9-9C62-E6639A8C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81500"/>
            <a:ext cx="209550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0954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group-verification-fusion">
            <a:extLst xmlns:a="http://schemas.openxmlformats.org/drawingml/2006/main">
              <a:ext uri="{FF2B5EF4-FFF2-40B4-BE49-F238E27FC236}">
                <a16:creationId xmlns:a16="http://schemas.microsoft.com/office/drawing/2014/main" id="{EDBC1720-B919-4B7F-BF78-65AA2AE6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0"/>
            <a:ext cx="308610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954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group-entity-title">
            <a:extLst xmlns:a="http://schemas.openxmlformats.org/drawingml/2006/main">
              <a:ext uri="{FF2B5EF4-FFF2-40B4-BE49-F238E27FC236}">
                <a16:creationId xmlns:a16="http://schemas.microsoft.com/office/drawing/2014/main" id="{0CEB3487-4FC8-4C8B-BBD9-9520B03D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2305050" cy="266700"/>
          </a:xfrm>
          <a:prstGeom xmlns:a="http://schemas.openxmlformats.org/drawingml/2006/main" prst="roundRect">
            <a:avLst>
              <a:gd name="adj" fmla="val 17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73878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Entity identification</a:t>
            </a:r>
          </a:p>
        </p:txBody>
      </p:sp>
      <p:sp>
        <p:nvSpPr>
          <p:cNvPr id="60" name="group-relation-title">
            <a:extLst xmlns:a="http://schemas.openxmlformats.org/drawingml/2006/main">
              <a:ext uri="{FF2B5EF4-FFF2-40B4-BE49-F238E27FC236}">
                <a16:creationId xmlns:a16="http://schemas.microsoft.com/office/drawing/2014/main" id="{C97C63D1-4B15-49F8-94FE-F5DE6191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19600"/>
            <a:ext cx="1905000" cy="266700"/>
          </a:xfrm>
          <a:prstGeom xmlns:a="http://schemas.openxmlformats.org/drawingml/2006/main" prst="roundRect">
            <a:avLst>
              <a:gd name="adj" fmla="val 17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73878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Relation reasoning</a:t>
            </a:r>
          </a:p>
        </p:txBody>
      </p:sp>
      <p:sp>
        <p:nvSpPr>
          <p:cNvPr id="61" name="group-fusion-title">
            <a:extLst xmlns:a="http://schemas.openxmlformats.org/drawingml/2006/main">
              <a:ext uri="{FF2B5EF4-FFF2-40B4-BE49-F238E27FC236}">
                <a16:creationId xmlns:a16="http://schemas.microsoft.com/office/drawing/2014/main" id="{B31030F2-E988-4113-8775-A2A6D788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419600"/>
            <a:ext cx="2895600" cy="266700"/>
          </a:xfrm>
          <a:prstGeom xmlns:a="http://schemas.openxmlformats.org/drawingml/2006/main" prst="roundRect">
            <a:avLst>
              <a:gd name="adj" fmla="val 17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73878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Verification and fusion</a:t>
            </a:r>
          </a:p>
        </p:txBody>
      </p:sp>
      <p:sp>
        <p:nvSpPr>
          <p:cNvPr id="62" name="evidence-spans">
            <a:extLst xmlns:a="http://schemas.openxmlformats.org/drawingml/2006/main">
              <a:ext uri="{FF2B5EF4-FFF2-40B4-BE49-F238E27FC236}">
                <a16:creationId xmlns:a16="http://schemas.microsoft.com/office/drawing/2014/main" id="{37504149-22FB-4DDE-ADDD-3BBDC631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14875"/>
            <a:ext cx="2114550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4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Evidence spans</a:t>
            </a:r>
          </a:p>
        </p:txBody>
      </p:sp>
      <p:sp>
        <p:nvSpPr>
          <p:cNvPr id="63" name="entity-discovery">
            <a:extLst xmlns:a="http://schemas.openxmlformats.org/drawingml/2006/main">
              <a:ext uri="{FF2B5EF4-FFF2-40B4-BE49-F238E27FC236}">
                <a16:creationId xmlns:a16="http://schemas.microsoft.com/office/drawing/2014/main" id="{1BBBA76D-5851-43F1-A7C4-2F84817A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114550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4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Ontology-guided extraction</a:t>
            </a:r>
          </a:p>
        </p:txBody>
      </p:sp>
      <p:sp>
        <p:nvSpPr>
          <p:cNvPr id="64" name="gleaning">
            <a:extLst xmlns:a="http://schemas.openxmlformats.org/drawingml/2006/main">
              <a:ext uri="{FF2B5EF4-FFF2-40B4-BE49-F238E27FC236}">
                <a16:creationId xmlns:a16="http://schemas.microsoft.com/office/drawing/2014/main" id="{7AA3314B-2939-4CD7-96A9-37142FFB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24475"/>
            <a:ext cx="2114550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dash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4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Gleaning pass</a:t>
            </a:r>
          </a:p>
        </p:txBody>
      </p:sp>
      <p:cxnSp>
        <p:nvCxnSpPr>
          <p:cNvPr id="178" name="entity-evidence-to-discovery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7534275" y="497205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9" name="entity-discovery-to-gleaning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7534275" y="527685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7" name="relation-question">
            <a:extLst xmlns:a="http://schemas.openxmlformats.org/drawingml/2006/main">
              <a:ext uri="{FF2B5EF4-FFF2-40B4-BE49-F238E27FC236}">
                <a16:creationId xmlns:a16="http://schemas.microsoft.com/office/drawing/2014/main" id="{87AD822D-3142-44EF-9498-225F3813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38700"/>
            <a:ext cx="9144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88167"/>
          </a:bodyPr>
          <a:lstStyle xmlns:a="http://schemas.openxmlformats.org/drawingml/2006/main"/>
          <a:p xmlns:a="http://schemas.openxmlformats.org/drawingml/2006/main">
            <a:pPr algn="ctr">
              <a:defRPr sz="106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Yes/No relation</a:t>
            </a:r>
          </a:p>
          <a:p xmlns:a="http://schemas.openxmlformats.org/drawingml/2006/main">
            <a:pPr algn="ctr">
              <a:defRPr sz="106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questions + evidence</a:t>
            </a:r>
          </a:p>
        </p:txBody>
      </p:sp>
      <p:sp>
        <p:nvSpPr>
          <p:cNvPr id="68" name="relation-voting">
            <a:extLst xmlns:a="http://schemas.openxmlformats.org/drawingml/2006/main">
              <a:ext uri="{FF2B5EF4-FFF2-40B4-BE49-F238E27FC236}">
                <a16:creationId xmlns:a16="http://schemas.microsoft.com/office/drawing/2014/main" id="{BFB6BA42-9A5D-4629-B04D-F88ABE7D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838700"/>
            <a:ext cx="8763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Three-vote</a:t>
            </a:r>
          </a:p>
          <a:p xmlns:a="http://schemas.openxmlformats.org/drawingml/2006/main">
            <a:pPr algn="ctr">
              <a:defRPr sz="111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consistency</a:t>
            </a:r>
          </a:p>
        </p:txBody>
      </p:sp>
      <p:cxnSp>
        <p:nvCxnSpPr>
          <p:cNvPr id="182" name="relation-question-to-vote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9963150" y="511492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0" name="schema-validation">
            <a:extLst xmlns:a="http://schemas.openxmlformats.org/drawingml/2006/main">
              <a:ext uri="{FF2B5EF4-FFF2-40B4-BE49-F238E27FC236}">
                <a16:creationId xmlns:a16="http://schemas.microsoft.com/office/drawing/2014/main" id="{4763DB72-11AA-440A-9690-4F3A7E6E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838700"/>
            <a:ext cx="895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73818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Schema validation</a:t>
            </a:r>
          </a:p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and bounded repair</a:t>
            </a:r>
          </a:p>
        </p:txBody>
      </p:sp>
      <p:sp>
        <p:nvSpPr>
          <p:cNvPr id="71" name="entity-alignment">
            <a:extLst xmlns:a="http://schemas.openxmlformats.org/drawingml/2006/main">
              <a:ext uri="{FF2B5EF4-FFF2-40B4-BE49-F238E27FC236}">
                <a16:creationId xmlns:a16="http://schemas.microsoft.com/office/drawing/2014/main" id="{6C32E23D-12B0-45C4-9E5D-AB843DCD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838700"/>
            <a:ext cx="9334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88167"/>
          </a:bodyPr>
          <a:lstStyle xmlns:a="http://schemas.openxmlformats.org/drawingml/2006/main"/>
          <a:p xmlns:a="http://schemas.openxmlformats.org/drawingml/2006/main">
            <a:pPr algn="ctr">
              <a:defRPr sz="106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String recall +</a:t>
            </a:r>
          </a:p>
          <a:p xmlns:a="http://schemas.openxmlformats.org/drawingml/2006/main">
            <a:pPr algn="ctr">
              <a:defRPr sz="106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embedding reranking</a:t>
            </a:r>
          </a:p>
        </p:txBody>
      </p:sp>
      <p:sp>
        <p:nvSpPr>
          <p:cNvPr id="72" name="canonical-kg">
            <a:extLst xmlns:a="http://schemas.openxmlformats.org/drawingml/2006/main">
              <a:ext uri="{FF2B5EF4-FFF2-40B4-BE49-F238E27FC236}">
                <a16:creationId xmlns:a16="http://schemas.microsoft.com/office/drawing/2014/main" id="{F5C72125-FEDA-4CC5-A7F7-CA2B8DD0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4838700"/>
            <a:ext cx="8763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1BBD7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85752"/>
          </a:bodyPr>
          <a:lstStyle xmlns:a="http://schemas.openxmlformats.org/drawingml/2006/main"/>
          <a:p xmlns:a="http://schemas.openxmlformats.org/drawingml/2006/main">
            <a:pPr algn="ctr">
              <a:defRPr sz="109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Canonical HEC-KG</a:t>
            </a:r>
          </a:p>
          <a:p xmlns:a="http://schemas.openxmlformats.org/drawingml/2006/main">
            <a:pPr algn="ctr">
              <a:defRPr sz="109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 Neo4j</a:t>
            </a:r>
          </a:p>
        </p:txBody>
      </p:sp>
      <p:cxnSp>
        <p:nvCxnSpPr>
          <p:cNvPr id="186" name="fusion-validate-to-align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12192000" y="511492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7" name="fusion-align-to-kg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13201650" y="511492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8" name="kg-question-to-validation"/>
          <p:cNvCxnSpPr>
            <a:stCxn xmlns:a="http://schemas.openxmlformats.org/drawingml/2006/main" id="68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0915650" y="51149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9" name="entity-to-relation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8782050" y="50006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7" name="ontology-bus-start">
            <a:extLst xmlns:a="http://schemas.openxmlformats.org/drawingml/2006/main">
              <a:ext uri="{FF2B5EF4-FFF2-40B4-BE49-F238E27FC236}">
                <a16:creationId xmlns:a16="http://schemas.microsoft.com/office/drawing/2014/main" id="{5AB55E9D-D67C-42F0-83BB-7CEF2F12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2481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ontology-bus-fusion">
            <a:extLst xmlns:a="http://schemas.openxmlformats.org/drawingml/2006/main">
              <a:ext uri="{FF2B5EF4-FFF2-40B4-BE49-F238E27FC236}">
                <a16:creationId xmlns:a16="http://schemas.microsoft.com/office/drawing/2014/main" id="{E3187700-DCAE-4C05-8489-86193752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2481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ontology-bus-relation">
            <a:extLst xmlns:a="http://schemas.openxmlformats.org/drawingml/2006/main">
              <a:ext uri="{FF2B5EF4-FFF2-40B4-BE49-F238E27FC236}">
                <a16:creationId xmlns:a16="http://schemas.microsoft.com/office/drawing/2014/main" id="{7FF2008E-FFCF-48FE-BE77-0D9D97CA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481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ontology-bus-entity">
            <a:extLst xmlns:a="http://schemas.openxmlformats.org/drawingml/2006/main">
              <a:ext uri="{FF2B5EF4-FFF2-40B4-BE49-F238E27FC236}">
                <a16:creationId xmlns:a16="http://schemas.microsoft.com/office/drawing/2014/main" id="{41AF29DA-F90F-44D3-A666-793125B4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94" name="ontology-output-to-bus"/>
          <p:cNvCxnSpPr>
            <a:stCxn xmlns:a="http://schemas.openxmlformats.org/drawingml/2006/main" id="37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13496925" y="3009900"/>
            <a:ext cx="38100" cy="1238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195" name="ontology-bus-1"/>
          <p:cNvCxnSpPr>
            <a:stCxn xmlns:a="http://schemas.openxmlformats.org/drawingml/2006/main" id="77" idx="2"/>
            <a:endCxn xmlns:a="http://schemas.openxmlformats.org/drawingml/2006/main" id="78" idx="6"/>
          </p:cNvCxnSpPr>
          <p:nvPr/>
        </p:nvCxnSpPr>
        <p:spPr>
          <a:xfrm xmlns:a="http://schemas.openxmlformats.org/drawingml/2006/main" flipH="1">
            <a:off x="11715750" y="42576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196" name="ontology-bus-2"/>
          <p:cNvCxnSpPr>
            <a:stCxn xmlns:a="http://schemas.openxmlformats.org/drawingml/2006/main" id="78" idx="2"/>
            <a:endCxn xmlns:a="http://schemas.openxmlformats.org/drawingml/2006/main" id="79" idx="6"/>
          </p:cNvCxnSpPr>
          <p:nvPr/>
        </p:nvCxnSpPr>
        <p:spPr>
          <a:xfrm xmlns:a="http://schemas.openxmlformats.org/drawingml/2006/main" flipH="1">
            <a:off x="9925050" y="4257675"/>
            <a:ext cx="177165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197" name="ontology-bus-3"/>
          <p:cNvCxnSpPr>
            <a:stCxn xmlns:a="http://schemas.openxmlformats.org/drawingml/2006/main" id="79" idx="2"/>
            <a:endCxn xmlns:a="http://schemas.openxmlformats.org/drawingml/2006/main" id="80" idx="6"/>
          </p:cNvCxnSpPr>
          <p:nvPr/>
        </p:nvCxnSpPr>
        <p:spPr>
          <a:xfrm xmlns:a="http://schemas.openxmlformats.org/drawingml/2006/main" flipH="1">
            <a:off x="7543800" y="4257675"/>
            <a:ext cx="23622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198" name="ontology-bus-to-entity"/>
          <p:cNvCxnSpPr>
            <a:stCxn xmlns:a="http://schemas.openxmlformats.org/drawingml/2006/main" id="80" idx="4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7534275" y="4267200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99" name="ontology-bus-to-relation"/>
          <p:cNvCxnSpPr>
            <a:stCxn xmlns:a="http://schemas.openxmlformats.org/drawingml/2006/main" id="79" idx="4"/>
            <a:endCxn xmlns:a="http://schemas.openxmlformats.org/drawingml/2006/main" id="67" idx="0"/>
          </p:cNvCxnSpPr>
          <p:nvPr/>
        </p:nvCxnSpPr>
        <p:spPr>
          <a:xfrm xmlns:a="http://schemas.openxmlformats.org/drawingml/2006/main" flipH="1">
            <a:off x="9505950" y="4267200"/>
            <a:ext cx="40957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200" name="ontology-bus-to-validation"/>
          <p:cNvCxnSpPr>
            <a:stCxn xmlns:a="http://schemas.openxmlformats.org/drawingml/2006/main" id="78" idx="4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11706225" y="4267200"/>
            <a:ext cx="381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88" name="ontology-guidance-label">
            <a:extLst xmlns:a="http://schemas.openxmlformats.org/drawingml/2006/main">
              <a:ext uri="{FF2B5EF4-FFF2-40B4-BE49-F238E27FC236}">
                <a16:creationId xmlns:a16="http://schemas.microsoft.com/office/drawing/2014/main" id="{6BE9901F-8FCB-4D48-BBF2-23B8B463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52900"/>
            <a:ext cx="1428750" cy="1905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65"/>
          </a:bodyPr>
          <a:lstStyle xmlns:a="http://schemas.openxmlformats.org/drawingml/2006/main"/>
          <a:p xmlns:a="http://schemas.openxmlformats.org/drawingml/2006/main">
            <a:pPr algn="ctr">
              <a:defRPr sz="1088" b="1" i="1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1" i="1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ontology guidance</a:t>
            </a:r>
          </a:p>
        </p:txBody>
      </p:sp>
      <p:sp>
        <p:nvSpPr>
          <p:cNvPr id="89" name="row34-top-1">
            <a:extLst xmlns:a="http://schemas.openxmlformats.org/drawingml/2006/main">
              <a:ext uri="{FF2B5EF4-FFF2-40B4-BE49-F238E27FC236}">
                <a16:creationId xmlns:a16="http://schemas.microsoft.com/office/drawing/2014/main" id="{B75A4856-5AF9-4E5C-B879-48CCC509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76950"/>
            <a:ext cx="1381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95491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Canonical HEC-KG</a:t>
            </a:r>
          </a:p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 case provenance</a:t>
            </a:r>
          </a:p>
        </p:txBody>
      </p:sp>
      <p:sp>
        <p:nvSpPr>
          <p:cNvPr id="90" name="row34-top-2">
            <a:extLst xmlns:a="http://schemas.openxmlformats.org/drawingml/2006/main">
              <a:ext uri="{FF2B5EF4-FFF2-40B4-BE49-F238E27FC236}">
                <a16:creationId xmlns:a16="http://schemas.microsoft.com/office/drawing/2014/main" id="{F183AA7C-502A-41AE-8BFE-99856DD8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076950"/>
            <a:ext cx="14287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Case-level matrix X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 severe outcome Y</a:t>
            </a:r>
          </a:p>
        </p:txBody>
      </p:sp>
      <p:sp>
        <p:nvSpPr>
          <p:cNvPr id="91" name="row34-top-3">
            <a:extLst xmlns:a="http://schemas.openxmlformats.org/drawingml/2006/main">
              <a:ext uri="{FF2B5EF4-FFF2-40B4-BE49-F238E27FC236}">
                <a16:creationId xmlns:a16="http://schemas.microsoft.com/office/drawing/2014/main" id="{9FB9AA48-9546-49FF-8CE4-CC1E74D0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076950"/>
            <a:ext cx="13525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24Model prior DAG</a:t>
            </a:r>
          </a:p>
        </p:txBody>
      </p:sp>
      <p:sp>
        <p:nvSpPr>
          <p:cNvPr id="92" name="row34-top-4">
            <a:extLst xmlns:a="http://schemas.openxmlformats.org/drawingml/2006/main">
              <a:ext uri="{FF2B5EF4-FFF2-40B4-BE49-F238E27FC236}">
                <a16:creationId xmlns:a16="http://schemas.microsoft.com/office/drawing/2014/main" id="{D75B54AB-0851-4C23-B45A-AE5D1137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6076950"/>
            <a:ext cx="16192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Support and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overlap screening</a:t>
            </a:r>
          </a:p>
        </p:txBody>
      </p:sp>
      <p:sp>
        <p:nvSpPr>
          <p:cNvPr id="93" name="row34-top-5">
            <a:extLst xmlns:a="http://schemas.openxmlformats.org/drawingml/2006/main">
              <a:ext uri="{FF2B5EF4-FFF2-40B4-BE49-F238E27FC236}">
                <a16:creationId xmlns:a16="http://schemas.microsoft.com/office/drawing/2014/main" id="{F04C8F6C-D752-4E7E-BB84-3A1288C2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076950"/>
            <a:ext cx="174307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Treatment-specific</a:t>
            </a:r>
          </a:p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identification graph</a:t>
            </a:r>
          </a:p>
        </p:txBody>
      </p:sp>
      <p:cxnSp>
        <p:nvCxnSpPr>
          <p:cNvPr id="207" name="row34-top-edge-1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7667625" y="63531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8" name="row34-top-edge-2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9210675" y="63531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9" name="row34-top-edge-3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10677525" y="63531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0" name="row34-top-edge-4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12411075" y="63531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98" name="row34-bottom-1">
            <a:extLst xmlns:a="http://schemas.openxmlformats.org/drawingml/2006/main">
              <a:ext uri="{FF2B5EF4-FFF2-40B4-BE49-F238E27FC236}">
                <a16:creationId xmlns:a16="http://schemas.microsoft.com/office/drawing/2014/main" id="{BB7672CB-4285-4A3D-BD41-D19257B4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934200"/>
            <a:ext cx="11430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DoWhy</a:t>
            </a:r>
          </a:p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CausalModel</a:t>
            </a:r>
          </a:p>
        </p:txBody>
      </p:sp>
      <p:sp>
        <p:nvSpPr>
          <p:cNvPr id="99" name="row34-bottom-2">
            <a:extLst xmlns:a="http://schemas.openxmlformats.org/drawingml/2006/main">
              <a:ext uri="{FF2B5EF4-FFF2-40B4-BE49-F238E27FC236}">
                <a16:creationId xmlns:a16="http://schemas.microsoft.com/office/drawing/2014/main" id="{2B452221-786E-4C4A-85E3-4EC95BA3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934200"/>
            <a:ext cx="11049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Backdoor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identification</a:t>
            </a:r>
          </a:p>
        </p:txBody>
      </p:sp>
      <p:sp>
        <p:nvSpPr>
          <p:cNvPr id="100" name="row34-bottom-3">
            <a:extLst xmlns:a="http://schemas.openxmlformats.org/drawingml/2006/main">
              <a:ext uri="{FF2B5EF4-FFF2-40B4-BE49-F238E27FC236}">
                <a16:creationId xmlns:a16="http://schemas.microsoft.com/office/drawing/2014/main" id="{AFDF0076-C681-4FBE-AC80-5CF0EDE6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934200"/>
            <a:ext cx="95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OLS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estimate</a:t>
            </a:r>
          </a:p>
        </p:txBody>
      </p:sp>
      <p:sp>
        <p:nvSpPr>
          <p:cNvPr id="101" name="row34-bottom-4">
            <a:extLst xmlns:a="http://schemas.openxmlformats.org/drawingml/2006/main">
              <a:ext uri="{FF2B5EF4-FFF2-40B4-BE49-F238E27FC236}">
                <a16:creationId xmlns:a16="http://schemas.microsoft.com/office/drawing/2014/main" id="{6A589F38-FC19-4787-8977-47FE8234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934200"/>
            <a:ext cx="11239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Bootstrap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95% CI</a:t>
            </a:r>
          </a:p>
        </p:txBody>
      </p:sp>
      <p:sp>
        <p:nvSpPr>
          <p:cNvPr id="102" name="row34-bottom-5">
            <a:extLst xmlns:a="http://schemas.openxmlformats.org/drawingml/2006/main">
              <a:ext uri="{FF2B5EF4-FFF2-40B4-BE49-F238E27FC236}">
                <a16:creationId xmlns:a16="http://schemas.microsoft.com/office/drawing/2014/main" id="{7B4A880D-FC99-4913-A2E1-FF5B8E9F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934200"/>
            <a:ext cx="15811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99741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Random common cause</a:t>
            </a:r>
          </a:p>
          <a:p xmlns:a="http://schemas.openxmlformats.org/drawingml/2006/main">
            <a:pPr algn="ctr">
              <a:def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 placebo treatment</a:t>
            </a:r>
          </a:p>
        </p:txBody>
      </p:sp>
      <p:sp>
        <p:nvSpPr>
          <p:cNvPr id="103" name="row34-bottom-6">
            <a:extLst xmlns:a="http://schemas.openxmlformats.org/drawingml/2006/main">
              <a:ext uri="{FF2B5EF4-FFF2-40B4-BE49-F238E27FC236}">
                <a16:creationId xmlns:a16="http://schemas.microsoft.com/office/drawing/2014/main" id="{18F6E8F0-85E7-43F1-867E-76804C1F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934200"/>
            <a:ext cx="15049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1BBD7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Effect record</a:t>
            </a:r>
          </a:p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or review flag</a:t>
            </a:r>
          </a:p>
        </p:txBody>
      </p:sp>
      <p:cxnSp>
        <p:nvCxnSpPr>
          <p:cNvPr id="217" name="row34-bottom-edge-1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7429500" y="72104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8" name="row34-bottom-edge-2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8648700" y="72104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9" name="row34-bottom-edge-3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9715500" y="72104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0" name="row34-bottom-edge-4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10953750" y="72104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1" name="row34-bottom-edge-5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12649200" y="72104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2" name="causal-graph-to-dowhy"/>
          <p:cNvCxnSpPr>
            <a:stCxn xmlns:a="http://schemas.openxmlformats.org/drawingml/2006/main" id="93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 flipH="1">
            <a:off x="6858000" y="6629400"/>
            <a:ext cx="6538913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0" name="causal-scope">
            <a:extLst xmlns:a="http://schemas.openxmlformats.org/drawingml/2006/main">
              <a:ext uri="{FF2B5EF4-FFF2-40B4-BE49-F238E27FC236}">
                <a16:creationId xmlns:a16="http://schemas.microsoft.com/office/drawing/2014/main" id="{AC009B35-7B93-41FB-BC1E-A3376360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629525"/>
            <a:ext cx="4495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Scope: severity among recorded accidents, not accident occurrence</a:t>
            </a:r>
          </a:p>
        </p:txBody>
      </p:sp>
      <p:cxnSp>
        <p:nvCxnSpPr>
          <p:cNvPr id="224" name="stage-31-to-32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543050" y="20574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62676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5" name="stage-32-to-3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543050" y="38671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62676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6" name="stage-33-to-34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543050" y="55816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62676D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468035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2026-08-27T12:52:36.7310000Z</dcterms:created>
  <dcterms:modified xsi:type="dcterms:W3CDTF">2026-08-27T12:52:36.7310000Z</dcterms:modified>
</coreProperties>
</file>